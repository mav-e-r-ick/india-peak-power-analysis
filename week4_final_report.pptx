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NPV (Rs 000 Cr)</c:v>
                </c:pt>
              </c:strCache>
            </c:strRef>
          </c:tx>
          <c:spPr>
            <a:solidFill>
              <a:srgbClr val="2ECC71"/>
            </a:solidFill>
            <a:ln w="25400" cap="flat">
              <a:solidFill>
                <a:srgbClr val="2ECC7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CC71"/>
              </a:solidFill>
              <a:ln w="9525" cap="flat">
                <a:solidFill>
                  <a:srgbClr val="2ECC7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-12</c:v>
                </c:pt>
                <c:pt idx="1">
                  <c:v>-9.5</c:v>
                </c:pt>
                <c:pt idx="2">
                  <c:v>-7.1</c:v>
                </c:pt>
                <c:pt idx="3">
                  <c:v>-4.9</c:v>
                </c:pt>
                <c:pt idx="4">
                  <c:v>-2.8</c:v>
                </c:pt>
                <c:pt idx="5">
                  <c:v>-0.8</c:v>
                </c:pt>
                <c:pt idx="6">
                  <c:v>1.1</c:v>
                </c:pt>
                <c:pt idx="7">
                  <c:v>2.8</c:v>
                </c:pt>
                <c:pt idx="8">
                  <c:v>4.4</c:v>
                </c:pt>
                <c:pt idx="9">
                  <c:v>5.9</c:v>
                </c:pt>
                <c:pt idx="10">
                  <c:v>7.3</c:v>
                </c:pt>
                <c:pt idx="11">
                  <c:v>8.5</c:v>
                </c:pt>
                <c:pt idx="12">
                  <c:v>9.7</c:v>
                </c:pt>
                <c:pt idx="13">
                  <c:v>10.7</c:v>
                </c:pt>
                <c:pt idx="14">
                  <c:v>11.7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0D8D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A3D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0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0D8D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A3D4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Coal Negative Externalities (Rs/MWh)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D03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8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CO2 Social Cost</c:v>
                  </c:pt>
                  <c:pt idx="1">
                    <c:v>Health (PM2.5)</c:v>
                  </c:pt>
                  <c:pt idx="2">
                    <c:v>Water Scarcity</c:v>
                  </c:pt>
                  <c:pt idx="3">
                    <c:v>Grid Risk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377</c:v>
                </c:pt>
                <c:pt idx="1">
                  <c:v>120</c:v>
                </c:pt>
                <c:pt idx="2">
                  <c:v>30</c:v>
                </c:pt>
                <c:pt idx="3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A7A8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CD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0D5C6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1A7A8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8CD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Solar Positive Externalities (Rs/MWh)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Energy Security</c:v>
                  </c:pt>
                  <c:pt idx="1">
                    <c:v>Health Benefit</c:v>
                  </c:pt>
                  <c:pt idx="2">
                    <c:v>Employment</c:v>
                  </c:pt>
                  <c:pt idx="3">
                    <c:v>Grid Diversity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80</c:v>
                </c:pt>
                <c:pt idx="2">
                  <c:v>25</c:v>
                </c:pt>
                <c:pt idx="3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A7A8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CD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0D5C6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1A7A8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8CD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(Rs/MWh)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D03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Coal
(Market)</c:v>
                  </c:pt>
                  <c:pt idx="1">
                    <c:v>Coal
(+ Tax)</c:v>
                  </c:pt>
                  <c:pt idx="2">
                    <c:v>Solar
(Market)</c:v>
                  </c:pt>
                  <c:pt idx="3">
                    <c:v>Solar
(- Sub)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4500</c:v>
                </c:pt>
                <c:pt idx="1">
                  <c:v>5072</c:v>
                </c:pt>
                <c:pt idx="2">
                  <c:v>2500</c:v>
                </c:pt>
                <c:pt idx="3">
                  <c:v>2325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A7A8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CD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0D5C6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A7A8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8CD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 LCOE (Rs/kWh)</c:v>
                </c:pt>
              </c:strCache>
            </c:strRef>
          </c:tx>
          <c:spPr>
            <a:solidFill>
              <a:srgbClr val="F4D03F"/>
            </a:solidFill>
            <a:ln w="25400" cap="flat">
              <a:solidFill>
                <a:srgbClr val="F4D0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D03F"/>
              </a:solidFill>
              <a:ln w="9525" cap="flat">
                <a:solidFill>
                  <a:srgbClr val="F4D0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2010</c:v>
                  </c:pt>
                  <c:pt idx="1">
                    <c:v>2012</c:v>
                  </c:pt>
                  <c:pt idx="2">
                    <c:v>2014</c:v>
                  </c:pt>
                  <c:pt idx="3">
                    <c:v>2015</c:v>
                  </c:pt>
                  <c:pt idx="4">
                    <c:v>2016</c:v>
                  </c:pt>
                  <c:pt idx="5">
                    <c:v>2017</c:v>
                  </c:pt>
                  <c:pt idx="6">
                    <c:v>2018</c:v>
                  </c:pt>
                  <c:pt idx="7">
                    <c:v>2019</c:v>
                  </c:pt>
                  <c:pt idx="8">
                    <c:v>2020</c:v>
                  </c:pt>
                  <c:pt idx="9">
                    <c:v>2021</c:v>
                  </c:pt>
                  <c:pt idx="10">
                    <c:v>2022</c:v>
                  </c:pt>
                  <c:pt idx="11">
                    <c:v>2023</c:v>
                  </c:pt>
                  <c:pt idx="12">
                    <c:v>2024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18</c:v>
                </c:pt>
                <c:pt idx="1">
                  <c:v>12.5</c:v>
                </c:pt>
                <c:pt idx="2">
                  <c:v>8</c:v>
                </c:pt>
                <c:pt idx="3">
                  <c:v>5.5</c:v>
                </c:pt>
                <c:pt idx="4">
                  <c:v>4.5</c:v>
                </c:pt>
                <c:pt idx="5">
                  <c:v>3.5</c:v>
                </c:pt>
                <c:pt idx="6">
                  <c:v>2.7</c:v>
                </c:pt>
                <c:pt idx="7">
                  <c:v>2.5</c:v>
                </c:pt>
                <c:pt idx="8">
                  <c:v>2.3</c:v>
                </c:pt>
                <c:pt idx="9">
                  <c:v>2.2</c:v>
                </c:pt>
                <c:pt idx="10">
                  <c:v>2</c:v>
                </c:pt>
                <c:pt idx="11">
                  <c:v>2.3</c:v>
                </c:pt>
                <c:pt idx="12">
                  <c:v>2.5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Conservative (300 GW)</c:v>
                </c:pt>
              </c:strCache>
            </c:strRef>
          </c:tx>
          <c:spPr>
            <a:solidFill>
              <a:srgbClr val="E67E22"/>
            </a:solidFill>
            <a:ln w="25400" cap="flat">
              <a:solidFill>
                <a:srgbClr val="E67E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7E22"/>
              </a:solidFill>
              <a:ln w="9525" cap="flat">
                <a:solidFill>
                  <a:srgbClr val="E67E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  <c:pt idx="4">
                    <c:v>2028</c:v>
                  </c:pt>
                  <c:pt idx="5">
                    <c:v>2029</c:v>
                  </c:pt>
                  <c:pt idx="6">
                    <c:v>2030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2.5</c:v>
                </c:pt>
                <c:pt idx="1">
                  <c:v>2.35</c:v>
                </c:pt>
                <c:pt idx="2">
                  <c:v>2.22</c:v>
                </c:pt>
                <c:pt idx="3">
                  <c:v>2.1</c:v>
                </c:pt>
                <c:pt idx="4">
                  <c:v>2.01</c:v>
                </c:pt>
                <c:pt idx="5">
                  <c:v>1.93</c:v>
                </c:pt>
                <c:pt idx="6">
                  <c:v>1.87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Base Case (400 GW)</c:v>
                </c:pt>
              </c:strCache>
            </c:strRef>
          </c:tx>
          <c:spPr>
            <a:solidFill>
              <a:srgbClr val="1A7A8A"/>
            </a:solidFill>
            <a:ln w="25400" cap="flat">
              <a:solidFill>
                <a:srgbClr val="1A7A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7A8A"/>
              </a:solidFill>
              <a:ln w="9525" cap="flat">
                <a:solidFill>
                  <a:srgbClr val="1A7A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  <c:pt idx="4">
                    <c:v>2028</c:v>
                  </c:pt>
                  <c:pt idx="5">
                    <c:v>2029</c:v>
                  </c:pt>
                  <c:pt idx="6">
                    <c:v>2030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2.5</c:v>
                </c:pt>
                <c:pt idx="1">
                  <c:v>2.28</c:v>
                </c:pt>
                <c:pt idx="2">
                  <c:v>2.08</c:v>
                </c:pt>
                <c:pt idx="3">
                  <c:v>1.9</c:v>
                </c:pt>
                <c:pt idx="4">
                  <c:v>1.74</c:v>
                </c:pt>
                <c:pt idx="5">
                  <c:v>1.6</c:v>
                </c:pt>
                <c:pt idx="6">
                  <c:v>1.48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Ambitious (500 GW)</c:v>
                </c:pt>
              </c:strCache>
            </c:strRef>
          </c:tx>
          <c:spPr>
            <a:solidFill>
              <a:srgbClr val="2ECC71"/>
            </a:solidFill>
            <a:ln w="25400" cap="flat">
              <a:solidFill>
                <a:srgbClr val="2ECC7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CC71"/>
              </a:solidFill>
              <a:ln w="9525" cap="flat">
                <a:solidFill>
                  <a:srgbClr val="2ECC7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  <c:pt idx="4">
                    <c:v>2028</c:v>
                  </c:pt>
                  <c:pt idx="5">
                    <c:v>2029</c:v>
                  </c:pt>
                  <c:pt idx="6">
                    <c:v>2030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2.5</c:v>
                </c:pt>
                <c:pt idx="1">
                  <c:v>2.22</c:v>
                </c:pt>
                <c:pt idx="2">
                  <c:v>1.96</c:v>
                </c:pt>
                <c:pt idx="3">
                  <c:v>1.74</c:v>
                </c:pt>
                <c:pt idx="4">
                  <c:v>1.55</c:v>
                </c:pt>
                <c:pt idx="5">
                  <c:v>1.38</c:v>
                </c:pt>
                <c:pt idx="6">
                  <c:v>1.23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0D8D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A3D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0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0D8D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A3D4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Solar (GW)</c:v>
                </c:pt>
              </c:strCache>
            </c:strRef>
          </c:tx>
          <c:spPr>
            <a:solidFill>
              <a:srgbClr val="F4D0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32</c:v>
                </c:pt>
                <c:pt idx="2">
                  <c:v>38</c:v>
                </c:pt>
                <c:pt idx="3">
                  <c:v>40</c:v>
                </c:pt>
                <c:pt idx="4">
                  <c:v>40</c:v>
                </c:pt>
                <c:pt idx="5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Wind (GW)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BESS (GW)</c:v>
                </c:pt>
              </c:strCache>
            </c:strRef>
          </c:tx>
          <c:spPr>
            <a:solidFill>
              <a:srgbClr val="9B59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A7A8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8CD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0D5C6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A7A8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CD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Solar (GW)</c:v>
                </c:pt>
              </c:strCache>
            </c:strRef>
          </c:tx>
          <c:spPr>
            <a:solidFill>
              <a:srgbClr val="F4D03F"/>
            </a:solidFill>
            <a:ln w="25400" cap="flat">
              <a:solidFill>
                <a:srgbClr val="F4D0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4D0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4D03F"/>
              </a:solidFill>
              <a:ln w="9525" cap="flat">
                <a:solidFill>
                  <a:srgbClr val="F4D0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178</c:v>
                </c:pt>
                <c:pt idx="1">
                  <c:v>210</c:v>
                </c:pt>
                <c:pt idx="2">
                  <c:v>248</c:v>
                </c:pt>
                <c:pt idx="3">
                  <c:v>288</c:v>
                </c:pt>
                <c:pt idx="4">
                  <c:v>328</c:v>
                </c:pt>
                <c:pt idx="5">
                  <c:v>368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F4D0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A7A8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8CD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0D5C6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A7A8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8CD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Medium Risks</c:v>
                </c:pt>
              </c:strCache>
            </c:strRef>
          </c:tx>
          <c:spPr>
            <a:solidFill>
              <a:srgbClr val="E74C3C"/>
            </a:solidFill>
            <a:ln w="2540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18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[object Object]</c:v>
                </c:pt>
                <c:pt idx="1">
                  <c:v>[object Object]</c:v>
                </c:pt>
                <c:pt idx="2">
                  <c:v>[object Object]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[object Object]</c:v>
                </c:pt>
                <c:pt idx="1">
                  <c:v>[object Object]</c:v>
                </c:pt>
                <c:pt idx="2">
                  <c:v>[object Object]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 Risks</c:v>
                </c:pt>
              </c:strCache>
            </c:strRef>
          </c:tx>
          <c:spPr>
            <a:solidFill>
              <a:srgbClr val="E67E22"/>
            </a:solidFill>
            <a:ln w="25400" cap="flat">
              <a:solidFill>
                <a:srgbClr val="E67E22"/>
              </a:solidFill>
              <a:prstDash val="solid"/>
              <a:round/>
            </a:ln>
            <a:effectLst/>
          </c:spPr>
          <c:marker>
            <c:symbol val="circle"/>
            <c:size val="18"/>
            <c:spPr>
              <a:solidFill>
                <a:srgbClr val="E67E22"/>
              </a:solidFill>
              <a:ln w="9525" cap="flat">
                <a:solidFill>
                  <a:srgbClr val="E67E22"/>
                </a:solidFill>
                <a:prstDash val="solid"/>
                <a:round/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[object Object]</c:v>
                </c:pt>
                <c:pt idx="1">
                  <c:v>[object Object]</c:v>
                </c:pt>
                <c:pt idx="2">
                  <c:v>[object Object]</c:v>
                </c:pt>
              </c:numCache>
            </c:numRef>
          </c:xVal>
          <c:yVal>
            <c:numRef>
              <c:f>Sheet1!$C$2:$C$4</c:f>
              <c:numCache>
                <c:formatCode>General</c:formatCode>
                <c:ptCount val="3"/>
                <c:pt idx="0">
                  <c:v>[object Object]</c:v>
                </c:pt>
                <c:pt idx="1">
                  <c:v>[object Object]</c:v>
                </c:pt>
                <c:pt idx="2">
                  <c:v>[object Object]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0E8EC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C0D8D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A3D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0E8EC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C0D8D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A3D4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91A"/>
          </a:solidFill>
          <a:ln w="12700">
            <a:solidFill>
              <a:srgbClr val="0409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137160"/>
            <a:ext cx="5669280" cy="3337560"/>
          </a:xfrm>
          <a:prstGeom prst="rect">
            <a:avLst>
              <a:gd name="adj" fmla="val 8219"/>
            </a:avLst>
          </a:prstGeom>
          <a:solidFill>
            <a:srgbClr val="0D5C6E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37960" y="365760"/>
            <a:ext cx="685800" cy="685800"/>
          </a:xfrm>
          <a:prstGeom prst="ellipse">
            <a:avLst/>
          </a:prstGeom>
          <a:solidFill>
            <a:srgbClr val="2ECC71">
              <a:alpha val="80000"/>
            </a:srgbClr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37960" y="365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080760" y="10972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CBA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BESS Investment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89720" y="365760"/>
            <a:ext cx="685800" cy="685800"/>
          </a:xfrm>
          <a:prstGeom prst="ellipse">
            <a:avLst/>
          </a:prstGeom>
          <a:solidFill>
            <a:srgbClr val="E67E22">
              <a:alpha val="80000"/>
            </a:srgbClr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89720" y="365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732520" y="10972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Pigouvian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Subsidy &amp; Tax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37960" y="1965960"/>
            <a:ext cx="685800" cy="685800"/>
          </a:xfrm>
          <a:prstGeom prst="ellipse">
            <a:avLst/>
          </a:prstGeom>
          <a:solidFill>
            <a:srgbClr val="F4D03F">
              <a:alpha val="80000"/>
            </a:srgbClr>
          </a:solidFill>
          <a:ln w="19050">
            <a:solidFill>
              <a:srgbClr val="F4D0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9659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080760" y="26974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Wright's Law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Curve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89720" y="1965960"/>
            <a:ext cx="685800" cy="685800"/>
          </a:xfrm>
          <a:prstGeom prst="ellipse">
            <a:avLst/>
          </a:prstGeom>
          <a:solidFill>
            <a:srgbClr val="9B59B6">
              <a:alpha val="80000"/>
            </a:srgbClr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9720" y="19659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732520" y="26974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LP Expansion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Optimal Plan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" y="28346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dirty="0">
                <a:solidFill>
                  <a:srgbClr val="0D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1000" dirty="0"/>
          </a:p>
        </p:txBody>
      </p:sp>
      <p:sp>
        <p:nvSpPr>
          <p:cNvPr id="17" name="Shape 15"/>
          <p:cNvSpPr/>
          <p:nvPr/>
        </p:nvSpPr>
        <p:spPr>
          <a:xfrm>
            <a:off x="411480" y="1828800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181051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MBA Project  ·  Week 4 of 4  ·  Final Report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2130552"/>
            <a:ext cx="3200400" cy="0"/>
          </a:xfrm>
          <a:prstGeom prst="line">
            <a:avLst/>
          </a:prstGeom>
          <a:noFill/>
          <a:ln w="10160">
            <a:solidFill>
              <a:srgbClr val="1A7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30428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411480" y="290779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411480" y="3511296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Executive Report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6217920" y="3611880"/>
            <a:ext cx="5669280" cy="566928"/>
          </a:xfrm>
          <a:prstGeom prst="rect">
            <a:avLst>
              <a:gd name="adj" fmla="val 4838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61188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Analyses  ·  5 Policy Recommendations  ·  Executive Summary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11480" y="5166360"/>
            <a:ext cx="2788920" cy="1463040"/>
          </a:xfrm>
          <a:prstGeom prst="rect">
            <a:avLst>
              <a:gd name="adj" fmla="val 9375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5257800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NPV+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502920" y="600760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BESS is profitable at Rs 40 Cr/MWh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55848" y="5166360"/>
            <a:ext cx="2788920" cy="1463040"/>
          </a:xfrm>
          <a:prstGeom prst="rect">
            <a:avLst>
              <a:gd name="adj" fmla="val 9375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447288" y="5257800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600/MWh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3447288" y="600760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Pigouvian coal tax optimal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0216" y="5166360"/>
            <a:ext cx="2788920" cy="1463040"/>
          </a:xfrm>
          <a:prstGeom prst="rect">
            <a:avLst>
              <a:gd name="adj" fmla="val 9375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91656" y="5257800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1.8/kWh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6391656" y="600760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LCOE at 500 GW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244584" y="5166360"/>
            <a:ext cx="2788920" cy="1463040"/>
          </a:xfrm>
          <a:prstGeom prst="rect">
            <a:avLst>
              <a:gd name="adj" fmla="val 9375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336024" y="5257800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4.8L Cr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9336024" y="600760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investment 2025-30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 · All official Govt of India  ·  Models: CBA · Pigouvian · Wright's Law · LP Expansion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9"/>
          </a:solidFill>
          <a:ln w="12700">
            <a:solidFill>
              <a:srgbClr val="F0F7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237744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1 — COST-BENEFIT ANALYSIS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BESS Investment Justified?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124712"/>
            <a:ext cx="11365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NPV · IRR · Payback · Sensitivity — 300 GWh National Deployment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417320"/>
          <a:ext cx="6858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3611880" y="1417320"/>
            <a:ext cx="0" cy="4572000"/>
          </a:xfrm>
          <a:prstGeom prst="line">
            <a:avLst/>
          </a:prstGeom>
          <a:noFill/>
          <a:ln w="19050">
            <a:solidFill>
              <a:srgbClr val="2ECC71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3657600" y="4114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Break-even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 years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452360" y="1417320"/>
            <a:ext cx="4343400" cy="457200"/>
          </a:xfrm>
          <a:prstGeom prst="rect">
            <a:avLst/>
          </a:prstGeom>
          <a:solidFill>
            <a:srgbClr val="F8FCFD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43800" y="150876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Capex (300 GWh)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195560" y="150876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12,000 Cr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452360" y="1929384"/>
            <a:ext cx="4343400" cy="457200"/>
          </a:xfrm>
          <a:prstGeom prst="rect">
            <a:avLst/>
          </a:prstGeom>
          <a:solidFill>
            <a:srgbClr val="F0F7F9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43800" y="202082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energy revenue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195560" y="2020824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2,100 Cr/yr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452360" y="2441448"/>
            <a:ext cx="4343400" cy="457200"/>
          </a:xfrm>
          <a:prstGeom prst="rect">
            <a:avLst/>
          </a:prstGeom>
          <a:solidFill>
            <a:srgbClr val="F8FCFD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43800" y="25328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Avoided deficit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0195560" y="2532888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720 Cr/yr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452360" y="2953512"/>
            <a:ext cx="4343400" cy="457200"/>
          </a:xfrm>
          <a:prstGeom prst="rect">
            <a:avLst/>
          </a:prstGeom>
          <a:solidFill>
            <a:srgbClr val="F0F7F9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43800" y="304495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Avoided gas peakers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0195560" y="304495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800 Cr/yr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452360" y="3465576"/>
            <a:ext cx="4343400" cy="457200"/>
          </a:xfrm>
          <a:prstGeom prst="rect">
            <a:avLst/>
          </a:prstGeom>
          <a:solidFill>
            <a:srgbClr val="F8FCFD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43800" y="355701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O&amp;M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0195560" y="3557016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 Rs 240 Cr/yr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452360" y="3977640"/>
            <a:ext cx="4343400" cy="457200"/>
          </a:xfrm>
          <a:prstGeom prst="rect">
            <a:avLst/>
          </a:prstGeom>
          <a:solidFill>
            <a:srgbClr val="F0F7F9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43800" y="40690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 annual benefit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0195560" y="406908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3,380 Cr/yr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452360" y="4489704"/>
            <a:ext cx="4343400" cy="457200"/>
          </a:xfrm>
          <a:prstGeom prst="rect">
            <a:avLst/>
          </a:prstGeom>
          <a:solidFill>
            <a:srgbClr val="F8FCFD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543800" y="458114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NPV (@10% WACC)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0195560" y="4581144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11,700 Cr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7452360" y="5001768"/>
            <a:ext cx="4343400" cy="457200"/>
          </a:xfrm>
          <a:prstGeom prst="rect">
            <a:avLst/>
          </a:prstGeom>
          <a:solidFill>
            <a:srgbClr val="F0F7F9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43800" y="509320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Payback period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0195560" y="5093208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~7.1 years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7452360" y="5513832"/>
            <a:ext cx="4343400" cy="457200"/>
          </a:xfrm>
          <a:prstGeom prst="rect">
            <a:avLst/>
          </a:prstGeom>
          <a:solidFill>
            <a:srgbClr val="F8FCFD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543800" y="56052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Verdict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10195560" y="560527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 ✅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7452360" y="6035040"/>
            <a:ext cx="4343400" cy="594360"/>
          </a:xfrm>
          <a:prstGeom prst="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7589520" y="608076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Sensitivity: NPV stays positive as long as BESS cost &lt; Rs 58 Cr/MWh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(today Rs 40, falling ~15%/yr — investment window is NOW)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 · All official Govt of India  ·  Models: CBA · Pigouvian · Wright's Law · LP Expansion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237744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2 — PIGOUVIAN EXTERNALITY PRICING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Carbon Tax Coal · Subsidise Solar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1124712"/>
            <a:ext cx="11365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Correcting the market failure: coal is underpriced, solar is undersubsidised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417320"/>
          <a:ext cx="50292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11480" y="3977640"/>
          <a:ext cx="50292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411480" y="12618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 Externalities — Pigouvian TAX needed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11480" y="38221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Externalities — Pigouvian SUBSIDY needed</a:t>
            </a:r>
            <a:endParaRPr lang="en-US" sz="1100" dirty="0"/>
          </a:p>
        </p:txBody>
      </p:sp>
      <p:graphicFrame>
        <p:nvGraphicFramePr>
          <p:cNvPr id="11" name="Chart 2" descr=""/>
          <p:cNvGraphicFramePr/>
          <p:nvPr/>
        </p:nvGraphicFramePr>
        <p:xfrm>
          <a:off x="5623560" y="1417320"/>
          <a:ext cx="61722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Shape 7"/>
          <p:cNvSpPr/>
          <p:nvPr/>
        </p:nvSpPr>
        <p:spPr>
          <a:xfrm>
            <a:off x="5623560" y="4389120"/>
            <a:ext cx="6172200" cy="1325880"/>
          </a:xfrm>
          <a:prstGeom prst="rect">
            <a:avLst>
              <a:gd name="adj" fmla="val 10345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5760720" y="4498848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Finding: Market failure is Rs 2,747/MWh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760720" y="4892040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says coal (Rs 4,500) vs solar (Rs 2,500) = solar wins by Rs 2,000.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social prices: coal (Rs 5,072) vs solar (Rs 2,325) = solar wins by Rs 2,747.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=&gt; Market already favours solar — Pigou tax would accelerate transition 2-3 years.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623560" y="5833872"/>
            <a:ext cx="6172200" cy="804672"/>
          </a:xfrm>
          <a:prstGeom prst="rect">
            <a:avLst>
              <a:gd name="adj" fmla="val 17045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760720" y="5888736"/>
            <a:ext cx="5897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Carbon tax revenue: Rs 600/MWh × ~1,400 TWh coal = Rs 84,000 Cr/yr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Fund: BESS subsidy + RE grid upgrades + state deficit support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 · All official Govt of India  ·  Models: CBA · Pigouvian · Wright's Law · LP Expansion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9"/>
          </a:solidFill>
          <a:ln w="12700">
            <a:solidFill>
              <a:srgbClr val="F0F7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237744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3 — WRIGHT'S LAW LEARNING CURVE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LCOE Trajectory to 2030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124712"/>
            <a:ext cx="11365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28% learning rate · every doubling of capacity cuts cost by 28%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417320"/>
          <a:ext cx="73152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909560" y="1417320"/>
            <a:ext cx="3977640" cy="1170432"/>
          </a:xfrm>
          <a:prstGeom prst="rect">
            <a:avLst>
              <a:gd name="adj" fmla="val 11719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01000" y="150876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01000" y="2258568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India's solar learning 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(% cost fall per capacity doubling)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909560" y="2715768"/>
            <a:ext cx="3977640" cy="1170432"/>
          </a:xfrm>
          <a:prstGeom prst="rect">
            <a:avLst>
              <a:gd name="adj" fmla="val 11719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01000" y="2807208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2.5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8001000" y="3557016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LCOE (Rs/kWh)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 actual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909560" y="4014216"/>
            <a:ext cx="3977640" cy="1170432"/>
          </a:xfrm>
          <a:prstGeom prst="rect">
            <a:avLst>
              <a:gd name="adj" fmla="val 11719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001000" y="4105656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1.8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8001000" y="4855464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LCOE at 500 GW, 2030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(below coal at social price)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909560" y="5312664"/>
            <a:ext cx="3977640" cy="1170432"/>
          </a:xfrm>
          <a:prstGeom prst="rect">
            <a:avLst>
              <a:gd name="adj" fmla="val 11719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001000" y="5404104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-65%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8001000" y="6153912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cost reduction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2024→2030 at 500 GW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909560" y="6537960"/>
            <a:ext cx="3977640" cy="658368"/>
          </a:xfrm>
          <a:prstGeom prst="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046720" y="658368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Lever: Each 10 GW increase in annual solar addition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cuts LCOE ~Rs 0.05/kWh. Speed is the subsidy.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 · All official Govt of India  ·  Models: CBA · Pigouvian · Wright's Law · LP Expansion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237744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4 — LP CAPACITY EXPANSION PLAN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Optimal Investment Roadmap 2025–2030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1124712"/>
            <a:ext cx="11365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Multi-period LP · PuLP solver · Minimise cost subject to peak demand, budget, ramp constraints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417320"/>
          <a:ext cx="69494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11480" y="4343400"/>
          <a:ext cx="69494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7543800" y="1417320"/>
            <a:ext cx="4297680" cy="4846320"/>
          </a:xfrm>
          <a:prstGeom prst="rect">
            <a:avLst>
              <a:gd name="adj" fmla="val 3191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680960" y="15087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Investment Plan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589520" y="1920240"/>
            <a:ext cx="4206240" cy="32004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680960" y="1938528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275320" y="1938528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915400" y="1938528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9555480" y="1938528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195560" y="1938528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(Rs Cr)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589520" y="2331720"/>
            <a:ext cx="4206240" cy="475488"/>
          </a:xfrm>
          <a:prstGeom prst="rect">
            <a:avLst/>
          </a:prstGeom>
          <a:solidFill>
            <a:srgbClr val="0D5C6E"/>
          </a:solidFill>
          <a:ln w="6350">
            <a:solidFill>
              <a:srgbClr val="1A7A8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680960" y="242316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2025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8275320" y="242316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 GW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8915400" y="242316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GW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9555480" y="242316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GW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0195560" y="242316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42,000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589520" y="2862072"/>
            <a:ext cx="4206240" cy="475488"/>
          </a:xfrm>
          <a:prstGeom prst="rect">
            <a:avLst/>
          </a:prstGeom>
          <a:solidFill>
            <a:srgbClr val="091D28"/>
          </a:solidFill>
          <a:ln w="6350">
            <a:solidFill>
              <a:srgbClr val="1A7A8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680960" y="2953512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8275320" y="2953512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 GW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8915400" y="2953512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GW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9555480" y="2953512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GW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0195560" y="2953512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51,000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7589520" y="3392424"/>
            <a:ext cx="4206240" cy="475488"/>
          </a:xfrm>
          <a:prstGeom prst="rect">
            <a:avLst/>
          </a:prstGeom>
          <a:solidFill>
            <a:srgbClr val="0D5C6E"/>
          </a:solidFill>
          <a:ln w="6350">
            <a:solidFill>
              <a:srgbClr val="1A7A8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680960" y="3483864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2027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8275320" y="3483864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 GW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8915400" y="3483864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GW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9555480" y="3483864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GW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10195560" y="3483864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62,000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7589520" y="3922776"/>
            <a:ext cx="4206240" cy="475488"/>
          </a:xfrm>
          <a:prstGeom prst="rect">
            <a:avLst/>
          </a:prstGeom>
          <a:solidFill>
            <a:srgbClr val="091D28"/>
          </a:solidFill>
          <a:ln w="6350">
            <a:solidFill>
              <a:srgbClr val="1A7A8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680960" y="4014216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2028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8275320" y="4014216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 GW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8915400" y="4014216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GW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9555480" y="4014216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GW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10195560" y="4014216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68,000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7589520" y="4453128"/>
            <a:ext cx="4206240" cy="475488"/>
          </a:xfrm>
          <a:prstGeom prst="rect">
            <a:avLst/>
          </a:prstGeom>
          <a:solidFill>
            <a:srgbClr val="0D5C6E"/>
          </a:solidFill>
          <a:ln w="6350">
            <a:solidFill>
              <a:srgbClr val="1A7A8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680960" y="4544568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2029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8275320" y="4544568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 GW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8915400" y="4544568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GW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9555480" y="4544568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GW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10195560" y="4544568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70,000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7589520" y="4983480"/>
            <a:ext cx="4206240" cy="475488"/>
          </a:xfrm>
          <a:prstGeom prst="rect">
            <a:avLst/>
          </a:prstGeom>
          <a:solidFill>
            <a:srgbClr val="091D28"/>
          </a:solidFill>
          <a:ln w="6350">
            <a:solidFill>
              <a:srgbClr val="1A7A8A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7680960" y="507492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2030</a:t>
            </a:r>
            <a:endParaRPr lang="en-US" sz="1000" dirty="0"/>
          </a:p>
        </p:txBody>
      </p:sp>
      <p:sp>
        <p:nvSpPr>
          <p:cNvPr id="49" name="Text 45"/>
          <p:cNvSpPr/>
          <p:nvPr/>
        </p:nvSpPr>
        <p:spPr>
          <a:xfrm>
            <a:off x="8275320" y="507492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 GW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8915400" y="507492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GW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9555480" y="507492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GW</a:t>
            </a:r>
            <a:endParaRPr lang="en-US" sz="1000" dirty="0"/>
          </a:p>
        </p:txBody>
      </p:sp>
      <p:sp>
        <p:nvSpPr>
          <p:cNvPr id="52" name="Text 48"/>
          <p:cNvSpPr/>
          <p:nvPr/>
        </p:nvSpPr>
        <p:spPr>
          <a:xfrm>
            <a:off x="10195560" y="507492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72,000</a:t>
            </a:r>
            <a:endParaRPr lang="en-US" sz="1000" dirty="0"/>
          </a:p>
        </p:txBody>
      </p:sp>
      <p:sp>
        <p:nvSpPr>
          <p:cNvPr id="53" name="Shape 49"/>
          <p:cNvSpPr/>
          <p:nvPr/>
        </p:nvSpPr>
        <p:spPr>
          <a:xfrm>
            <a:off x="7589520" y="5532120"/>
            <a:ext cx="420624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7635240" y="5577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2025-30:  218 GW solar  +  62 GW wind  +  24 GW BESS</a:t>
            </a:r>
            <a:endParaRPr lang="en-US" sz="1000" dirty="0"/>
          </a:p>
        </p:txBody>
      </p:sp>
      <p:sp>
        <p:nvSpPr>
          <p:cNvPr id="55" name="Shape 51"/>
          <p:cNvSpPr/>
          <p:nvPr/>
        </p:nvSpPr>
        <p:spPr>
          <a:xfrm>
            <a:off x="7589520" y="6080760"/>
            <a:ext cx="4206240" cy="365760"/>
          </a:xfrm>
          <a:prstGeom prst="rect">
            <a:avLst/>
          </a:prstGeom>
          <a:solidFill>
            <a:srgbClr val="1A2A0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7635240" y="610819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capex: Rs 3,65,000 Cr  ·  Budget ceiling: Rs 80,000 Cr/yr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 · All official Govt of India  ·  Models: CBA · Pigouvian · Wright's Law · LP Expansion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9"/>
          </a:solidFill>
          <a:ln w="12700">
            <a:solidFill>
              <a:srgbClr val="F0F7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237744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— STATE-CLUSTER DIFFERENTIATED PLAN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Clusters, 4 Policy Levers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124712"/>
            <a:ext cx="11365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One-size-fits-all RE policy fails — segment and target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5669280" cy="246888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17320"/>
            <a:ext cx="64008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65960"/>
            <a:ext cx="658368" cy="658368"/>
          </a:xfrm>
          <a:prstGeom prst="ellipse">
            <a:avLst/>
          </a:prstGeom>
          <a:solidFill>
            <a:srgbClr val="2ECC71">
              <a:alpha val="80000"/>
            </a:srgbClr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659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98448" y="150876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 CHAMPIONS  (3 states)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98448" y="187452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Rajasthan · Karnataka · Gujarat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7157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Fast-track inter-state HVDC lines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00837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Waive wheeling charges 5 yrs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30098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Mandate BESS co-location with solar farms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" y="3502152"/>
            <a:ext cx="5522976" cy="329184"/>
          </a:xfrm>
          <a:prstGeom prst="rect">
            <a:avLst/>
          </a:prstGeom>
          <a:solidFill>
            <a:srgbClr val="2ECC71">
              <a:alpha val="2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520440"/>
            <a:ext cx="5468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Export target: 50 BU/yr to demand states by 2028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09360" y="1417320"/>
            <a:ext cx="5669280" cy="246888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417320"/>
            <a:ext cx="64008" cy="24688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1965960"/>
            <a:ext cx="658368" cy="658368"/>
          </a:xfrm>
          <a:prstGeom prst="ellipse">
            <a:avLst/>
          </a:prstGeom>
          <a:solidFill>
            <a:srgbClr val="E74C3C">
              <a:alpha val="80000"/>
            </a:srgbClr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9659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⚫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196328" y="150876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 DEPENDENT  (5 states)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96328" y="187452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 · Maharashtra · MP · Jharkhand · WB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27157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Mandatory BESS installation with new RE permits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300837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Coal PLF floor 55% → 45% by 2027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46520" y="330098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Concessional green loans for DISCOM RE purchases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82512" y="3502152"/>
            <a:ext cx="5522976" cy="329184"/>
          </a:xfrm>
          <a:prstGeom prst="rect">
            <a:avLst/>
          </a:prstGeom>
          <a:solidFill>
            <a:srgbClr val="E74C3C">
              <a:alpha val="2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3520440"/>
            <a:ext cx="5468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Target: RES share 20%→40% by 2030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4050792"/>
            <a:ext cx="5669280" cy="246888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4050792"/>
            <a:ext cx="64008" cy="246888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599432"/>
            <a:ext cx="658368" cy="658368"/>
          </a:xfrm>
          <a:prstGeom prst="ellipse">
            <a:avLst/>
          </a:prstGeom>
          <a:solidFill>
            <a:srgbClr val="F4D03F">
              <a:alpha val="80000"/>
            </a:srgbClr>
          </a:solidFill>
          <a:ln w="19050">
            <a:solidFill>
              <a:srgbClr val="F4D0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5994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1298448" y="414223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TRANSITION LEADERS  (4 states)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98448" y="450799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Tamil Nadu · Andhra Pradesh · Telangana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5349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Priority grid upgrade funding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564184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Offshore wind fast-track (TN coastline)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593445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Demand response programs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" y="6135624"/>
            <a:ext cx="5522976" cy="329184"/>
          </a:xfrm>
          <a:prstGeom prst="rect">
            <a:avLst/>
          </a:prstGeom>
          <a:solidFill>
            <a:srgbClr val="F4D03F">
              <a:alpha val="20000"/>
            </a:srgbClr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" y="6153912"/>
            <a:ext cx="5468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Target: Add 15 GW RE + 8 GWh BESS by 2028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09360" y="4050792"/>
            <a:ext cx="5669280" cy="246888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09360" y="4050792"/>
            <a:ext cx="64008" cy="2468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46520" y="4599432"/>
            <a:ext cx="658368" cy="658368"/>
          </a:xfrm>
          <a:prstGeom prst="ellipse">
            <a:avLst/>
          </a:prstGeom>
          <a:solidFill>
            <a:srgbClr val="E67E22">
              <a:alpha val="80000"/>
            </a:srgbClr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45994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7196328" y="414223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STARVED  (6+ states)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196328" y="450799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Bihar · HP · Northeast states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46520" y="5349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Viability gap funding for small solar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46520" y="564184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Energy access subsidy program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46520" y="593445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Community solar microgrids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82512" y="6135624"/>
            <a:ext cx="5522976" cy="329184"/>
          </a:xfrm>
          <a:prstGeom prst="rect">
            <a:avLst/>
          </a:prstGeom>
          <a:solidFill>
            <a:srgbClr val="E67E22">
              <a:alpha val="2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19088" y="6153912"/>
            <a:ext cx="5468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Target: Eliminate energy deficit by 2027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 · All official Govt of India  ·  Models: CBA · Pigouvian · Wright's Law · LP Expansion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237744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POLICY RECOMMENDATIONS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Models to Action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1124712"/>
            <a:ext cx="11365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Ranked by impact × feasibility · Time-bound · Accountable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11365992" cy="960120"/>
          </a:xfrm>
          <a:prstGeom prst="rect">
            <a:avLst>
              <a:gd name="adj" fmla="val 14286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25880"/>
            <a:ext cx="64008" cy="9601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80744"/>
            <a:ext cx="749808" cy="320040"/>
          </a:xfrm>
          <a:prstGeom prst="rect">
            <a:avLst>
              <a:gd name="adj" fmla="val 22857"/>
            </a:avLst>
          </a:prstGeom>
          <a:solidFill>
            <a:srgbClr val="2ECC71">
              <a:alpha val="8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89888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 · HIGH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25880" y="138074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🔋 Mandate 300 GWh BESS by 2030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174650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NPV-positive at Rs 40 Cr/MWh · Reduces coal 65% at evening peak · Payback 7 yrs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20840" y="138074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Mechanism: Viability Gap Funding · Competitive tendering · DISCOM must-buy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720840" y="172821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Cost: Rs 12,000 Cr capex · Rs 84,000 Cr/yr carbon tax funds 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829800" y="13807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Owner: MNRE + MoP · FY2025 announcement · FY2026 tenders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829800" y="176479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impact →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2395728"/>
            <a:ext cx="11365992" cy="960120"/>
          </a:xfrm>
          <a:prstGeom prst="rect">
            <a:avLst>
              <a:gd name="adj" fmla="val 14286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395728"/>
            <a:ext cx="64008" cy="96012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450592"/>
            <a:ext cx="749808" cy="320040"/>
          </a:xfrm>
          <a:prstGeom prst="rect">
            <a:avLst>
              <a:gd name="adj" fmla="val 22857"/>
            </a:avLst>
          </a:prstGeom>
          <a:solidFill>
            <a:srgbClr val="1A7A8A">
              <a:alpha val="80000"/>
            </a:srgbClr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459736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P2 · HIGH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25880" y="24505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Fast-Track Inter-State Grid (HVDC)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281635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Rajasthan→UP/MH unlocks Rs 60,000 Cr/yr stranded RE value · Reduces transmission loss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0840" y="245059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Mechanism: Green energy corridors · PowerGrid mandate · TBCB bids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20840" y="27980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Cost: Rs 45,000 Cr over 5 yrs · Self-funded by wheeling revenue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829800" y="245059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Owner: MoP · Transmission plans by Q2 FY2026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29800" y="283464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impact →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1480" y="3465576"/>
            <a:ext cx="11365992" cy="960120"/>
          </a:xfrm>
          <a:prstGeom prst="rect">
            <a:avLst>
              <a:gd name="adj" fmla="val 14286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3465576"/>
            <a:ext cx="64008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520440"/>
            <a:ext cx="749808" cy="320040"/>
          </a:xfrm>
          <a:prstGeom prst="rect">
            <a:avLst>
              <a:gd name="adj" fmla="val 22857"/>
            </a:avLst>
          </a:prstGeom>
          <a:solidFill>
            <a:srgbClr val="E67E22">
              <a:alpha val="8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529584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P3 · MED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25880" y="3520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Pigouvian Carbon Tax: Rs 600/MWh on Coal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25880" y="3886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Corrects Rs 2,747/MWh market failure · Rs 84,000 Cr/yr revenue · Prices externality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20840" y="35204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Mechanism: Environment cess on coal power · Revenue to Green Transition Fund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20840" y="386791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Cost: Revenue positive from Day 1 · Displaces Rs 5,500 Cr/yr coal subsidy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829800" y="35204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Owner: Ministry of Finance · Budget 2026-27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829800" y="390448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impact →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11480" y="4535424"/>
            <a:ext cx="11365992" cy="960120"/>
          </a:xfrm>
          <a:prstGeom prst="rect">
            <a:avLst>
              <a:gd name="adj" fmla="val 14286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11480" y="4535424"/>
            <a:ext cx="64008" cy="96012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4590288"/>
            <a:ext cx="749808" cy="320040"/>
          </a:xfrm>
          <a:prstGeom prst="rect">
            <a:avLst>
              <a:gd name="adj" fmla="val 22857"/>
            </a:avLst>
          </a:prstGeom>
          <a:solidFill>
            <a:srgbClr val="F4D03F">
              <a:alpha val="80000"/>
            </a:srgbClr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599432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P4 · MED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325880" y="459028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Accelerate Solar to 400 GW by 2028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325880" y="495604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LCOE falls to Rs 2.1/kWh · Learning curve benefit Rs 0.4/kWh vs today · Grid parity locked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20840" y="459028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Mechanism: PM-KUSUM expansion · Rooftop 2.0 · PLI for manufacturing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720840" y="493776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Cost: Rs 30,000 Cr subsidies → LCOE savings Rs 80,000 Cr/yr by 2030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829800" y="45902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Owner: MNRE · Annual targets in NEP revision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829800" y="49743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impact →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11480" y="5605272"/>
            <a:ext cx="11365992" cy="960120"/>
          </a:xfrm>
          <a:prstGeom prst="rect">
            <a:avLst>
              <a:gd name="adj" fmla="val 14286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11480" y="5605272"/>
            <a:ext cx="64008" cy="9601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" y="5660136"/>
            <a:ext cx="749808" cy="320040"/>
          </a:xfrm>
          <a:prstGeom prst="rect">
            <a:avLst>
              <a:gd name="adj" fmla="val 22857"/>
            </a:avLst>
          </a:prstGeom>
          <a:solidFill>
            <a:srgbClr val="9B59B6">
              <a:alpha val="8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56692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P5 · LOW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325880" y="566013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Enforce EOQ Norms for Coal Stocks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325880" y="602589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Prevents Oct 2021 repeat (100+ critical stations) · Supply chain, not coal shortage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720840" y="566013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Mechanism: NPP real-time monitoring · ROP alert system · Penalty for stock &lt; normative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720840" y="600760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Cost: Implementation cost &lt; Rs 500 Cr · Prevents Rs 30,000 Cr annual deficit cost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829800" y="566013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Owner: CEA / MoP · Notification within 6 months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829800" y="604418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impact →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 · All official Govt of India  ·  Models: CBA · Pigouvian · Wright's Law · LP Expansion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9"/>
          </a:solidFill>
          <a:ln w="12700">
            <a:solidFill>
              <a:srgbClr val="F0F7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237744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MATRIX &amp; SENSITIVITY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Could Go Wrong?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124712"/>
            <a:ext cx="11365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risks ranked by impact × probability · Mitigation strategies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417320"/>
          <a:ext cx="59436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206240" y="1554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BESS costs stay high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749040" y="19202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Grid not upgraded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91840" y="2286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grows faster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91840" y="33832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 PLF collapse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749040" y="3108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DISCOM resistance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206240" y="36576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Fuel price volatility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37160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breakthrough (upside)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920240" y="50292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reversal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371600" y="53035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financing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537960" y="1417320"/>
            <a:ext cx="5257800" cy="4754880"/>
          </a:xfrm>
          <a:prstGeom prst="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675120" y="1508760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Mitigation Strategies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583680" y="1993392"/>
            <a:ext cx="5166360" cy="548640"/>
          </a:xfrm>
          <a:prstGeom prst="rect">
            <a:avLst/>
          </a:prstGeom>
          <a:solidFill>
            <a:srgbClr val="F8FCFD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29400" y="2139696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49440" y="206654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BESS cost stays high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281160" y="206654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VGF + import duty waiver · BESS PLI scheme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583680" y="2615184"/>
            <a:ext cx="5166360" cy="548640"/>
          </a:xfrm>
          <a:prstGeom prst="rect">
            <a:avLst/>
          </a:prstGeom>
          <a:solidFill>
            <a:srgbClr val="F0F7F9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629400" y="2761488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49440" y="268833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Grid not upgraded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281160" y="268833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PowerGrid mandate + tariff reform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583680" y="3236976"/>
            <a:ext cx="5166360" cy="548640"/>
          </a:xfrm>
          <a:prstGeom prst="rect">
            <a:avLst/>
          </a:prstGeom>
          <a:solidFill>
            <a:srgbClr val="F8FCFD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629400" y="3383280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49440" y="331012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grows faster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281160" y="33101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response + energy efficiency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583680" y="3858768"/>
            <a:ext cx="5166360" cy="548640"/>
          </a:xfrm>
          <a:prstGeom prst="rect">
            <a:avLst/>
          </a:prstGeom>
          <a:solidFill>
            <a:srgbClr val="F0F7F9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629400" y="4005072"/>
            <a:ext cx="256032" cy="25603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49440" y="39319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DISCOM resistance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281160" y="3931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Must-buy regulation + payment security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583680" y="4480560"/>
            <a:ext cx="5166360" cy="548640"/>
          </a:xfrm>
          <a:prstGeom prst="rect">
            <a:avLst/>
          </a:prstGeom>
          <a:solidFill>
            <a:srgbClr val="F8FCFD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629400" y="4626864"/>
            <a:ext cx="256032" cy="25603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949440" y="455371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 PLF collapse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9281160" y="45537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EOQ enforcement + minimum offtake guarantee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583680" y="5102352"/>
            <a:ext cx="5166360" cy="548640"/>
          </a:xfrm>
          <a:prstGeom prst="rect">
            <a:avLst/>
          </a:prstGeom>
          <a:solidFill>
            <a:srgbClr val="F0F7F9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629400" y="5248656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49440" y="517550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breakthrough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9281160" y="517550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R&amp;D policy flexibility + review clauses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583680" y="5724144"/>
            <a:ext cx="5166360" cy="548640"/>
          </a:xfrm>
          <a:prstGeom prst="rect">
            <a:avLst/>
          </a:prstGeom>
          <a:solidFill>
            <a:srgbClr val="F8FCFD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629400" y="5870448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949440" y="579729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green financing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9281160" y="579729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 bonds + IREDA expansion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 · All official Govt of India  ·  Models: CBA · Pigouvian · Wright's Law · LP Expansion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91A"/>
          </a:solidFill>
          <a:ln w="12700">
            <a:solidFill>
              <a:srgbClr val="0409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828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dirty="0">
                <a:solidFill>
                  <a:srgbClr val="0D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1000" dirty="0"/>
          </a:p>
        </p:txBody>
      </p:sp>
      <p:sp>
        <p:nvSpPr>
          <p:cNvPr id="5" name="Shape 3"/>
          <p:cNvSpPr/>
          <p:nvPr/>
        </p:nvSpPr>
        <p:spPr>
          <a:xfrm>
            <a:off x="411480" y="292608"/>
            <a:ext cx="146304" cy="14630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7432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THESIS — 4-WEEK MBA PROJECT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5486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Renewables solved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capacity gap.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11480" y="2121408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 solves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411480" y="2889504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timing gap.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11480" y="3749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makes it happen.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11480" y="4480560"/>
            <a:ext cx="5943600" cy="0"/>
          </a:xfrm>
          <a:prstGeom prst="line">
            <a:avLst/>
          </a:prstGeom>
          <a:noFill/>
          <a:ln w="10160">
            <a:solidFill>
              <a:srgbClr val="1A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5720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models · 4 weeks · 1 clear answer: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300 GWh BESS + Pigouvian tax + LP expansion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Coal at 8pm: 200 GW today → 70 GW by 2030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20840" y="685800"/>
            <a:ext cx="5212080" cy="1234440"/>
          </a:xfrm>
          <a:prstGeom prst="rect">
            <a:avLst>
              <a:gd name="adj" fmla="val 11111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20840" y="685800"/>
            <a:ext cx="64008" cy="1234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1005840"/>
            <a:ext cx="566928" cy="566928"/>
          </a:xfrm>
          <a:prstGeom prst="ellipse">
            <a:avLst/>
          </a:prstGeom>
          <a:solidFill>
            <a:srgbClr val="2ECC71">
              <a:alpha val="80000"/>
            </a:srgbClr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005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70648" y="758952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Pipeline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70648" y="112471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26×, deficit &lt;1%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2075688"/>
            <a:ext cx="5212080" cy="1234440"/>
          </a:xfrm>
          <a:prstGeom prst="rect">
            <a:avLst>
              <a:gd name="adj" fmla="val 11111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2075688"/>
            <a:ext cx="64008" cy="1234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2395728"/>
            <a:ext cx="566928" cy="566928"/>
          </a:xfrm>
          <a:prstGeom prst="ellipse">
            <a:avLst/>
          </a:prstGeom>
          <a:solidFill>
            <a:srgbClr val="F4D03F">
              <a:alpha val="80000"/>
            </a:srgbClr>
          </a:solidFill>
          <a:ln w="19050">
            <a:solidFill>
              <a:srgbClr val="F4D0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395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70648" y="2148840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Descriptive Analysis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70648" y="251460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Solar=0 at 8pm, BESS gap 75-125×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20840" y="3465576"/>
            <a:ext cx="5212080" cy="1234440"/>
          </a:xfrm>
          <a:prstGeom prst="rect">
            <a:avLst>
              <a:gd name="adj" fmla="val 11111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20840" y="3465576"/>
            <a:ext cx="64008" cy="1234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12280" y="3785616"/>
            <a:ext cx="566928" cy="566928"/>
          </a:xfrm>
          <a:prstGeom prst="ellipse">
            <a:avLst/>
          </a:prstGeom>
          <a:solidFill>
            <a:srgbClr val="E67E22">
              <a:alpha val="80000"/>
            </a:srgbClr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37856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470648" y="3538728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SARIMAX·EOQ·LP·KMeans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70648" y="3904488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295 GW by 2030, 4 clusters, coal 200 GW at peak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20840" y="4855464"/>
            <a:ext cx="5212080" cy="1234440"/>
          </a:xfrm>
          <a:prstGeom prst="rect">
            <a:avLst>
              <a:gd name="adj" fmla="val 11111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20840" y="4855464"/>
            <a:ext cx="64008" cy="1234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12280" y="5175504"/>
            <a:ext cx="566928" cy="566928"/>
          </a:xfrm>
          <a:prstGeom prst="ellipse">
            <a:avLst/>
          </a:prstGeom>
          <a:solidFill>
            <a:srgbClr val="2ECC71">
              <a:alpha val="80000"/>
            </a:srgbClr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51755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470648" y="4928616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CBA·Pigou·Learning·LP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70648" y="5294376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BESS NPV+, Rs 600/MWh tax, Rs 1.8/kWh solar 2030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20840" y="6355080"/>
            <a:ext cx="5212080" cy="384048"/>
          </a:xfrm>
          <a:prstGeom prst="rect">
            <a:avLst>
              <a:gd name="adj" fmla="val 35714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0" y="638251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IDP (ISB/BMGF) · CEA · NPP · POSOCO · CICERO · All official Govt of India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 · All official Govt of India  ·  Models: CBA · Pigouvian · Wright's Law · LP Expansion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2026-04-27T04:24:57Z</dcterms:created>
  <dcterms:modified xsi:type="dcterms:W3CDTF">2026-04-27T04:24:57Z</dcterms:modified>
</cp:coreProperties>
</file>
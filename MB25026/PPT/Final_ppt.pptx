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55" d="100"/>
          <a:sy n="55" d="100"/>
        </p:scale>
        <p:origin x="658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7952644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" y="914400"/>
            <a:ext cx="419100" cy="419100"/>
          </a:xfrm>
          <a:prstGeom prst="rect">
            <a:avLst/>
          </a:prstGeom>
          <a:solidFill>
            <a:srgbClr val="0F5B4C"/>
          </a:solidFill>
          <a:ln/>
        </p:spPr>
      </p:sp>
      <p:sp>
        <p:nvSpPr>
          <p:cNvPr id="3" name="Shape 1"/>
          <p:cNvSpPr/>
          <p:nvPr/>
        </p:nvSpPr>
        <p:spPr>
          <a:xfrm>
            <a:off x="1257300" y="1257300"/>
            <a:ext cx="171450" cy="171450"/>
          </a:xfrm>
          <a:prstGeom prst="rect">
            <a:avLst/>
          </a:prstGeom>
          <a:solidFill>
            <a:srgbClr val="86BC25"/>
          </a:solidFill>
          <a:ln/>
        </p:spPr>
      </p:sp>
      <p:sp>
        <p:nvSpPr>
          <p:cNvPr id="4" name="Text 2"/>
          <p:cNvSpPr/>
          <p:nvPr/>
        </p:nvSpPr>
        <p:spPr>
          <a:xfrm>
            <a:off x="1466850" y="1040130"/>
            <a:ext cx="3702209" cy="2057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125" b="1" kern="0" spc="247" dirty="0">
                <a:solidFill>
                  <a:srgbClr val="0F5B4C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STRATEGY &amp; OPERATIONS PRACTICE</a:t>
            </a:r>
            <a:endParaRPr lang="en-US" sz="1125" dirty="0"/>
          </a:p>
        </p:txBody>
      </p:sp>
      <p:sp>
        <p:nvSpPr>
          <p:cNvPr id="5" name="Text 3"/>
          <p:cNvSpPr/>
          <p:nvPr/>
        </p:nvSpPr>
        <p:spPr>
          <a:xfrm>
            <a:off x="914400" y="2038350"/>
            <a:ext cx="8581095" cy="2362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350" kern="0" spc="108" dirty="0">
                <a:solidFill>
                  <a:srgbClr val="475569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Renewable Energy · 2026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914400" y="2407920"/>
            <a:ext cx="7456170" cy="419814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6300" b="1" kern="0" spc="-158" dirty="0">
                <a:solidFill>
                  <a:srgbClr val="0F172A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Solving India's evening peak — </a:t>
            </a:r>
            <a:r>
              <a:rPr lang="en-US" sz="6300" b="1" kern="0" spc="-158" dirty="0">
                <a:solidFill>
                  <a:srgbClr val="0F5B4C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a renewables, storage and policy blueprint</a:t>
            </a:r>
            <a:endParaRPr lang="en-US" sz="6300" dirty="0"/>
          </a:p>
        </p:txBody>
      </p:sp>
      <p:sp>
        <p:nvSpPr>
          <p:cNvPr id="7" name="Shape 5"/>
          <p:cNvSpPr/>
          <p:nvPr/>
        </p:nvSpPr>
        <p:spPr>
          <a:xfrm>
            <a:off x="914400" y="6910864"/>
            <a:ext cx="762000" cy="57150"/>
          </a:xfrm>
          <a:prstGeom prst="rect">
            <a:avLst/>
          </a:prstGeom>
          <a:solidFill>
            <a:srgbClr val="86BC25"/>
          </a:solidFill>
          <a:ln/>
        </p:spPr>
      </p:sp>
      <p:sp>
        <p:nvSpPr>
          <p:cNvPr id="8" name="Text 6"/>
          <p:cNvSpPr/>
          <p:nvPr/>
        </p:nvSpPr>
        <p:spPr>
          <a:xfrm>
            <a:off x="914400" y="7272814"/>
            <a:ext cx="6671310" cy="10325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800" dirty="0">
                <a:solidFill>
                  <a:srgbClr val="475569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A data-driven thesis built on 9 official Government of India datasets, five quantitative models, and four years of CEA / POSOCO records. Recommended actions to 2030.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914400" y="9128760"/>
            <a:ext cx="6199168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275" b="1" dirty="0">
                <a:solidFill>
                  <a:srgbClr val="0F172A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Operations Management &amp; Managerial Economics</a:t>
            </a:r>
            <a:endParaRPr lang="en-US" sz="1275" dirty="0"/>
          </a:p>
        </p:txBody>
      </p:sp>
      <p:sp>
        <p:nvSpPr>
          <p:cNvPr id="10" name="Text 8"/>
          <p:cNvSpPr/>
          <p:nvPr/>
        </p:nvSpPr>
        <p:spPr>
          <a:xfrm>
            <a:off x="914400" y="9357360"/>
            <a:ext cx="6199168" cy="2057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125" dirty="0">
                <a:solidFill>
                  <a:srgbClr val="475569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Engagement Length · 4 Weeks · Sources: CEA · NPP · POSOCO · IDP (ISB/BMGF) · CICERO</a:t>
            </a:r>
            <a:endParaRPr lang="en-US" sz="1125" dirty="0"/>
          </a:p>
        </p:txBody>
      </p:sp>
      <p:sp>
        <p:nvSpPr>
          <p:cNvPr id="11" name="Text 9"/>
          <p:cNvSpPr/>
          <p:nvPr/>
        </p:nvSpPr>
        <p:spPr>
          <a:xfrm>
            <a:off x="8208407" y="9166860"/>
            <a:ext cx="1037153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r">
              <a:buNone/>
            </a:pPr>
            <a:r>
              <a:rPr lang="en-US" sz="1275" b="1" dirty="0">
                <a:solidFill>
                  <a:srgbClr val="0F172A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April 2026</a:t>
            </a:r>
            <a:endParaRPr lang="en-US" sz="1275" dirty="0"/>
          </a:p>
        </p:txBody>
      </p:sp>
      <p:sp>
        <p:nvSpPr>
          <p:cNvPr id="12" name="Text 10"/>
          <p:cNvSpPr/>
          <p:nvPr/>
        </p:nvSpPr>
        <p:spPr>
          <a:xfrm>
            <a:off x="8208407" y="9357360"/>
            <a:ext cx="1037153" cy="2057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r">
              <a:buNone/>
            </a:pPr>
            <a:r>
              <a:rPr lang="en-US" sz="1125" dirty="0">
                <a:solidFill>
                  <a:srgbClr val="475569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Document v1.0</a:t>
            </a:r>
            <a:endParaRPr lang="en-US" sz="1125" dirty="0"/>
          </a:p>
        </p:txBody>
      </p:sp>
      <p:sp>
        <p:nvSpPr>
          <p:cNvPr id="13" name="Shape 11"/>
          <p:cNvSpPr/>
          <p:nvPr/>
        </p:nvSpPr>
        <p:spPr>
          <a:xfrm>
            <a:off x="10159960" y="0"/>
            <a:ext cx="8127921" cy="10287000"/>
          </a:xfrm>
          <a:prstGeom prst="rect">
            <a:avLst/>
          </a:prstGeom>
          <a:solidFill>
            <a:srgbClr val="0F5B4C"/>
          </a:solidFill>
          <a:ln/>
        </p:spPr>
      </p:sp>
      <p:sp>
        <p:nvSpPr>
          <p:cNvPr id="14" name="Shape 12"/>
          <p:cNvSpPr/>
          <p:nvPr/>
        </p:nvSpPr>
        <p:spPr>
          <a:xfrm>
            <a:off x="10159960" y="0"/>
            <a:ext cx="8127921" cy="57150"/>
          </a:xfrm>
          <a:prstGeom prst="rect">
            <a:avLst/>
          </a:prstGeom>
          <a:solidFill>
            <a:srgbClr val="86BC25"/>
          </a:solidFill>
          <a:ln/>
        </p:spPr>
      </p:sp>
      <p:sp>
        <p:nvSpPr>
          <p:cNvPr id="15" name="Text 13"/>
          <p:cNvSpPr/>
          <p:nvPr/>
        </p:nvSpPr>
        <p:spPr>
          <a:xfrm>
            <a:off x="10921960" y="3136583"/>
            <a:ext cx="6802038" cy="2133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200" b="1" kern="0" spc="288" dirty="0">
                <a:solidFill>
                  <a:srgbClr val="86BC25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THE PROBLEM IN FOUR NUMBERS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10921960" y="3654743"/>
            <a:ext cx="3187660" cy="9525"/>
          </a:xfrm>
          <a:prstGeom prst="rect">
            <a:avLst/>
          </a:prstGeom>
          <a:solidFill>
            <a:srgbClr val="FFFFFF">
              <a:alpha val="25000"/>
            </a:srgbClr>
          </a:solidFill>
          <a:ln/>
        </p:spPr>
      </p:sp>
      <p:sp>
        <p:nvSpPr>
          <p:cNvPr id="17" name="Text 15"/>
          <p:cNvSpPr/>
          <p:nvPr/>
        </p:nvSpPr>
        <p:spPr>
          <a:xfrm>
            <a:off x="10921960" y="3833812"/>
            <a:ext cx="3283290" cy="723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5400" b="1" kern="0" spc="-108" dirty="0">
                <a:solidFill>
                  <a:srgbClr val="FFFFFF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241 </a:t>
            </a:r>
            <a:r>
              <a:rPr lang="en-US" sz="2400" b="1" kern="0" spc="-108" dirty="0">
                <a:solidFill>
                  <a:srgbClr val="FFFFFF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GW</a:t>
            </a:r>
            <a:endParaRPr lang="en-US" sz="5400" dirty="0"/>
          </a:p>
        </p:txBody>
      </p:sp>
      <p:sp>
        <p:nvSpPr>
          <p:cNvPr id="18" name="Text 16"/>
          <p:cNvSpPr/>
          <p:nvPr/>
        </p:nvSpPr>
        <p:spPr>
          <a:xfrm>
            <a:off x="10921960" y="4614863"/>
            <a:ext cx="3283290" cy="2362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350" dirty="0">
                <a:solidFill>
                  <a:srgbClr val="FFFFFF">
                    <a:alpha val="78000"/>
                  </a:srgbClr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2025 Peak Demand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14338221" y="3654743"/>
            <a:ext cx="3187660" cy="9525"/>
          </a:xfrm>
          <a:prstGeom prst="rect">
            <a:avLst/>
          </a:prstGeom>
          <a:solidFill>
            <a:srgbClr val="FFFFFF">
              <a:alpha val="25000"/>
            </a:srgbClr>
          </a:solidFill>
          <a:ln/>
        </p:spPr>
      </p:sp>
      <p:sp>
        <p:nvSpPr>
          <p:cNvPr id="20" name="Text 18"/>
          <p:cNvSpPr/>
          <p:nvPr/>
        </p:nvSpPr>
        <p:spPr>
          <a:xfrm>
            <a:off x="14338221" y="3833812"/>
            <a:ext cx="3283290" cy="723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5400" b="1" kern="0" spc="-108" dirty="0">
                <a:solidFill>
                  <a:srgbClr val="FFFFFF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150 </a:t>
            </a:r>
            <a:r>
              <a:rPr lang="en-US" sz="2400" b="1" kern="0" spc="-108" dirty="0">
                <a:solidFill>
                  <a:srgbClr val="FFFFFF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GW</a:t>
            </a:r>
            <a:endParaRPr lang="en-US" sz="5400" dirty="0"/>
          </a:p>
        </p:txBody>
      </p:sp>
      <p:sp>
        <p:nvSpPr>
          <p:cNvPr id="21" name="Text 19"/>
          <p:cNvSpPr/>
          <p:nvPr/>
        </p:nvSpPr>
        <p:spPr>
          <a:xfrm>
            <a:off x="14338221" y="4614863"/>
            <a:ext cx="3283290" cy="2362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350" dirty="0">
                <a:solidFill>
                  <a:srgbClr val="FFFFFF">
                    <a:alpha val="78000"/>
                  </a:srgbClr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Solar Installed</a:t>
            </a:r>
            <a:endParaRPr lang="en-US" sz="1350" dirty="0"/>
          </a:p>
        </p:txBody>
      </p:sp>
      <p:sp>
        <p:nvSpPr>
          <p:cNvPr id="22" name="Shape 20"/>
          <p:cNvSpPr/>
          <p:nvPr/>
        </p:nvSpPr>
        <p:spPr>
          <a:xfrm>
            <a:off x="10921960" y="5041582"/>
            <a:ext cx="3187660" cy="9525"/>
          </a:xfrm>
          <a:prstGeom prst="rect">
            <a:avLst/>
          </a:prstGeom>
          <a:solidFill>
            <a:srgbClr val="FFFFFF">
              <a:alpha val="25000"/>
            </a:srgbClr>
          </a:solidFill>
          <a:ln/>
        </p:spPr>
      </p:sp>
      <p:sp>
        <p:nvSpPr>
          <p:cNvPr id="23" name="Text 21"/>
          <p:cNvSpPr/>
          <p:nvPr/>
        </p:nvSpPr>
        <p:spPr>
          <a:xfrm>
            <a:off x="10921960" y="5220653"/>
            <a:ext cx="3283290" cy="723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5400" b="1" kern="0" spc="-108" dirty="0">
                <a:solidFill>
                  <a:srgbClr val="86BC25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0 </a:t>
            </a:r>
            <a:r>
              <a:rPr lang="en-US" sz="2400" b="1" kern="0" spc="-108" dirty="0">
                <a:solidFill>
                  <a:srgbClr val="FFFFFF">
                    <a:alpha val="70000"/>
                  </a:srgbClr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GW</a:t>
            </a:r>
            <a:endParaRPr lang="en-US" sz="5400" dirty="0"/>
          </a:p>
        </p:txBody>
      </p:sp>
      <p:sp>
        <p:nvSpPr>
          <p:cNvPr id="24" name="Text 22"/>
          <p:cNvSpPr/>
          <p:nvPr/>
        </p:nvSpPr>
        <p:spPr>
          <a:xfrm>
            <a:off x="10921960" y="6001703"/>
            <a:ext cx="3283290" cy="2362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350" dirty="0">
                <a:solidFill>
                  <a:srgbClr val="FFFFFF">
                    <a:alpha val="78000"/>
                  </a:srgbClr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Solar at the 8 PM Peak</a:t>
            </a:r>
            <a:endParaRPr lang="en-US" sz="1350" dirty="0"/>
          </a:p>
        </p:txBody>
      </p:sp>
      <p:sp>
        <p:nvSpPr>
          <p:cNvPr id="25" name="Shape 23"/>
          <p:cNvSpPr/>
          <p:nvPr/>
        </p:nvSpPr>
        <p:spPr>
          <a:xfrm>
            <a:off x="14338221" y="5041582"/>
            <a:ext cx="3187660" cy="9525"/>
          </a:xfrm>
          <a:prstGeom prst="rect">
            <a:avLst/>
          </a:prstGeom>
          <a:solidFill>
            <a:srgbClr val="FFFFFF">
              <a:alpha val="25000"/>
            </a:srgbClr>
          </a:solidFill>
          <a:ln/>
        </p:spPr>
      </p:sp>
      <p:sp>
        <p:nvSpPr>
          <p:cNvPr id="26" name="Text 24"/>
          <p:cNvSpPr/>
          <p:nvPr/>
        </p:nvSpPr>
        <p:spPr>
          <a:xfrm>
            <a:off x="14338221" y="5220653"/>
            <a:ext cx="3283290" cy="723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5400" b="1" kern="0" spc="-108" dirty="0">
                <a:solidFill>
                  <a:srgbClr val="FFFFFF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350 </a:t>
            </a:r>
            <a:r>
              <a:rPr lang="en-US" sz="2400" b="1" kern="0" spc="-108" dirty="0">
                <a:solidFill>
                  <a:srgbClr val="FFFFFF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GWh</a:t>
            </a:r>
            <a:endParaRPr lang="en-US" sz="5400" dirty="0"/>
          </a:p>
        </p:txBody>
      </p:sp>
      <p:sp>
        <p:nvSpPr>
          <p:cNvPr id="27" name="Text 25"/>
          <p:cNvSpPr/>
          <p:nvPr/>
        </p:nvSpPr>
        <p:spPr>
          <a:xfrm>
            <a:off x="14338221" y="6001703"/>
            <a:ext cx="3283290" cy="2362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350" dirty="0">
                <a:solidFill>
                  <a:srgbClr val="FFFFFF">
                    <a:alpha val="78000"/>
                  </a:srgbClr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National Storage Gap</a:t>
            </a:r>
            <a:endParaRPr lang="en-US" sz="1350" dirty="0"/>
          </a:p>
        </p:txBody>
      </p:sp>
      <p:sp>
        <p:nvSpPr>
          <p:cNvPr id="28" name="Shape 26"/>
          <p:cNvSpPr/>
          <p:nvPr/>
        </p:nvSpPr>
        <p:spPr>
          <a:xfrm>
            <a:off x="10921960" y="6618923"/>
            <a:ext cx="22860" cy="531495"/>
          </a:xfrm>
          <a:prstGeom prst="rect">
            <a:avLst/>
          </a:prstGeom>
          <a:solidFill>
            <a:srgbClr val="86BC25"/>
          </a:solidFill>
          <a:ln/>
        </p:spPr>
      </p:sp>
      <p:sp>
        <p:nvSpPr>
          <p:cNvPr id="29" name="Text 27"/>
          <p:cNvSpPr/>
          <p:nvPr/>
        </p:nvSpPr>
        <p:spPr>
          <a:xfrm>
            <a:off x="11116270" y="6618923"/>
            <a:ext cx="6607728" cy="5695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1350" dirty="0">
                <a:solidFill>
                  <a:srgbClr val="FFFFFF">
                    <a:alpha val="85000"/>
                  </a:srgbClr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The capacity gap is closed. The </a:t>
            </a:r>
            <a:r>
              <a:rPr lang="en-US" sz="1350" b="1" dirty="0">
                <a:solidFill>
                  <a:srgbClr val="FFFFFF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timing gap </a:t>
            </a:r>
            <a:r>
              <a:rPr lang="en-US" sz="1350" dirty="0">
                <a:solidFill>
                  <a:srgbClr val="FFFFFF">
                    <a:alpha val="85000"/>
                  </a:srgbClr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remains — and is the binding constraint on India's clean transition.</a:t>
            </a:r>
            <a:endParaRPr lang="en-US" sz="13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685800"/>
            <a:ext cx="16874490" cy="2362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350" b="1" kern="0" spc="216" dirty="0">
                <a:solidFill>
                  <a:srgbClr val="0F5B4C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AGENDA HOW THIS PRESENTATION IS STRUCTURED</a:t>
            </a:r>
            <a:endParaRPr lang="en-US" sz="1350" dirty="0"/>
          </a:p>
        </p:txBody>
      </p:sp>
      <p:sp>
        <p:nvSpPr>
          <p:cNvPr id="3" name="Text 1"/>
          <p:cNvSpPr/>
          <p:nvPr/>
        </p:nvSpPr>
        <p:spPr>
          <a:xfrm>
            <a:off x="952500" y="1055370"/>
            <a:ext cx="14716125" cy="6553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4500" b="1" kern="0" spc="-90" dirty="0">
                <a:solidFill>
                  <a:srgbClr val="0F172A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A six-chapter storyline from problem to action</a:t>
            </a:r>
            <a:endParaRPr lang="en-US" sz="4500" dirty="0"/>
          </a:p>
        </p:txBody>
      </p:sp>
      <p:sp>
        <p:nvSpPr>
          <p:cNvPr id="4" name="Text 2"/>
          <p:cNvSpPr/>
          <p:nvPr/>
        </p:nvSpPr>
        <p:spPr>
          <a:xfrm>
            <a:off x="952500" y="1805940"/>
            <a:ext cx="14716125" cy="3724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950" dirty="0">
                <a:solidFill>
                  <a:srgbClr val="475569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Each chapter answers a specific board-level question; the evidence base is fully traceable to public datasets.</a:t>
            </a:r>
            <a:endParaRPr lang="en-US" sz="1950" dirty="0"/>
          </a:p>
        </p:txBody>
      </p:sp>
      <p:sp>
        <p:nvSpPr>
          <p:cNvPr id="5" name="Shape 3"/>
          <p:cNvSpPr/>
          <p:nvPr/>
        </p:nvSpPr>
        <p:spPr>
          <a:xfrm>
            <a:off x="952500" y="2406967"/>
            <a:ext cx="609600" cy="38100"/>
          </a:xfrm>
          <a:prstGeom prst="roundRect">
            <a:avLst>
              <a:gd name="adj" fmla="val 50000"/>
            </a:avLst>
          </a:prstGeom>
          <a:solidFill>
            <a:srgbClr val="86BC25"/>
          </a:solidFill>
          <a:ln/>
        </p:spPr>
      </p:sp>
      <p:sp>
        <p:nvSpPr>
          <p:cNvPr id="6" name="Shape 4"/>
          <p:cNvSpPr/>
          <p:nvPr/>
        </p:nvSpPr>
        <p:spPr>
          <a:xfrm>
            <a:off x="952500" y="2787968"/>
            <a:ext cx="5283161" cy="1855470"/>
          </a:xfrm>
          <a:prstGeom prst="rect">
            <a:avLst/>
          </a:prstGeom>
          <a:ln w="7620">
            <a:solidFill>
              <a:srgbClr val="E5E7E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245870" y="3062288"/>
            <a:ext cx="367903" cy="240030"/>
          </a:xfrm>
          <a:prstGeom prst="roundRect">
            <a:avLst>
              <a:gd name="adj" fmla="val 7937"/>
            </a:avLst>
          </a:prstGeom>
          <a:solidFill>
            <a:srgbClr val="0F5B4C"/>
          </a:solidFill>
          <a:ln/>
        </p:spPr>
      </p:sp>
      <p:sp>
        <p:nvSpPr>
          <p:cNvPr id="8" name="Text 6"/>
          <p:cNvSpPr/>
          <p:nvPr/>
        </p:nvSpPr>
        <p:spPr>
          <a:xfrm>
            <a:off x="1341120" y="3109913"/>
            <a:ext cx="253603" cy="1828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975" b="1" kern="0" spc="156" dirty="0">
                <a:solidFill>
                  <a:srgbClr val="FFFFFF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01</a:t>
            </a:r>
            <a:endParaRPr lang="en-US" sz="975" dirty="0"/>
          </a:p>
        </p:txBody>
      </p:sp>
      <p:sp>
        <p:nvSpPr>
          <p:cNvPr id="9" name="Text 7"/>
          <p:cNvSpPr/>
          <p:nvPr/>
        </p:nvSpPr>
        <p:spPr>
          <a:xfrm>
            <a:off x="5140762" y="3102293"/>
            <a:ext cx="877729" cy="1981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050" kern="0" spc="168" dirty="0">
                <a:solidFill>
                  <a:srgbClr val="94A3B8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PROBLEM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1245870" y="3473768"/>
            <a:ext cx="4837313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0F172A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The Central Tension</a:t>
            </a:r>
            <a:endParaRPr lang="en-US" sz="2100" dirty="0"/>
          </a:p>
        </p:txBody>
      </p:sp>
      <p:sp>
        <p:nvSpPr>
          <p:cNvPr id="11" name="Text 9"/>
          <p:cNvSpPr/>
          <p:nvPr/>
        </p:nvSpPr>
        <p:spPr>
          <a:xfrm>
            <a:off x="1245870" y="3854768"/>
            <a:ext cx="4837313" cy="552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350" dirty="0">
                <a:solidFill>
                  <a:srgbClr val="475569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Why a 241 GW peak with 150 GW of solar still requires coal at sundown.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6502361" y="2787968"/>
            <a:ext cx="5283161" cy="1855470"/>
          </a:xfrm>
          <a:prstGeom prst="rect">
            <a:avLst/>
          </a:prstGeom>
          <a:ln w="7620">
            <a:solidFill>
              <a:srgbClr val="E5E7E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795731" y="3062288"/>
            <a:ext cx="367903" cy="240030"/>
          </a:xfrm>
          <a:prstGeom prst="roundRect">
            <a:avLst>
              <a:gd name="adj" fmla="val 7937"/>
            </a:avLst>
          </a:prstGeom>
          <a:solidFill>
            <a:srgbClr val="0F5B4C"/>
          </a:solidFill>
          <a:ln/>
        </p:spPr>
      </p:sp>
      <p:sp>
        <p:nvSpPr>
          <p:cNvPr id="14" name="Text 12"/>
          <p:cNvSpPr/>
          <p:nvPr/>
        </p:nvSpPr>
        <p:spPr>
          <a:xfrm>
            <a:off x="6890981" y="3109913"/>
            <a:ext cx="253603" cy="1828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975" b="1" kern="0" spc="156" dirty="0">
                <a:solidFill>
                  <a:srgbClr val="FFFFFF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02</a:t>
            </a:r>
            <a:endParaRPr lang="en-US" sz="975" dirty="0"/>
          </a:p>
        </p:txBody>
      </p:sp>
      <p:sp>
        <p:nvSpPr>
          <p:cNvPr id="15" name="Text 13"/>
          <p:cNvSpPr/>
          <p:nvPr/>
        </p:nvSpPr>
        <p:spPr>
          <a:xfrm>
            <a:off x="11070908" y="3102293"/>
            <a:ext cx="497443" cy="1981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050" kern="0" spc="168" dirty="0">
                <a:solidFill>
                  <a:srgbClr val="94A3B8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DATA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6795731" y="3473768"/>
            <a:ext cx="4837313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0F172A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Evidence Base</a:t>
            </a:r>
            <a:endParaRPr lang="en-US" sz="2100" dirty="0"/>
          </a:p>
        </p:txBody>
      </p:sp>
      <p:sp>
        <p:nvSpPr>
          <p:cNvPr id="17" name="Text 15"/>
          <p:cNvSpPr/>
          <p:nvPr/>
        </p:nvSpPr>
        <p:spPr>
          <a:xfrm>
            <a:off x="6795731" y="3854768"/>
            <a:ext cx="4837313" cy="552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350" dirty="0">
                <a:solidFill>
                  <a:srgbClr val="475569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Nine official Govt of India datasets — CEA, NPP, IDP, POSOCO, CICERO — engineered into a unified pipeline.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12052221" y="2787968"/>
            <a:ext cx="5283161" cy="1855470"/>
          </a:xfrm>
          <a:prstGeom prst="rect">
            <a:avLst/>
          </a:prstGeom>
          <a:ln w="7620">
            <a:solidFill>
              <a:srgbClr val="E5E7E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2345591" y="3062288"/>
            <a:ext cx="367903" cy="240030"/>
          </a:xfrm>
          <a:prstGeom prst="roundRect">
            <a:avLst>
              <a:gd name="adj" fmla="val 7937"/>
            </a:avLst>
          </a:prstGeom>
          <a:solidFill>
            <a:srgbClr val="0F5B4C"/>
          </a:solidFill>
          <a:ln/>
        </p:spPr>
      </p:sp>
      <p:sp>
        <p:nvSpPr>
          <p:cNvPr id="20" name="Text 18"/>
          <p:cNvSpPr/>
          <p:nvPr/>
        </p:nvSpPr>
        <p:spPr>
          <a:xfrm>
            <a:off x="12440841" y="3109913"/>
            <a:ext cx="253603" cy="1828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975" b="1" kern="0" spc="156" dirty="0">
                <a:solidFill>
                  <a:srgbClr val="FFFFFF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03</a:t>
            </a:r>
            <a:endParaRPr lang="en-US" sz="975" dirty="0"/>
          </a:p>
        </p:txBody>
      </p:sp>
      <p:sp>
        <p:nvSpPr>
          <p:cNvPr id="21" name="Text 19"/>
          <p:cNvSpPr/>
          <p:nvPr/>
        </p:nvSpPr>
        <p:spPr>
          <a:xfrm>
            <a:off x="16108918" y="3102293"/>
            <a:ext cx="1009293" cy="1981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050" kern="0" spc="168" dirty="0">
                <a:solidFill>
                  <a:srgbClr val="94A3B8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DIAGNOSIS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12345591" y="3473768"/>
            <a:ext cx="4837313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0F172A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Descriptive Insights</a:t>
            </a:r>
            <a:endParaRPr lang="en-US" sz="2100" dirty="0"/>
          </a:p>
        </p:txBody>
      </p:sp>
      <p:sp>
        <p:nvSpPr>
          <p:cNvPr id="23" name="Text 21"/>
          <p:cNvSpPr/>
          <p:nvPr/>
        </p:nvSpPr>
        <p:spPr>
          <a:xfrm>
            <a:off x="12345591" y="3854768"/>
            <a:ext cx="4837313" cy="552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350" dirty="0">
                <a:solidFill>
                  <a:srgbClr val="475569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Capacity growth, three structural mismatches, state-wise gaps, and CUF by source.</a:t>
            </a:r>
            <a:endParaRPr lang="en-US" sz="1350" dirty="0"/>
          </a:p>
        </p:txBody>
      </p:sp>
      <p:sp>
        <p:nvSpPr>
          <p:cNvPr id="24" name="Shape 22"/>
          <p:cNvSpPr/>
          <p:nvPr/>
        </p:nvSpPr>
        <p:spPr>
          <a:xfrm>
            <a:off x="952500" y="4910138"/>
            <a:ext cx="5283161" cy="1855470"/>
          </a:xfrm>
          <a:prstGeom prst="rect">
            <a:avLst/>
          </a:prstGeom>
          <a:ln w="7620">
            <a:solidFill>
              <a:srgbClr val="E5E7EB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245870" y="5184457"/>
            <a:ext cx="367903" cy="240030"/>
          </a:xfrm>
          <a:prstGeom prst="roundRect">
            <a:avLst>
              <a:gd name="adj" fmla="val 7937"/>
            </a:avLst>
          </a:prstGeom>
          <a:solidFill>
            <a:srgbClr val="0F5B4C"/>
          </a:solidFill>
          <a:ln/>
        </p:spPr>
      </p:sp>
      <p:sp>
        <p:nvSpPr>
          <p:cNvPr id="26" name="Text 24"/>
          <p:cNvSpPr/>
          <p:nvPr/>
        </p:nvSpPr>
        <p:spPr>
          <a:xfrm>
            <a:off x="1341120" y="5232082"/>
            <a:ext cx="253603" cy="1828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975" b="1" kern="0" spc="156" dirty="0">
                <a:solidFill>
                  <a:srgbClr val="FFFFFF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04</a:t>
            </a:r>
            <a:endParaRPr lang="en-US" sz="975" dirty="0"/>
          </a:p>
        </p:txBody>
      </p:sp>
      <p:sp>
        <p:nvSpPr>
          <p:cNvPr id="27" name="Text 25"/>
          <p:cNvSpPr/>
          <p:nvPr/>
        </p:nvSpPr>
        <p:spPr>
          <a:xfrm>
            <a:off x="4621649" y="5224463"/>
            <a:ext cx="1396841" cy="1981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050" kern="0" spc="168" dirty="0">
                <a:solidFill>
                  <a:srgbClr val="94A3B8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QUANT MODELS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1245870" y="5595938"/>
            <a:ext cx="4837313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0F172A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ML &amp; Operations Tools</a:t>
            </a:r>
            <a:endParaRPr lang="en-US" sz="2100" dirty="0"/>
          </a:p>
        </p:txBody>
      </p:sp>
      <p:sp>
        <p:nvSpPr>
          <p:cNvPr id="29" name="Text 27"/>
          <p:cNvSpPr/>
          <p:nvPr/>
        </p:nvSpPr>
        <p:spPr>
          <a:xfrm>
            <a:off x="1245870" y="5976938"/>
            <a:ext cx="4837313" cy="552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350" dirty="0">
                <a:solidFill>
                  <a:srgbClr val="475569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SARIMAX forecast, EOQ inventory, LP dispatch, K-Means clusters, BESS sizing.</a:t>
            </a:r>
            <a:endParaRPr lang="en-US" sz="1350" dirty="0"/>
          </a:p>
        </p:txBody>
      </p:sp>
      <p:sp>
        <p:nvSpPr>
          <p:cNvPr id="30" name="Shape 28"/>
          <p:cNvSpPr/>
          <p:nvPr/>
        </p:nvSpPr>
        <p:spPr>
          <a:xfrm>
            <a:off x="6502361" y="4910138"/>
            <a:ext cx="5283161" cy="1855470"/>
          </a:xfrm>
          <a:prstGeom prst="rect">
            <a:avLst/>
          </a:prstGeom>
          <a:ln w="7620">
            <a:solidFill>
              <a:srgbClr val="E5E7EB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795731" y="5184457"/>
            <a:ext cx="367903" cy="240030"/>
          </a:xfrm>
          <a:prstGeom prst="roundRect">
            <a:avLst>
              <a:gd name="adj" fmla="val 7937"/>
            </a:avLst>
          </a:prstGeom>
          <a:solidFill>
            <a:srgbClr val="0F5B4C"/>
          </a:solidFill>
          <a:ln/>
        </p:spPr>
      </p:sp>
      <p:sp>
        <p:nvSpPr>
          <p:cNvPr id="32" name="Text 30"/>
          <p:cNvSpPr/>
          <p:nvPr/>
        </p:nvSpPr>
        <p:spPr>
          <a:xfrm>
            <a:off x="6890981" y="5232082"/>
            <a:ext cx="253603" cy="1828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975" b="1" kern="0" spc="156" dirty="0">
                <a:solidFill>
                  <a:srgbClr val="FFFFFF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05</a:t>
            </a:r>
            <a:endParaRPr lang="en-US" sz="975" dirty="0"/>
          </a:p>
        </p:txBody>
      </p:sp>
      <p:sp>
        <p:nvSpPr>
          <p:cNvPr id="33" name="Text 31"/>
          <p:cNvSpPr/>
          <p:nvPr/>
        </p:nvSpPr>
        <p:spPr>
          <a:xfrm>
            <a:off x="10477738" y="5224463"/>
            <a:ext cx="1090613" cy="1981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050" kern="0" spc="168" dirty="0">
                <a:solidFill>
                  <a:srgbClr val="94A3B8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ECONOMICS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6795731" y="5595938"/>
            <a:ext cx="4837313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0F172A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The Financial Case</a:t>
            </a:r>
            <a:endParaRPr lang="en-US" sz="2100" dirty="0"/>
          </a:p>
        </p:txBody>
      </p:sp>
      <p:sp>
        <p:nvSpPr>
          <p:cNvPr id="35" name="Text 33"/>
          <p:cNvSpPr/>
          <p:nvPr/>
        </p:nvSpPr>
        <p:spPr>
          <a:xfrm>
            <a:off x="6795731" y="5976938"/>
            <a:ext cx="4837313" cy="552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350" dirty="0">
                <a:solidFill>
                  <a:srgbClr val="475569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BESS NPV, Pigouvian carbon tax, Wright's law solar LCOE, six-year LP build plan.</a:t>
            </a:r>
            <a:endParaRPr lang="en-US" sz="1350" dirty="0"/>
          </a:p>
        </p:txBody>
      </p:sp>
      <p:sp>
        <p:nvSpPr>
          <p:cNvPr id="36" name="Shape 34"/>
          <p:cNvSpPr/>
          <p:nvPr/>
        </p:nvSpPr>
        <p:spPr>
          <a:xfrm>
            <a:off x="12052221" y="4910138"/>
            <a:ext cx="5283161" cy="1855470"/>
          </a:xfrm>
          <a:prstGeom prst="rect">
            <a:avLst/>
          </a:prstGeom>
          <a:solidFill>
            <a:srgbClr val="F8FAF7"/>
          </a:solidFill>
          <a:ln w="7620">
            <a:solidFill>
              <a:srgbClr val="E5E7EB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12345591" y="5184457"/>
            <a:ext cx="367903" cy="240030"/>
          </a:xfrm>
          <a:prstGeom prst="roundRect">
            <a:avLst>
              <a:gd name="adj" fmla="val 7937"/>
            </a:avLst>
          </a:prstGeom>
          <a:solidFill>
            <a:srgbClr val="0F5B4C"/>
          </a:solidFill>
          <a:ln/>
        </p:spPr>
      </p:sp>
      <p:sp>
        <p:nvSpPr>
          <p:cNvPr id="38" name="Text 36"/>
          <p:cNvSpPr/>
          <p:nvPr/>
        </p:nvSpPr>
        <p:spPr>
          <a:xfrm>
            <a:off x="12440841" y="5232082"/>
            <a:ext cx="253603" cy="1828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975" b="1" kern="0" spc="156" dirty="0">
                <a:solidFill>
                  <a:srgbClr val="FFFFFF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06</a:t>
            </a:r>
            <a:endParaRPr lang="en-US" sz="975" dirty="0"/>
          </a:p>
        </p:txBody>
      </p:sp>
      <p:sp>
        <p:nvSpPr>
          <p:cNvPr id="39" name="Text 37"/>
          <p:cNvSpPr/>
          <p:nvPr/>
        </p:nvSpPr>
        <p:spPr>
          <a:xfrm>
            <a:off x="16299895" y="5224463"/>
            <a:ext cx="818317" cy="1981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050" kern="0" spc="168" dirty="0">
                <a:solidFill>
                  <a:srgbClr val="94A3B8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ACTIONS</a:t>
            </a:r>
            <a:endParaRPr lang="en-US" sz="1050" dirty="0"/>
          </a:p>
        </p:txBody>
      </p:sp>
      <p:sp>
        <p:nvSpPr>
          <p:cNvPr id="40" name="Text 38"/>
          <p:cNvSpPr/>
          <p:nvPr/>
        </p:nvSpPr>
        <p:spPr>
          <a:xfrm>
            <a:off x="12345591" y="5595938"/>
            <a:ext cx="4837313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0F172A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Recommendations &amp; Risk</a:t>
            </a:r>
            <a:endParaRPr lang="en-US" sz="2100" dirty="0"/>
          </a:p>
        </p:txBody>
      </p:sp>
      <p:sp>
        <p:nvSpPr>
          <p:cNvPr id="41" name="Text 39"/>
          <p:cNvSpPr/>
          <p:nvPr/>
        </p:nvSpPr>
        <p:spPr>
          <a:xfrm>
            <a:off x="12345591" y="5976938"/>
            <a:ext cx="4837313" cy="552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350" dirty="0">
                <a:solidFill>
                  <a:srgbClr val="475569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Five ranked policies with owners, timelines, costs, and a 7-risk mitigation matrix.</a:t>
            </a:r>
            <a:endParaRPr lang="en-US" sz="1350" dirty="0"/>
          </a:p>
        </p:txBody>
      </p:sp>
      <p:sp>
        <p:nvSpPr>
          <p:cNvPr id="42" name="Shape 40"/>
          <p:cNvSpPr/>
          <p:nvPr/>
        </p:nvSpPr>
        <p:spPr>
          <a:xfrm>
            <a:off x="952500" y="9627870"/>
            <a:ext cx="16383000" cy="31623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3" name="Shape 41"/>
          <p:cNvSpPr/>
          <p:nvPr/>
        </p:nvSpPr>
        <p:spPr>
          <a:xfrm>
            <a:off x="952500" y="9627870"/>
            <a:ext cx="16383000" cy="9525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44" name="Text 42"/>
          <p:cNvSpPr/>
          <p:nvPr/>
        </p:nvSpPr>
        <p:spPr>
          <a:xfrm>
            <a:off x="952500" y="9772650"/>
            <a:ext cx="2388156" cy="2057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lnSpcReduction="10000"/>
          </a:bodyPr>
          <a:lstStyle/>
          <a:p>
            <a:pPr marL="0" indent="0" algn="l">
              <a:buNone/>
            </a:pPr>
            <a:r>
              <a:rPr lang="en-US" sz="1125" b="1" kern="0" spc="90" dirty="0">
                <a:solidFill>
                  <a:srgbClr val="0F5B4C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STRATEGY &amp; OPERATIONS</a:t>
            </a:r>
            <a:endParaRPr lang="en-US" sz="1125" dirty="0"/>
          </a:p>
        </p:txBody>
      </p:sp>
      <p:sp>
        <p:nvSpPr>
          <p:cNvPr id="45" name="Text 43"/>
          <p:cNvSpPr/>
          <p:nvPr/>
        </p:nvSpPr>
        <p:spPr>
          <a:xfrm>
            <a:off x="7368897" y="9768840"/>
            <a:ext cx="5558035" cy="2133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200" kern="0" spc="48" dirty="0">
                <a:solidFill>
                  <a:srgbClr val="94A3B8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Source: India Data Portal (ISB/BMGF) · CEA · NPP · POSOCO · CICERO</a:t>
            </a:r>
            <a:endParaRPr lang="en-US" sz="1200" dirty="0"/>
          </a:p>
        </p:txBody>
      </p:sp>
      <p:sp>
        <p:nvSpPr>
          <p:cNvPr id="46" name="Text 44"/>
          <p:cNvSpPr/>
          <p:nvPr/>
        </p:nvSpPr>
        <p:spPr>
          <a:xfrm>
            <a:off x="16869370" y="9768840"/>
            <a:ext cx="542330" cy="2133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475569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02 </a:t>
            </a:r>
            <a:r>
              <a:rPr lang="en-US" sz="1200" dirty="0">
                <a:solidFill>
                  <a:srgbClr val="94A3B8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/ 20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685800"/>
            <a:ext cx="16874490" cy="2362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350" b="1" kern="0" spc="216" dirty="0">
                <a:solidFill>
                  <a:srgbClr val="0F5B4C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01 · THE PROBLEM DIURNAL, SEASONAL, GEOGRAPHIC MISMATCHES</a:t>
            </a:r>
            <a:endParaRPr lang="en-US" sz="1350" dirty="0"/>
          </a:p>
        </p:txBody>
      </p:sp>
      <p:sp>
        <p:nvSpPr>
          <p:cNvPr id="3" name="Text 1"/>
          <p:cNvSpPr/>
          <p:nvPr/>
        </p:nvSpPr>
        <p:spPr>
          <a:xfrm>
            <a:off x="952500" y="1055370"/>
            <a:ext cx="14716125" cy="12725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4500" b="1" kern="0" spc="-90" dirty="0">
                <a:solidFill>
                  <a:srgbClr val="0F172A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India produces enough power — but rarely at the hour it is needed</a:t>
            </a:r>
            <a:endParaRPr lang="en-US" sz="4500" dirty="0"/>
          </a:p>
        </p:txBody>
      </p:sp>
      <p:sp>
        <p:nvSpPr>
          <p:cNvPr id="4" name="Text 2"/>
          <p:cNvSpPr/>
          <p:nvPr/>
        </p:nvSpPr>
        <p:spPr>
          <a:xfrm>
            <a:off x="952500" y="2423160"/>
            <a:ext cx="14716125" cy="3724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950" dirty="0">
                <a:solidFill>
                  <a:srgbClr val="475569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Solar carries 100% of mid-day load and 0% of evening load. Three layered mismatches define the structural gap.</a:t>
            </a:r>
            <a:endParaRPr lang="en-US" sz="1950" dirty="0"/>
          </a:p>
        </p:txBody>
      </p:sp>
      <p:sp>
        <p:nvSpPr>
          <p:cNvPr id="5" name="Shape 3"/>
          <p:cNvSpPr/>
          <p:nvPr/>
        </p:nvSpPr>
        <p:spPr>
          <a:xfrm>
            <a:off x="952500" y="3024188"/>
            <a:ext cx="609600" cy="38100"/>
          </a:xfrm>
          <a:prstGeom prst="roundRect">
            <a:avLst>
              <a:gd name="adj" fmla="val 50000"/>
            </a:avLst>
          </a:prstGeom>
          <a:solidFill>
            <a:srgbClr val="86BC25"/>
          </a:solidFill>
          <a:ln/>
        </p:spPr>
      </p:sp>
      <p:sp>
        <p:nvSpPr>
          <p:cNvPr id="6" name="Shape 4"/>
          <p:cNvSpPr/>
          <p:nvPr/>
        </p:nvSpPr>
        <p:spPr>
          <a:xfrm>
            <a:off x="952500" y="3328988"/>
            <a:ext cx="9214485" cy="5719763"/>
          </a:xfrm>
          <a:prstGeom prst="rect">
            <a:avLst/>
          </a:prstGeom>
          <a:ln w="7620">
            <a:solidFill>
              <a:srgbClr val="E5E7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245870" y="3565208"/>
            <a:ext cx="8886577" cy="1981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050" b="1" kern="0" spc="168" dirty="0">
                <a:solidFill>
                  <a:srgbClr val="475569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EXHIBIT 01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1245870" y="3763328"/>
            <a:ext cx="8886577" cy="2971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0F172A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A typical day on India's grid — solar output vs. demand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10509885" y="3328988"/>
            <a:ext cx="6825615" cy="852011"/>
          </a:xfrm>
          <a:prstGeom prst="rect">
            <a:avLst/>
          </a:prstGeom>
          <a:ln w="7620">
            <a:solidFill>
              <a:srgbClr val="E5E7E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727056" y="3527108"/>
            <a:ext cx="245745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400" b="1" dirty="0">
                <a:solidFill>
                  <a:srgbClr val="86BC25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1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11029950" y="3508058"/>
            <a:ext cx="5684349" cy="259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F172A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Diurnal mismatch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1029950" y="3767138"/>
            <a:ext cx="5684349" cy="27289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275" dirty="0">
                <a:solidFill>
                  <a:srgbClr val="475569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Solar = 0 GW at 8 PM. The evening peak is wholly carried by coal and hydro.</a:t>
            </a:r>
            <a:endParaRPr lang="en-US" sz="1275" dirty="0"/>
          </a:p>
        </p:txBody>
      </p:sp>
      <p:sp>
        <p:nvSpPr>
          <p:cNvPr id="13" name="Shape 11"/>
          <p:cNvSpPr/>
          <p:nvPr/>
        </p:nvSpPr>
        <p:spPr>
          <a:xfrm>
            <a:off x="10509885" y="4333399"/>
            <a:ext cx="6825615" cy="852011"/>
          </a:xfrm>
          <a:prstGeom prst="rect">
            <a:avLst/>
          </a:prstGeom>
          <a:ln w="7620">
            <a:solidFill>
              <a:srgbClr val="E5E7E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727056" y="4531519"/>
            <a:ext cx="245745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400" b="1" dirty="0">
                <a:solidFill>
                  <a:srgbClr val="86BC25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2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11029950" y="4512469"/>
            <a:ext cx="5238205" cy="259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F172A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Seasonal mismatch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11029950" y="4771549"/>
            <a:ext cx="5238205" cy="27289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275" dirty="0">
                <a:solidFill>
                  <a:srgbClr val="475569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Wind peaks Jul–Sep (monsoon). Demand peaks Apr–Jun and October.</a:t>
            </a:r>
            <a:endParaRPr lang="en-US" sz="1275" dirty="0"/>
          </a:p>
        </p:txBody>
      </p:sp>
      <p:sp>
        <p:nvSpPr>
          <p:cNvPr id="17" name="Shape 15"/>
          <p:cNvSpPr/>
          <p:nvPr/>
        </p:nvSpPr>
        <p:spPr>
          <a:xfrm>
            <a:off x="10509885" y="5337810"/>
            <a:ext cx="6825615" cy="852011"/>
          </a:xfrm>
          <a:prstGeom prst="rect">
            <a:avLst/>
          </a:prstGeom>
          <a:ln w="7620">
            <a:solidFill>
              <a:srgbClr val="E5E7E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727056" y="5535930"/>
            <a:ext cx="245745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400" b="1" dirty="0">
                <a:solidFill>
                  <a:srgbClr val="86BC25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3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11029950" y="5516880"/>
            <a:ext cx="6165443" cy="259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F172A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Geographic mismatch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11029950" y="5775960"/>
            <a:ext cx="6165443" cy="27289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275" dirty="0">
                <a:solidFill>
                  <a:srgbClr val="475569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Rajasthan holds 28% of solar capacity but accounts for just 6% of national demand.</a:t>
            </a:r>
            <a:endParaRPr lang="en-US" sz="1275" dirty="0"/>
          </a:p>
        </p:txBody>
      </p:sp>
      <p:sp>
        <p:nvSpPr>
          <p:cNvPr id="21" name="Shape 19"/>
          <p:cNvSpPr/>
          <p:nvPr/>
        </p:nvSpPr>
        <p:spPr>
          <a:xfrm>
            <a:off x="10509885" y="8069580"/>
            <a:ext cx="6825615" cy="979170"/>
          </a:xfrm>
          <a:prstGeom prst="rect">
            <a:avLst/>
          </a:prstGeom>
          <a:solidFill>
            <a:srgbClr val="F8FAF7"/>
          </a:solidFill>
          <a:ln/>
        </p:spPr>
      </p:sp>
      <p:sp>
        <p:nvSpPr>
          <p:cNvPr id="22" name="Shape 20"/>
          <p:cNvSpPr/>
          <p:nvPr/>
        </p:nvSpPr>
        <p:spPr>
          <a:xfrm>
            <a:off x="10509885" y="8069580"/>
            <a:ext cx="38100" cy="979170"/>
          </a:xfrm>
          <a:prstGeom prst="rect">
            <a:avLst/>
          </a:prstGeom>
          <a:solidFill>
            <a:srgbClr val="86BC25"/>
          </a:solidFill>
          <a:ln/>
        </p:spPr>
      </p:sp>
      <p:sp>
        <p:nvSpPr>
          <p:cNvPr id="23" name="Text 21"/>
          <p:cNvSpPr/>
          <p:nvPr/>
        </p:nvSpPr>
        <p:spPr>
          <a:xfrm>
            <a:off x="10814685" y="8317230"/>
            <a:ext cx="864037" cy="1981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050" b="1" kern="0" spc="189" dirty="0">
                <a:solidFill>
                  <a:srgbClr val="0F5B4C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SO WHAT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11831122" y="8279130"/>
            <a:ext cx="5394809" cy="5981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575" dirty="0">
                <a:solidFill>
                  <a:srgbClr val="0F172A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More panels do not fix evening demand. Storage and geography do.</a:t>
            </a:r>
            <a:endParaRPr lang="en-US" sz="1575" dirty="0"/>
          </a:p>
        </p:txBody>
      </p:sp>
      <p:sp>
        <p:nvSpPr>
          <p:cNvPr id="25" name="Shape 23"/>
          <p:cNvSpPr/>
          <p:nvPr/>
        </p:nvSpPr>
        <p:spPr>
          <a:xfrm>
            <a:off x="952500" y="9627870"/>
            <a:ext cx="16383000" cy="31623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6" name="Shape 24"/>
          <p:cNvSpPr/>
          <p:nvPr/>
        </p:nvSpPr>
        <p:spPr>
          <a:xfrm>
            <a:off x="952500" y="9627870"/>
            <a:ext cx="16383000" cy="9525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27" name="Text 25"/>
          <p:cNvSpPr/>
          <p:nvPr/>
        </p:nvSpPr>
        <p:spPr>
          <a:xfrm>
            <a:off x="952500" y="9772650"/>
            <a:ext cx="2388156" cy="2057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lnSpcReduction="10000"/>
          </a:bodyPr>
          <a:lstStyle/>
          <a:p>
            <a:pPr marL="0" indent="0" algn="l">
              <a:buNone/>
            </a:pPr>
            <a:r>
              <a:rPr lang="en-US" sz="1125" b="1" kern="0" spc="90" dirty="0">
                <a:solidFill>
                  <a:srgbClr val="0F5B4C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STRATEGY &amp; OPERATIONS</a:t>
            </a:r>
            <a:endParaRPr lang="en-US" sz="1125" dirty="0"/>
          </a:p>
        </p:txBody>
      </p:sp>
      <p:sp>
        <p:nvSpPr>
          <p:cNvPr id="28" name="Text 26"/>
          <p:cNvSpPr/>
          <p:nvPr/>
        </p:nvSpPr>
        <p:spPr>
          <a:xfrm>
            <a:off x="7821930" y="9768840"/>
            <a:ext cx="4624665" cy="2133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200" kern="0" spc="48" dirty="0">
                <a:solidFill>
                  <a:srgbClr val="94A3B8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Source: POSOCO national load curves, CEA daily generation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16869370" y="9768840"/>
            <a:ext cx="542330" cy="2133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475569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03 </a:t>
            </a:r>
            <a:r>
              <a:rPr lang="en-US" sz="1200" dirty="0">
                <a:solidFill>
                  <a:srgbClr val="94A3B8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/ 20</a:t>
            </a:r>
            <a:endParaRPr lang="en-US" sz="1200" dirty="0"/>
          </a:p>
        </p:txBody>
      </p:sp>
      <p:sp>
        <p:nvSpPr>
          <p:cNvPr id="32" name="Text 7">
            <a:extLst>
              <a:ext uri="{FF2B5EF4-FFF2-40B4-BE49-F238E27FC236}">
                <a16:creationId xmlns:a16="http://schemas.microsoft.com/office/drawing/2014/main" id="{12A87C70-CF0C-AF86-C44E-224BEEFD8EB7}"/>
              </a:ext>
            </a:extLst>
          </p:cNvPr>
          <p:cNvSpPr/>
          <p:nvPr/>
        </p:nvSpPr>
        <p:spPr>
          <a:xfrm>
            <a:off x="1490554" y="4591972"/>
            <a:ext cx="3240978" cy="5349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A8CDD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6 AM</a:t>
            </a:r>
            <a:endParaRPr lang="en-US" sz="1200" dirty="0"/>
          </a:p>
        </p:txBody>
      </p:sp>
      <p:sp>
        <p:nvSpPr>
          <p:cNvPr id="33" name="Text 8">
            <a:extLst>
              <a:ext uri="{FF2B5EF4-FFF2-40B4-BE49-F238E27FC236}">
                <a16:creationId xmlns:a16="http://schemas.microsoft.com/office/drawing/2014/main" id="{3FE678F6-4EAB-5274-06A7-91C13CA2F3AD}"/>
              </a:ext>
            </a:extLst>
          </p:cNvPr>
          <p:cNvSpPr/>
          <p:nvPr/>
        </p:nvSpPr>
        <p:spPr>
          <a:xfrm>
            <a:off x="2551257" y="4591972"/>
            <a:ext cx="7365855" cy="5349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ECC7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Solar starts rising</a:t>
            </a:r>
            <a:endParaRPr lang="en-US" sz="1200" dirty="0"/>
          </a:p>
        </p:txBody>
      </p:sp>
      <p:sp>
        <p:nvSpPr>
          <p:cNvPr id="34" name="Shape 9">
            <a:extLst>
              <a:ext uri="{FF2B5EF4-FFF2-40B4-BE49-F238E27FC236}">
                <a16:creationId xmlns:a16="http://schemas.microsoft.com/office/drawing/2014/main" id="{1F3B117C-8282-7800-AF37-A20DCBD6E8F8}"/>
              </a:ext>
            </a:extLst>
          </p:cNvPr>
          <p:cNvSpPr/>
          <p:nvPr/>
        </p:nvSpPr>
        <p:spPr>
          <a:xfrm>
            <a:off x="4901265" y="4721750"/>
            <a:ext cx="2121365" cy="258826"/>
          </a:xfrm>
          <a:prstGeom prst="rect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35" name="Text 11">
            <a:extLst>
              <a:ext uri="{FF2B5EF4-FFF2-40B4-BE49-F238E27FC236}">
                <a16:creationId xmlns:a16="http://schemas.microsoft.com/office/drawing/2014/main" id="{5E7025F5-BDE0-0072-6F46-7B361CB41BD8}"/>
              </a:ext>
            </a:extLst>
          </p:cNvPr>
          <p:cNvSpPr/>
          <p:nvPr/>
        </p:nvSpPr>
        <p:spPr>
          <a:xfrm>
            <a:off x="1490554" y="5277772"/>
            <a:ext cx="3240978" cy="5349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A8CDD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12 PM</a:t>
            </a:r>
            <a:endParaRPr lang="en-US" sz="1200" dirty="0"/>
          </a:p>
        </p:txBody>
      </p:sp>
      <p:sp>
        <p:nvSpPr>
          <p:cNvPr id="36" name="Text 12">
            <a:extLst>
              <a:ext uri="{FF2B5EF4-FFF2-40B4-BE49-F238E27FC236}">
                <a16:creationId xmlns:a16="http://schemas.microsoft.com/office/drawing/2014/main" id="{DB02AB61-789F-CCC8-9D7A-BF2EEFE5B152}"/>
              </a:ext>
            </a:extLst>
          </p:cNvPr>
          <p:cNvSpPr/>
          <p:nvPr/>
        </p:nvSpPr>
        <p:spPr>
          <a:xfrm>
            <a:off x="2551257" y="5277772"/>
            <a:ext cx="7365855" cy="5349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ECC7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Solar at PEAK — cheap energy</a:t>
            </a:r>
            <a:endParaRPr lang="en-US" sz="1200" dirty="0"/>
          </a:p>
        </p:txBody>
      </p:sp>
      <p:sp>
        <p:nvSpPr>
          <p:cNvPr id="37" name="Shape 13">
            <a:extLst>
              <a:ext uri="{FF2B5EF4-FFF2-40B4-BE49-F238E27FC236}">
                <a16:creationId xmlns:a16="http://schemas.microsoft.com/office/drawing/2014/main" id="{FB516197-9CB3-E5CD-9301-68759C9F41FD}"/>
              </a:ext>
            </a:extLst>
          </p:cNvPr>
          <p:cNvSpPr/>
          <p:nvPr/>
        </p:nvSpPr>
        <p:spPr>
          <a:xfrm>
            <a:off x="4901266" y="5407549"/>
            <a:ext cx="5072996" cy="358409"/>
          </a:xfrm>
          <a:prstGeom prst="rect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38" name="Text 15">
            <a:extLst>
              <a:ext uri="{FF2B5EF4-FFF2-40B4-BE49-F238E27FC236}">
                <a16:creationId xmlns:a16="http://schemas.microsoft.com/office/drawing/2014/main" id="{7F503559-B010-7E54-9B63-F3170F15847F}"/>
              </a:ext>
            </a:extLst>
          </p:cNvPr>
          <p:cNvSpPr/>
          <p:nvPr/>
        </p:nvSpPr>
        <p:spPr>
          <a:xfrm>
            <a:off x="1490554" y="5963572"/>
            <a:ext cx="3240978" cy="5349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A8CDD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 PM</a:t>
            </a:r>
            <a:endParaRPr lang="en-US" sz="1200" dirty="0"/>
          </a:p>
        </p:txBody>
      </p:sp>
      <p:sp>
        <p:nvSpPr>
          <p:cNvPr id="39" name="Text 16">
            <a:extLst>
              <a:ext uri="{FF2B5EF4-FFF2-40B4-BE49-F238E27FC236}">
                <a16:creationId xmlns:a16="http://schemas.microsoft.com/office/drawing/2014/main" id="{4E0337F1-E4F0-5C0F-DE8A-3CAC5A3BE7E3}"/>
              </a:ext>
            </a:extLst>
          </p:cNvPr>
          <p:cNvSpPr/>
          <p:nvPr/>
        </p:nvSpPr>
        <p:spPr>
          <a:xfrm>
            <a:off x="2551257" y="5963572"/>
            <a:ext cx="7365855" cy="5349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4D03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Solar high + wind medium</a:t>
            </a:r>
            <a:endParaRPr lang="en-US" sz="1200" dirty="0"/>
          </a:p>
        </p:txBody>
      </p:sp>
      <p:sp>
        <p:nvSpPr>
          <p:cNvPr id="40" name="Shape 17">
            <a:extLst>
              <a:ext uri="{FF2B5EF4-FFF2-40B4-BE49-F238E27FC236}">
                <a16:creationId xmlns:a16="http://schemas.microsoft.com/office/drawing/2014/main" id="{64CA54A3-BB24-F450-6F5E-BB11B4F8737B}"/>
              </a:ext>
            </a:extLst>
          </p:cNvPr>
          <p:cNvSpPr/>
          <p:nvPr/>
        </p:nvSpPr>
        <p:spPr>
          <a:xfrm>
            <a:off x="4901266" y="6093350"/>
            <a:ext cx="4242734" cy="258826"/>
          </a:xfrm>
          <a:prstGeom prst="rect">
            <a:avLst/>
          </a:prstGeom>
          <a:solidFill>
            <a:srgbClr val="F4D03F"/>
          </a:solidFill>
          <a:ln w="12700">
            <a:solidFill>
              <a:srgbClr val="F4D03F"/>
            </a:solidFill>
            <a:prstDash val="solid"/>
          </a:ln>
        </p:spPr>
      </p:sp>
      <p:sp>
        <p:nvSpPr>
          <p:cNvPr id="41" name="Text 19">
            <a:extLst>
              <a:ext uri="{FF2B5EF4-FFF2-40B4-BE49-F238E27FC236}">
                <a16:creationId xmlns:a16="http://schemas.microsoft.com/office/drawing/2014/main" id="{EDEDFBF0-BCC0-947A-4C15-A031D5B17E4D}"/>
              </a:ext>
            </a:extLst>
          </p:cNvPr>
          <p:cNvSpPr/>
          <p:nvPr/>
        </p:nvSpPr>
        <p:spPr>
          <a:xfrm>
            <a:off x="1490554" y="6649372"/>
            <a:ext cx="3240978" cy="5349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A8CDD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6 PM</a:t>
            </a:r>
            <a:endParaRPr lang="en-US" sz="1200" dirty="0"/>
          </a:p>
        </p:txBody>
      </p:sp>
      <p:sp>
        <p:nvSpPr>
          <p:cNvPr id="42" name="Text 20">
            <a:extLst>
              <a:ext uri="{FF2B5EF4-FFF2-40B4-BE49-F238E27FC236}">
                <a16:creationId xmlns:a16="http://schemas.microsoft.com/office/drawing/2014/main" id="{8544B3A9-DFB1-BD06-5A96-58A0B0352819}"/>
              </a:ext>
            </a:extLst>
          </p:cNvPr>
          <p:cNvSpPr/>
          <p:nvPr/>
        </p:nvSpPr>
        <p:spPr>
          <a:xfrm>
            <a:off x="2551257" y="6649372"/>
            <a:ext cx="7365855" cy="5349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67E2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Solar DROPPING fast</a:t>
            </a:r>
            <a:endParaRPr lang="en-US" sz="1200" dirty="0"/>
          </a:p>
        </p:txBody>
      </p:sp>
      <p:sp>
        <p:nvSpPr>
          <p:cNvPr id="43" name="Shape 21">
            <a:extLst>
              <a:ext uri="{FF2B5EF4-FFF2-40B4-BE49-F238E27FC236}">
                <a16:creationId xmlns:a16="http://schemas.microsoft.com/office/drawing/2014/main" id="{29635D36-4931-6DCD-54DB-E8F7BE899813}"/>
              </a:ext>
            </a:extLst>
          </p:cNvPr>
          <p:cNvSpPr/>
          <p:nvPr/>
        </p:nvSpPr>
        <p:spPr>
          <a:xfrm>
            <a:off x="4901266" y="6779150"/>
            <a:ext cx="1591026" cy="258826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44" name="Text 23">
            <a:extLst>
              <a:ext uri="{FF2B5EF4-FFF2-40B4-BE49-F238E27FC236}">
                <a16:creationId xmlns:a16="http://schemas.microsoft.com/office/drawing/2014/main" id="{A6990595-8BFB-C7E5-9B05-A53A71DA919A}"/>
              </a:ext>
            </a:extLst>
          </p:cNvPr>
          <p:cNvSpPr/>
          <p:nvPr/>
        </p:nvSpPr>
        <p:spPr>
          <a:xfrm>
            <a:off x="1490554" y="7335172"/>
            <a:ext cx="3240978" cy="5349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A8CDD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8 PM</a:t>
            </a:r>
            <a:endParaRPr lang="en-US" sz="1200" dirty="0"/>
          </a:p>
        </p:txBody>
      </p:sp>
      <p:sp>
        <p:nvSpPr>
          <p:cNvPr id="45" name="Text 24">
            <a:extLst>
              <a:ext uri="{FF2B5EF4-FFF2-40B4-BE49-F238E27FC236}">
                <a16:creationId xmlns:a16="http://schemas.microsoft.com/office/drawing/2014/main" id="{701E04A9-8A3A-87B4-B61F-C1574C7C933A}"/>
              </a:ext>
            </a:extLst>
          </p:cNvPr>
          <p:cNvSpPr/>
          <p:nvPr/>
        </p:nvSpPr>
        <p:spPr>
          <a:xfrm>
            <a:off x="2551257" y="7335172"/>
            <a:ext cx="7365855" cy="5349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74C3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Solar = ZERO ❌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74C3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Demand = MAXIMUM 🔴</a:t>
            </a:r>
            <a:endParaRPr lang="en-US" sz="1200" dirty="0"/>
          </a:p>
        </p:txBody>
      </p:sp>
      <p:sp>
        <p:nvSpPr>
          <p:cNvPr id="46" name="Shape 25">
            <a:extLst>
              <a:ext uri="{FF2B5EF4-FFF2-40B4-BE49-F238E27FC236}">
                <a16:creationId xmlns:a16="http://schemas.microsoft.com/office/drawing/2014/main" id="{8FF780BF-A763-3311-BE50-6FD2D0269E93}"/>
              </a:ext>
            </a:extLst>
          </p:cNvPr>
          <p:cNvSpPr/>
          <p:nvPr/>
        </p:nvSpPr>
        <p:spPr>
          <a:xfrm>
            <a:off x="4901265" y="7481172"/>
            <a:ext cx="235707" cy="224316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47" name="Text 26">
            <a:extLst>
              <a:ext uri="{FF2B5EF4-FFF2-40B4-BE49-F238E27FC236}">
                <a16:creationId xmlns:a16="http://schemas.microsoft.com/office/drawing/2014/main" id="{770D543C-DB0A-DB6C-032D-772396FF2DD9}"/>
              </a:ext>
            </a:extLst>
          </p:cNvPr>
          <p:cNvSpPr/>
          <p:nvPr/>
        </p:nvSpPr>
        <p:spPr>
          <a:xfrm>
            <a:off x="1490554" y="8020972"/>
            <a:ext cx="3240978" cy="5349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A8CDD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10 PM</a:t>
            </a:r>
            <a:endParaRPr lang="en-US" sz="1200" dirty="0"/>
          </a:p>
        </p:txBody>
      </p:sp>
      <p:sp>
        <p:nvSpPr>
          <p:cNvPr id="48" name="Text 27">
            <a:extLst>
              <a:ext uri="{FF2B5EF4-FFF2-40B4-BE49-F238E27FC236}">
                <a16:creationId xmlns:a16="http://schemas.microsoft.com/office/drawing/2014/main" id="{055B3185-E0C4-FD16-AED5-79DBC7A1DB31}"/>
              </a:ext>
            </a:extLst>
          </p:cNvPr>
          <p:cNvSpPr/>
          <p:nvPr/>
        </p:nvSpPr>
        <p:spPr>
          <a:xfrm>
            <a:off x="2551257" y="8020972"/>
            <a:ext cx="7365855" cy="5349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74C3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Coal + hydro carry everything</a:t>
            </a:r>
            <a:endParaRPr lang="en-US" sz="1200" dirty="0"/>
          </a:p>
        </p:txBody>
      </p:sp>
      <p:sp>
        <p:nvSpPr>
          <p:cNvPr id="49" name="Shape 28">
            <a:extLst>
              <a:ext uri="{FF2B5EF4-FFF2-40B4-BE49-F238E27FC236}">
                <a16:creationId xmlns:a16="http://schemas.microsoft.com/office/drawing/2014/main" id="{7D21F366-0005-CDB4-9D9C-1A7B77E6A600}"/>
              </a:ext>
            </a:extLst>
          </p:cNvPr>
          <p:cNvSpPr/>
          <p:nvPr/>
        </p:nvSpPr>
        <p:spPr>
          <a:xfrm>
            <a:off x="4901265" y="8166972"/>
            <a:ext cx="235707" cy="224316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685800"/>
            <a:ext cx="16874490" cy="2362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350" b="1" kern="0" spc="216" dirty="0">
                <a:solidFill>
                  <a:srgbClr val="0F5B4C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02 · EVIDENCE BASE NINE OFFICIAL DATASETS, SINGLE PIPELINE</a:t>
            </a:r>
            <a:endParaRPr lang="en-US" sz="1350" dirty="0"/>
          </a:p>
        </p:txBody>
      </p:sp>
      <p:sp>
        <p:nvSpPr>
          <p:cNvPr id="3" name="Text 1"/>
          <p:cNvSpPr/>
          <p:nvPr/>
        </p:nvSpPr>
        <p:spPr>
          <a:xfrm>
            <a:off x="952500" y="1055370"/>
            <a:ext cx="14716125" cy="12725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4500" b="1" kern="0" spc="-90" dirty="0">
                <a:solidFill>
                  <a:srgbClr val="0F172A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100% of analysis is grounded in public Government of India data</a:t>
            </a:r>
            <a:endParaRPr lang="en-US" sz="4500" dirty="0"/>
          </a:p>
        </p:txBody>
      </p:sp>
      <p:sp>
        <p:nvSpPr>
          <p:cNvPr id="4" name="Text 2"/>
          <p:cNvSpPr/>
          <p:nvPr/>
        </p:nvSpPr>
        <p:spPr>
          <a:xfrm>
            <a:off x="952500" y="2423160"/>
            <a:ext cx="14716125" cy="3724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950" dirty="0">
                <a:solidFill>
                  <a:srgbClr val="475569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No surveys, no proprietary feeds. Every number traces back to an agency dataset and an open API.</a:t>
            </a:r>
            <a:endParaRPr lang="en-US" sz="1950" dirty="0"/>
          </a:p>
        </p:txBody>
      </p:sp>
      <p:sp>
        <p:nvSpPr>
          <p:cNvPr id="5" name="Shape 3"/>
          <p:cNvSpPr/>
          <p:nvPr/>
        </p:nvSpPr>
        <p:spPr>
          <a:xfrm>
            <a:off x="952500" y="3024188"/>
            <a:ext cx="609600" cy="38100"/>
          </a:xfrm>
          <a:prstGeom prst="roundRect">
            <a:avLst>
              <a:gd name="adj" fmla="val 50000"/>
            </a:avLst>
          </a:prstGeom>
          <a:solidFill>
            <a:srgbClr val="86BC25"/>
          </a:solidFill>
          <a:ln/>
        </p:spPr>
      </p:sp>
      <p:sp>
        <p:nvSpPr>
          <p:cNvPr id="6" name="Shape 4"/>
          <p:cNvSpPr/>
          <p:nvPr/>
        </p:nvSpPr>
        <p:spPr>
          <a:xfrm>
            <a:off x="952500" y="3328988"/>
            <a:ext cx="3967163" cy="1443038"/>
          </a:xfrm>
          <a:prstGeom prst="rect">
            <a:avLst/>
          </a:prstGeom>
          <a:solidFill>
            <a:srgbClr val="FFFFFF"/>
          </a:solidFill>
          <a:ln w="7620">
            <a:solidFill>
              <a:srgbClr val="E5E7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226820" y="3565208"/>
            <a:ext cx="3521078" cy="1828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1200" b="1" kern="0" spc="176" dirty="0">
                <a:solidFill>
                  <a:srgbClr val="0F5B4C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DAILY · 2017–25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226820" y="3709988"/>
            <a:ext cx="3521078" cy="2819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F172A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Daily Power Generation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226820" y="4010978"/>
            <a:ext cx="3521078" cy="5629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200" dirty="0">
                <a:solidFill>
                  <a:srgbClr val="475569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NPP / CEA via India Data Portal · </a:t>
            </a:r>
            <a:r>
              <a:rPr lang="en-US" sz="12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date, state, generation_mw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091113" y="3328988"/>
            <a:ext cx="3967163" cy="1443038"/>
          </a:xfrm>
          <a:prstGeom prst="rect">
            <a:avLst/>
          </a:prstGeom>
          <a:solidFill>
            <a:srgbClr val="FFFFFF"/>
          </a:solidFill>
          <a:ln w="7620">
            <a:solidFill>
              <a:srgbClr val="E5E7E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365432" y="3565208"/>
            <a:ext cx="3521078" cy="1828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1200" b="1" kern="0" spc="176" dirty="0">
                <a:solidFill>
                  <a:srgbClr val="0F5B4C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MONTHLY · 2001–24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365432" y="3709988"/>
            <a:ext cx="3521078" cy="2819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F172A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Energy Req &amp; Availability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365432" y="4010978"/>
            <a:ext cx="3521078" cy="5629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200" dirty="0">
                <a:solidFill>
                  <a:srgbClr val="475569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CEA via India Data Portal · </a:t>
            </a:r>
            <a:r>
              <a:rPr lang="en-US" sz="12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month, state, requirement, availability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9229725" y="3328988"/>
            <a:ext cx="3967163" cy="1443038"/>
          </a:xfrm>
          <a:prstGeom prst="rect">
            <a:avLst/>
          </a:prstGeom>
          <a:solidFill>
            <a:srgbClr val="FFFFFF"/>
          </a:solidFill>
          <a:ln w="7620">
            <a:solidFill>
              <a:srgbClr val="E5E7E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504045" y="3565208"/>
            <a:ext cx="3521078" cy="1828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1200" b="1" kern="0" spc="176" dirty="0">
                <a:solidFill>
                  <a:srgbClr val="0F5B4C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DAILY · 2014–25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9504045" y="3709988"/>
            <a:ext cx="3521078" cy="2819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F172A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Installed Capacity by State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9504045" y="4010978"/>
            <a:ext cx="3521078" cy="5629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200" dirty="0">
                <a:solidFill>
                  <a:srgbClr val="475569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NPP / CEA via India Data Portal · </a:t>
            </a:r>
            <a:r>
              <a:rPr lang="en-US" sz="12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date, state, coal, hydro, res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13368338" y="3328988"/>
            <a:ext cx="3967163" cy="1443038"/>
          </a:xfrm>
          <a:prstGeom prst="rect">
            <a:avLst/>
          </a:prstGeom>
          <a:solidFill>
            <a:srgbClr val="FFFFFF"/>
          </a:solidFill>
          <a:ln w="7620">
            <a:solidFill>
              <a:srgbClr val="E5E7E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3642658" y="3565208"/>
            <a:ext cx="3521078" cy="1828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1200" b="1" kern="0" spc="176" dirty="0">
                <a:solidFill>
                  <a:srgbClr val="0F5B4C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DAILY · 2014–25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3642658" y="3709988"/>
            <a:ext cx="3521078" cy="2819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F172A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Daily Coal Stocks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13642658" y="4010978"/>
            <a:ext cx="3521078" cy="5629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200" dirty="0">
                <a:solidFill>
                  <a:srgbClr val="475569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NPP / MoP via India Data Portal · </a:t>
            </a:r>
            <a:r>
              <a:rPr lang="en-US" sz="12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date, requirement, stock, days, critical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952500" y="4943475"/>
            <a:ext cx="3967163" cy="1705451"/>
          </a:xfrm>
          <a:prstGeom prst="rect">
            <a:avLst/>
          </a:prstGeom>
          <a:solidFill>
            <a:srgbClr val="FFFFFF"/>
          </a:solidFill>
          <a:ln w="7620">
            <a:solidFill>
              <a:srgbClr val="E5E7E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226820" y="5179695"/>
            <a:ext cx="3521078" cy="1828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1200" b="1" kern="0" spc="176" dirty="0">
                <a:solidFill>
                  <a:srgbClr val="0F5B4C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DAILY · 2014–25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1226820" y="5324475"/>
            <a:ext cx="3521078" cy="2819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F172A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Daily Power Outages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1226820" y="5625465"/>
            <a:ext cx="3521078" cy="5629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200" dirty="0">
                <a:solidFill>
                  <a:srgbClr val="475569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NPP / MoP via India Data Portal · </a:t>
            </a:r>
            <a:r>
              <a:rPr lang="en-US" sz="12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date, monitored_cap, outage_cap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5091113" y="4943475"/>
            <a:ext cx="3967163" cy="1705451"/>
          </a:xfrm>
          <a:prstGeom prst="rect">
            <a:avLst/>
          </a:prstGeom>
          <a:solidFill>
            <a:srgbClr val="FFFFFF"/>
          </a:solidFill>
          <a:ln w="7620">
            <a:solidFill>
              <a:srgbClr val="E5E7E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365432" y="5179695"/>
            <a:ext cx="3521078" cy="1828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1200" b="1" kern="0" spc="176" dirty="0">
                <a:solidFill>
                  <a:srgbClr val="0F5B4C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DAILY · 2019–25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5365432" y="5324475"/>
            <a:ext cx="3521078" cy="2819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F172A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Daily Renewable Generation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5365432" y="5625465"/>
            <a:ext cx="3521078" cy="5629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200" dirty="0">
                <a:solidFill>
                  <a:srgbClr val="475569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CEA via India Data Portal · </a:t>
            </a:r>
            <a:r>
              <a:rPr lang="en-US" sz="12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date, state, wind, solar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9229725" y="4943475"/>
            <a:ext cx="3967163" cy="1705451"/>
          </a:xfrm>
          <a:prstGeom prst="rect">
            <a:avLst/>
          </a:prstGeom>
          <a:solidFill>
            <a:srgbClr val="FFFFFF"/>
          </a:solidFill>
          <a:ln w="7620">
            <a:solidFill>
              <a:srgbClr val="E5E7E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9504045" y="5179695"/>
            <a:ext cx="3521078" cy="1828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1200" b="1" kern="0" spc="176" dirty="0">
                <a:solidFill>
                  <a:srgbClr val="0F5B4C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MONTHLY · 1947–26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9504045" y="5324475"/>
            <a:ext cx="3521078" cy="2819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F172A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National Capacity Series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9504045" y="5625465"/>
            <a:ext cx="3521078" cy="5629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200" dirty="0">
                <a:solidFill>
                  <a:srgbClr val="475569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CEA / POSOCO via CICERO · </a:t>
            </a:r>
            <a:r>
              <a:rPr lang="en-US" sz="12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YYYYMM, solar, wind, coal, hydro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13368338" y="4943475"/>
            <a:ext cx="3967163" cy="1705451"/>
          </a:xfrm>
          <a:prstGeom prst="rect">
            <a:avLst/>
          </a:prstGeom>
          <a:solidFill>
            <a:srgbClr val="0F5B4C"/>
          </a:solidFill>
          <a:ln w="7620">
            <a:solidFill>
              <a:srgbClr val="0F5B4C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3642658" y="5179695"/>
            <a:ext cx="3521078" cy="1828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1200" b="1" kern="0" spc="176" dirty="0">
                <a:solidFill>
                  <a:srgbClr val="86BC25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PIPELINE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13642658" y="5324475"/>
            <a:ext cx="3521078" cy="2819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Unified open data ingest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13642658" y="5625465"/>
            <a:ext cx="3521078" cy="8253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200" dirty="0">
                <a:solidFill>
                  <a:srgbClr val="FFFFFF">
                    <a:alpha val="85000"/>
                  </a:srgbClr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CKAN dump · no auth · ODC-By license · Python ETL (pandas + statsmodels + PuLP).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952500" y="8309610"/>
            <a:ext cx="16383000" cy="739140"/>
          </a:xfrm>
          <a:prstGeom prst="rect">
            <a:avLst/>
          </a:prstGeom>
          <a:solidFill>
            <a:srgbClr val="F8FAF7"/>
          </a:solidFill>
          <a:ln/>
        </p:spPr>
      </p:sp>
      <p:sp>
        <p:nvSpPr>
          <p:cNvPr id="39" name="Shape 37"/>
          <p:cNvSpPr/>
          <p:nvPr/>
        </p:nvSpPr>
        <p:spPr>
          <a:xfrm>
            <a:off x="952500" y="8309610"/>
            <a:ext cx="38100" cy="739140"/>
          </a:xfrm>
          <a:prstGeom prst="rect">
            <a:avLst/>
          </a:prstGeom>
          <a:solidFill>
            <a:srgbClr val="86BC25"/>
          </a:solidFill>
          <a:ln/>
        </p:spPr>
      </p:sp>
      <p:sp>
        <p:nvSpPr>
          <p:cNvPr id="40" name="Text 38"/>
          <p:cNvSpPr/>
          <p:nvPr/>
        </p:nvSpPr>
        <p:spPr>
          <a:xfrm>
            <a:off x="1257300" y="8557260"/>
            <a:ext cx="1257300" cy="1981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050" b="1" kern="0" spc="189" dirty="0">
                <a:solidFill>
                  <a:srgbClr val="0F5B4C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PROVENANCE</a:t>
            </a:r>
            <a:endParaRPr lang="en-US" sz="1050" dirty="0"/>
          </a:p>
        </p:txBody>
      </p:sp>
      <p:sp>
        <p:nvSpPr>
          <p:cNvPr id="41" name="Text 39"/>
          <p:cNvSpPr/>
          <p:nvPr/>
        </p:nvSpPr>
        <p:spPr>
          <a:xfrm>
            <a:off x="2667000" y="8519160"/>
            <a:ext cx="12106098" cy="358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800" dirty="0">
                <a:solidFill>
                  <a:srgbClr val="0F172A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Every chart and number in this deck links back to one of these seven datasets — fully reproducible from public APIs.</a:t>
            </a:r>
            <a:endParaRPr lang="en-US" sz="1800" dirty="0"/>
          </a:p>
        </p:txBody>
      </p:sp>
      <p:sp>
        <p:nvSpPr>
          <p:cNvPr id="42" name="Shape 40"/>
          <p:cNvSpPr/>
          <p:nvPr/>
        </p:nvSpPr>
        <p:spPr>
          <a:xfrm>
            <a:off x="952500" y="9627870"/>
            <a:ext cx="16383000" cy="31623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3" name="Shape 41"/>
          <p:cNvSpPr/>
          <p:nvPr/>
        </p:nvSpPr>
        <p:spPr>
          <a:xfrm>
            <a:off x="952500" y="9627870"/>
            <a:ext cx="16383000" cy="9525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44" name="Text 42"/>
          <p:cNvSpPr/>
          <p:nvPr/>
        </p:nvSpPr>
        <p:spPr>
          <a:xfrm>
            <a:off x="952500" y="9772650"/>
            <a:ext cx="2388156" cy="2057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lnSpcReduction="10000"/>
          </a:bodyPr>
          <a:lstStyle/>
          <a:p>
            <a:pPr marL="0" indent="0" algn="l">
              <a:buNone/>
            </a:pPr>
            <a:r>
              <a:rPr lang="en-US" sz="1125" b="1" kern="0" spc="90" dirty="0">
                <a:solidFill>
                  <a:srgbClr val="0F5B4C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STRATEGY &amp; OPERATIONS</a:t>
            </a:r>
            <a:endParaRPr lang="en-US" sz="1125" dirty="0"/>
          </a:p>
        </p:txBody>
      </p:sp>
      <p:sp>
        <p:nvSpPr>
          <p:cNvPr id="45" name="Text 43"/>
          <p:cNvSpPr/>
          <p:nvPr/>
        </p:nvSpPr>
        <p:spPr>
          <a:xfrm>
            <a:off x="7368897" y="9768840"/>
            <a:ext cx="5558035" cy="2133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200" kern="0" spc="48" dirty="0">
                <a:solidFill>
                  <a:srgbClr val="94A3B8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Source: India Data Portal (ISB/BMGF) · CEA · NPP · POSOCO · CICERO</a:t>
            </a:r>
            <a:endParaRPr lang="en-US" sz="1200" dirty="0"/>
          </a:p>
        </p:txBody>
      </p:sp>
      <p:sp>
        <p:nvSpPr>
          <p:cNvPr id="46" name="Text 44"/>
          <p:cNvSpPr/>
          <p:nvPr/>
        </p:nvSpPr>
        <p:spPr>
          <a:xfrm>
            <a:off x="16869370" y="9768840"/>
            <a:ext cx="542330" cy="2133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475569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04 </a:t>
            </a:r>
            <a:r>
              <a:rPr lang="en-US" sz="1200" dirty="0">
                <a:solidFill>
                  <a:srgbClr val="94A3B8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/ 20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685800"/>
            <a:ext cx="16874490" cy="2362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350" b="1" kern="0" spc="216" dirty="0">
                <a:solidFill>
                  <a:srgbClr val="0F5B4C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03 · DIAGNOSIS CAPACITY MIX 2015–2026</a:t>
            </a:r>
            <a:endParaRPr lang="en-US" sz="1350" dirty="0"/>
          </a:p>
        </p:txBody>
      </p:sp>
      <p:sp>
        <p:nvSpPr>
          <p:cNvPr id="3" name="Text 1"/>
          <p:cNvSpPr/>
          <p:nvPr/>
        </p:nvSpPr>
        <p:spPr>
          <a:xfrm>
            <a:off x="952500" y="1055370"/>
            <a:ext cx="14716125" cy="12725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4500" b="1" kern="0" spc="-90" dirty="0">
                <a:solidFill>
                  <a:srgbClr val="0F172A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Solar grew 37× in a decade — the fastest energy buildout on record</a:t>
            </a:r>
            <a:endParaRPr lang="en-US" sz="4500" dirty="0"/>
          </a:p>
        </p:txBody>
      </p:sp>
      <p:sp>
        <p:nvSpPr>
          <p:cNvPr id="4" name="Text 2"/>
          <p:cNvSpPr/>
          <p:nvPr/>
        </p:nvSpPr>
        <p:spPr>
          <a:xfrm>
            <a:off x="952500" y="2423160"/>
            <a:ext cx="14716125" cy="3724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950" dirty="0">
                <a:solidFill>
                  <a:srgbClr val="475569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India added more renewable nameplate capacity in eleven years than most large economies have in fifty.</a:t>
            </a:r>
            <a:endParaRPr lang="en-US" sz="1950" dirty="0"/>
          </a:p>
        </p:txBody>
      </p:sp>
      <p:sp>
        <p:nvSpPr>
          <p:cNvPr id="5" name="Shape 3"/>
          <p:cNvSpPr/>
          <p:nvPr/>
        </p:nvSpPr>
        <p:spPr>
          <a:xfrm>
            <a:off x="952500" y="3024188"/>
            <a:ext cx="609600" cy="38100"/>
          </a:xfrm>
          <a:prstGeom prst="roundRect">
            <a:avLst>
              <a:gd name="adj" fmla="val 50000"/>
            </a:avLst>
          </a:prstGeom>
          <a:solidFill>
            <a:srgbClr val="86BC25"/>
          </a:solidFill>
          <a:ln/>
        </p:spPr>
      </p:sp>
      <p:sp>
        <p:nvSpPr>
          <p:cNvPr id="6" name="Shape 4"/>
          <p:cNvSpPr/>
          <p:nvPr/>
        </p:nvSpPr>
        <p:spPr>
          <a:xfrm>
            <a:off x="952500" y="3328988"/>
            <a:ext cx="9870758" cy="6911340"/>
          </a:xfrm>
          <a:prstGeom prst="rect">
            <a:avLst/>
          </a:prstGeom>
          <a:ln w="7620">
            <a:solidFill>
              <a:srgbClr val="E5E7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226820" y="3546158"/>
            <a:ext cx="3586442" cy="1828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975" b="1" kern="0" spc="156" dirty="0">
                <a:solidFill>
                  <a:srgbClr val="475569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EXHIBIT 02</a:t>
            </a:r>
            <a:endParaRPr lang="en-US" sz="975" dirty="0"/>
          </a:p>
        </p:txBody>
      </p:sp>
      <p:sp>
        <p:nvSpPr>
          <p:cNvPr id="8" name="Text 6"/>
          <p:cNvSpPr/>
          <p:nvPr/>
        </p:nvSpPr>
        <p:spPr>
          <a:xfrm>
            <a:off x="1226820" y="3709988"/>
            <a:ext cx="3586442" cy="2819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650" b="1" dirty="0">
                <a:solidFill>
                  <a:srgbClr val="0F172A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Installed capacity by source — GW</a:t>
            </a:r>
            <a:endParaRPr lang="en-US" sz="1650" dirty="0"/>
          </a:p>
        </p:txBody>
      </p:sp>
      <p:sp>
        <p:nvSpPr>
          <p:cNvPr id="9" name="Shape 7"/>
          <p:cNvSpPr/>
          <p:nvPr/>
        </p:nvSpPr>
        <p:spPr>
          <a:xfrm>
            <a:off x="6394966" y="3683318"/>
            <a:ext cx="133350" cy="133350"/>
          </a:xfrm>
          <a:prstGeom prst="roundRect">
            <a:avLst>
              <a:gd name="adj" fmla="val 14286"/>
            </a:avLst>
          </a:prstGeom>
          <a:solidFill>
            <a:srgbClr val="1F2937"/>
          </a:solidFill>
          <a:ln/>
        </p:spPr>
      </p:sp>
      <p:sp>
        <p:nvSpPr>
          <p:cNvPr id="10" name="Text 8"/>
          <p:cNvSpPr/>
          <p:nvPr/>
        </p:nvSpPr>
        <p:spPr>
          <a:xfrm>
            <a:off x="6604516" y="3650933"/>
            <a:ext cx="42886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350" dirty="0">
                <a:solidFill>
                  <a:srgbClr val="475569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Coal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7185779" y="3683318"/>
            <a:ext cx="133350" cy="133350"/>
          </a:xfrm>
          <a:prstGeom prst="roundRect">
            <a:avLst>
              <a:gd name="adj" fmla="val 14286"/>
            </a:avLst>
          </a:prstGeom>
          <a:solidFill>
            <a:srgbClr val="86BC25"/>
          </a:solidFill>
          <a:ln/>
        </p:spPr>
      </p:sp>
      <p:sp>
        <p:nvSpPr>
          <p:cNvPr id="12" name="Text 10"/>
          <p:cNvSpPr/>
          <p:nvPr/>
        </p:nvSpPr>
        <p:spPr>
          <a:xfrm>
            <a:off x="7395329" y="3650933"/>
            <a:ext cx="4764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350" dirty="0">
                <a:solidFill>
                  <a:srgbClr val="475569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Solar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8024217" y="3683318"/>
            <a:ext cx="133350" cy="133350"/>
          </a:xfrm>
          <a:prstGeom prst="roundRect">
            <a:avLst>
              <a:gd name="adj" fmla="val 14286"/>
            </a:avLst>
          </a:prstGeom>
          <a:solidFill>
            <a:srgbClr val="0F5B4C"/>
          </a:solidFill>
          <a:ln/>
        </p:spPr>
      </p:sp>
      <p:sp>
        <p:nvSpPr>
          <p:cNvPr id="14" name="Text 12"/>
          <p:cNvSpPr/>
          <p:nvPr/>
        </p:nvSpPr>
        <p:spPr>
          <a:xfrm>
            <a:off x="8233767" y="3650933"/>
            <a:ext cx="46684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350" dirty="0">
                <a:solidFill>
                  <a:srgbClr val="475569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Wind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8853011" y="3683318"/>
            <a:ext cx="133350" cy="133350"/>
          </a:xfrm>
          <a:prstGeom prst="roundRect">
            <a:avLst>
              <a:gd name="adj" fmla="val 14286"/>
            </a:avLst>
          </a:prstGeom>
          <a:solidFill>
            <a:srgbClr val="94A3B8"/>
          </a:solidFill>
          <a:ln/>
        </p:spPr>
      </p:sp>
      <p:sp>
        <p:nvSpPr>
          <p:cNvPr id="16" name="Text 14"/>
          <p:cNvSpPr/>
          <p:nvPr/>
        </p:nvSpPr>
        <p:spPr>
          <a:xfrm>
            <a:off x="9062561" y="3650933"/>
            <a:ext cx="53363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350" dirty="0">
                <a:solidFill>
                  <a:srgbClr val="475569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Hydro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9748600" y="3683318"/>
            <a:ext cx="133350" cy="133350"/>
          </a:xfrm>
          <a:prstGeom prst="roundRect">
            <a:avLst>
              <a:gd name="adj" fmla="val 14286"/>
            </a:avLst>
          </a:prstGeom>
          <a:solidFill>
            <a:srgbClr val="F59E0B"/>
          </a:solidFill>
          <a:ln/>
        </p:spPr>
      </p:sp>
      <p:sp>
        <p:nvSpPr>
          <p:cNvPr id="18" name="Text 16"/>
          <p:cNvSpPr/>
          <p:nvPr/>
        </p:nvSpPr>
        <p:spPr>
          <a:xfrm>
            <a:off x="9958149" y="3650933"/>
            <a:ext cx="6669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350" dirty="0">
                <a:solidFill>
                  <a:srgbClr val="475569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Nuclear</a:t>
            </a:r>
            <a:endParaRPr lang="en-US" sz="1350" dirty="0"/>
          </a:p>
        </p:txBody>
      </p:sp>
      <p:pic>
        <p:nvPicPr>
          <p:cNvPr id="1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26820" y="3953828"/>
            <a:ext cx="9322118" cy="5498782"/>
          </a:xfrm>
          <a:prstGeom prst="rect">
            <a:avLst/>
          </a:prstGeom>
        </p:spPr>
      </p:pic>
      <p:sp>
        <p:nvSpPr>
          <p:cNvPr id="20" name="Shape 17"/>
          <p:cNvSpPr/>
          <p:nvPr/>
        </p:nvSpPr>
        <p:spPr>
          <a:xfrm>
            <a:off x="11166158" y="3328988"/>
            <a:ext cx="6169343" cy="1318260"/>
          </a:xfrm>
          <a:prstGeom prst="rect">
            <a:avLst/>
          </a:prstGeom>
          <a:solidFill>
            <a:srgbClr val="0F5B4C"/>
          </a:solidFill>
          <a:ln w="7620">
            <a:solidFill>
              <a:srgbClr val="0F5B4C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11440477" y="3565208"/>
            <a:ext cx="5789324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4200" b="1" kern="0" spc="-84" dirty="0">
                <a:solidFill>
                  <a:srgbClr val="FFFFFF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37 </a:t>
            </a:r>
            <a:r>
              <a:rPr lang="en-US" sz="2100" b="1" kern="0" spc="-84" dirty="0">
                <a:solidFill>
                  <a:srgbClr val="FFFFFF">
                    <a:alpha val="75000"/>
                  </a:srgbClr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×</a:t>
            </a:r>
            <a:endParaRPr lang="en-US" sz="4200" dirty="0"/>
          </a:p>
        </p:txBody>
      </p:sp>
      <p:sp>
        <p:nvSpPr>
          <p:cNvPr id="22" name="Text 19"/>
          <p:cNvSpPr/>
          <p:nvPr/>
        </p:nvSpPr>
        <p:spPr>
          <a:xfrm>
            <a:off x="11440477" y="4212908"/>
            <a:ext cx="5789324" cy="2362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350" kern="0" spc="54" dirty="0">
                <a:solidFill>
                  <a:srgbClr val="FFFFFF">
                    <a:alpha val="85000"/>
                  </a:srgbClr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Solar capacity growth, 2015 → 2026</a:t>
            </a:r>
            <a:endParaRPr lang="en-US" sz="1350" dirty="0"/>
          </a:p>
        </p:txBody>
      </p:sp>
      <p:sp>
        <p:nvSpPr>
          <p:cNvPr id="23" name="Shape 20"/>
          <p:cNvSpPr/>
          <p:nvPr/>
        </p:nvSpPr>
        <p:spPr>
          <a:xfrm>
            <a:off x="11166158" y="4818697"/>
            <a:ext cx="6169343" cy="1318260"/>
          </a:xfrm>
          <a:prstGeom prst="rect">
            <a:avLst/>
          </a:prstGeom>
          <a:solidFill>
            <a:srgbClr val="FFFFFF"/>
          </a:solidFill>
          <a:ln w="7620">
            <a:solidFill>
              <a:srgbClr val="E5E7EB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11440477" y="5054918"/>
            <a:ext cx="5789324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4200" b="1" kern="0" spc="-84" dirty="0">
                <a:solidFill>
                  <a:srgbClr val="0F5B4C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150 </a:t>
            </a:r>
            <a:r>
              <a:rPr lang="en-US" sz="2100" b="1" kern="0" spc="-84" dirty="0">
                <a:solidFill>
                  <a:srgbClr val="475569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GW</a:t>
            </a:r>
            <a:endParaRPr lang="en-US" sz="4200" dirty="0"/>
          </a:p>
        </p:txBody>
      </p:sp>
      <p:sp>
        <p:nvSpPr>
          <p:cNvPr id="25" name="Text 22"/>
          <p:cNvSpPr/>
          <p:nvPr/>
        </p:nvSpPr>
        <p:spPr>
          <a:xfrm>
            <a:off x="11440477" y="5702618"/>
            <a:ext cx="5789324" cy="2362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350" kern="0" spc="54" dirty="0">
                <a:solidFill>
                  <a:srgbClr val="475569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Solar installed (2025)</a:t>
            </a:r>
            <a:endParaRPr lang="en-US" sz="1350" dirty="0"/>
          </a:p>
        </p:txBody>
      </p:sp>
      <p:sp>
        <p:nvSpPr>
          <p:cNvPr id="26" name="Shape 23"/>
          <p:cNvSpPr/>
          <p:nvPr/>
        </p:nvSpPr>
        <p:spPr>
          <a:xfrm>
            <a:off x="11166158" y="6308407"/>
            <a:ext cx="6169343" cy="1318260"/>
          </a:xfrm>
          <a:prstGeom prst="rect">
            <a:avLst/>
          </a:prstGeom>
          <a:solidFill>
            <a:srgbClr val="FFFFFF"/>
          </a:solidFill>
          <a:ln w="7620">
            <a:solidFill>
              <a:srgbClr val="E5E7EB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11440477" y="6544628"/>
            <a:ext cx="5789324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4200" b="1" kern="0" spc="-84" dirty="0">
                <a:solidFill>
                  <a:srgbClr val="0F5B4C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42 </a:t>
            </a:r>
            <a:r>
              <a:rPr lang="en-US" sz="2100" b="1" kern="0" spc="-84" dirty="0">
                <a:solidFill>
                  <a:srgbClr val="475569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%</a:t>
            </a:r>
            <a:endParaRPr lang="en-US" sz="4200" dirty="0"/>
          </a:p>
        </p:txBody>
      </p:sp>
      <p:sp>
        <p:nvSpPr>
          <p:cNvPr id="28" name="Text 25"/>
          <p:cNvSpPr/>
          <p:nvPr/>
        </p:nvSpPr>
        <p:spPr>
          <a:xfrm>
            <a:off x="11440477" y="7192328"/>
            <a:ext cx="5789324" cy="2362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350" kern="0" spc="54" dirty="0">
                <a:solidFill>
                  <a:srgbClr val="475569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Renewable share of national capacity</a:t>
            </a:r>
            <a:endParaRPr lang="en-US" sz="1350" dirty="0"/>
          </a:p>
        </p:txBody>
      </p:sp>
      <p:sp>
        <p:nvSpPr>
          <p:cNvPr id="29" name="Shape 26"/>
          <p:cNvSpPr/>
          <p:nvPr/>
        </p:nvSpPr>
        <p:spPr>
          <a:xfrm>
            <a:off x="11166158" y="7798118"/>
            <a:ext cx="6169343" cy="1318260"/>
          </a:xfrm>
          <a:prstGeom prst="rect">
            <a:avLst/>
          </a:prstGeom>
          <a:solidFill>
            <a:srgbClr val="FFFFFF"/>
          </a:solidFill>
          <a:ln w="7620">
            <a:solidFill>
              <a:srgbClr val="E5E7EB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11440477" y="8034338"/>
            <a:ext cx="5789324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4200" b="1" kern="0" spc="-84" dirty="0">
                <a:solidFill>
                  <a:srgbClr val="0F5B4C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&lt;1 </a:t>
            </a:r>
            <a:r>
              <a:rPr lang="en-US" sz="2100" b="1" kern="0" spc="-84" dirty="0">
                <a:solidFill>
                  <a:srgbClr val="475569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%</a:t>
            </a:r>
            <a:endParaRPr lang="en-US" sz="4200" dirty="0"/>
          </a:p>
        </p:txBody>
      </p:sp>
      <p:sp>
        <p:nvSpPr>
          <p:cNvPr id="31" name="Text 28"/>
          <p:cNvSpPr/>
          <p:nvPr/>
        </p:nvSpPr>
        <p:spPr>
          <a:xfrm>
            <a:off x="11440477" y="8682038"/>
            <a:ext cx="5789324" cy="2362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350" kern="0" spc="54" dirty="0">
                <a:solidFill>
                  <a:srgbClr val="475569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Energy deficit, 2024–25</a:t>
            </a:r>
            <a:endParaRPr lang="en-US" sz="1350" dirty="0"/>
          </a:p>
        </p:txBody>
      </p:sp>
      <p:sp>
        <p:nvSpPr>
          <p:cNvPr id="32" name="Shape 29"/>
          <p:cNvSpPr/>
          <p:nvPr/>
        </p:nvSpPr>
        <p:spPr>
          <a:xfrm>
            <a:off x="11166158" y="9287828"/>
            <a:ext cx="6169343" cy="952500"/>
          </a:xfrm>
          <a:prstGeom prst="rect">
            <a:avLst/>
          </a:prstGeom>
          <a:solidFill>
            <a:srgbClr val="F8FAF7"/>
          </a:solidFill>
          <a:ln/>
        </p:spPr>
      </p:sp>
      <p:sp>
        <p:nvSpPr>
          <p:cNvPr id="33" name="Shape 30"/>
          <p:cNvSpPr/>
          <p:nvPr/>
        </p:nvSpPr>
        <p:spPr>
          <a:xfrm>
            <a:off x="11166158" y="9287828"/>
            <a:ext cx="38100" cy="952500"/>
          </a:xfrm>
          <a:prstGeom prst="rect">
            <a:avLst/>
          </a:prstGeom>
          <a:solidFill>
            <a:srgbClr val="86BC25"/>
          </a:solidFill>
          <a:ln/>
        </p:spPr>
      </p:sp>
      <p:sp>
        <p:nvSpPr>
          <p:cNvPr id="34" name="Text 31"/>
          <p:cNvSpPr/>
          <p:nvPr/>
        </p:nvSpPr>
        <p:spPr>
          <a:xfrm>
            <a:off x="11470958" y="9535478"/>
            <a:ext cx="1197054" cy="1981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050" b="1" kern="0" spc="189" dirty="0">
                <a:solidFill>
                  <a:srgbClr val="0F5B4C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IMPLICATION</a:t>
            </a:r>
            <a:endParaRPr lang="en-US" sz="1050" dirty="0"/>
          </a:p>
        </p:txBody>
      </p:sp>
      <p:sp>
        <p:nvSpPr>
          <p:cNvPr id="35" name="Text 32"/>
          <p:cNvSpPr/>
          <p:nvPr/>
        </p:nvSpPr>
        <p:spPr>
          <a:xfrm>
            <a:off x="12820412" y="9497378"/>
            <a:ext cx="4375840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500" dirty="0">
                <a:solidFill>
                  <a:srgbClr val="0F172A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The capacity question is closed. The remaining problem is </a:t>
            </a:r>
            <a:r>
              <a:rPr lang="en-US" sz="1500" i="1" dirty="0">
                <a:solidFill>
                  <a:srgbClr val="0F172A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when</a:t>
            </a:r>
            <a:r>
              <a:rPr lang="en-US" sz="1500" dirty="0">
                <a:solidFill>
                  <a:srgbClr val="0F172A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, not </a:t>
            </a:r>
            <a:r>
              <a:rPr lang="en-US" sz="1500" i="1" dirty="0">
                <a:solidFill>
                  <a:srgbClr val="0F172A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how much</a:t>
            </a:r>
            <a:r>
              <a:rPr lang="en-US" sz="1500" dirty="0">
                <a:solidFill>
                  <a:srgbClr val="0F172A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.</a:t>
            </a:r>
            <a:endParaRPr lang="en-US" sz="1500" dirty="0"/>
          </a:p>
        </p:txBody>
      </p:sp>
      <p:sp>
        <p:nvSpPr>
          <p:cNvPr id="36" name="Shape 33"/>
          <p:cNvSpPr/>
          <p:nvPr/>
        </p:nvSpPr>
        <p:spPr>
          <a:xfrm>
            <a:off x="952500" y="9627870"/>
            <a:ext cx="16383000" cy="31623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7" name="Shape 34"/>
          <p:cNvSpPr/>
          <p:nvPr/>
        </p:nvSpPr>
        <p:spPr>
          <a:xfrm>
            <a:off x="952500" y="9627870"/>
            <a:ext cx="16383000" cy="9525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38" name="Text 35"/>
          <p:cNvSpPr/>
          <p:nvPr/>
        </p:nvSpPr>
        <p:spPr>
          <a:xfrm>
            <a:off x="952500" y="9772650"/>
            <a:ext cx="2388156" cy="2057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lnSpcReduction="10000"/>
          </a:bodyPr>
          <a:lstStyle/>
          <a:p>
            <a:pPr marL="0" indent="0" algn="l">
              <a:buNone/>
            </a:pPr>
            <a:r>
              <a:rPr lang="en-US" sz="1125" b="1" kern="0" spc="90" dirty="0">
                <a:solidFill>
                  <a:srgbClr val="0F5B4C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STRATEGY &amp; OPERATIONS</a:t>
            </a:r>
            <a:endParaRPr lang="en-US" sz="1125" dirty="0"/>
          </a:p>
        </p:txBody>
      </p:sp>
      <p:sp>
        <p:nvSpPr>
          <p:cNvPr id="39" name="Text 36"/>
          <p:cNvSpPr/>
          <p:nvPr/>
        </p:nvSpPr>
        <p:spPr>
          <a:xfrm>
            <a:off x="6940391" y="9768840"/>
            <a:ext cx="6440757" cy="2133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200" kern="0" spc="48" dirty="0">
                <a:solidFill>
                  <a:srgbClr val="94A3B8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Source: CEA / POSOCO national capacity series via CICERO; NPP installed capacity</a:t>
            </a:r>
            <a:endParaRPr lang="en-US" sz="1200" dirty="0"/>
          </a:p>
        </p:txBody>
      </p:sp>
      <p:sp>
        <p:nvSpPr>
          <p:cNvPr id="40" name="Text 37"/>
          <p:cNvSpPr/>
          <p:nvPr/>
        </p:nvSpPr>
        <p:spPr>
          <a:xfrm>
            <a:off x="16869370" y="9768840"/>
            <a:ext cx="542330" cy="2133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475569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05 </a:t>
            </a:r>
            <a:r>
              <a:rPr lang="en-US" sz="1200" dirty="0">
                <a:solidFill>
                  <a:srgbClr val="94A3B8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/ 20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685800"/>
            <a:ext cx="16874490" cy="2362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350" b="1" kern="0" spc="216" dirty="0">
                <a:solidFill>
                  <a:srgbClr val="0F5B4C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03 · DIAGNOSIS HOURLY &amp; MONTHLY MISMATCHES</a:t>
            </a:r>
            <a:endParaRPr lang="en-US" sz="1350" dirty="0"/>
          </a:p>
        </p:txBody>
      </p:sp>
      <p:sp>
        <p:nvSpPr>
          <p:cNvPr id="3" name="Text 1"/>
          <p:cNvSpPr/>
          <p:nvPr/>
        </p:nvSpPr>
        <p:spPr>
          <a:xfrm>
            <a:off x="952500" y="1055370"/>
            <a:ext cx="14716125" cy="12725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4500" b="1" kern="0" spc="-90" dirty="0">
                <a:solidFill>
                  <a:srgbClr val="0F172A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Solar peaks at noon, demand peaks at 8 PM — every day of the year</a:t>
            </a:r>
            <a:endParaRPr lang="en-US" sz="4500" dirty="0"/>
          </a:p>
        </p:txBody>
      </p:sp>
      <p:sp>
        <p:nvSpPr>
          <p:cNvPr id="4" name="Text 2"/>
          <p:cNvSpPr/>
          <p:nvPr/>
        </p:nvSpPr>
        <p:spPr>
          <a:xfrm>
            <a:off x="952500" y="2423160"/>
            <a:ext cx="14716125" cy="3724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950" dirty="0">
                <a:solidFill>
                  <a:srgbClr val="475569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Two views of the same phenomenon: hourly load vs. solar output (left), and monthly demand vs. wind output (right).</a:t>
            </a:r>
            <a:endParaRPr lang="en-US" sz="1950" dirty="0"/>
          </a:p>
        </p:txBody>
      </p:sp>
      <p:sp>
        <p:nvSpPr>
          <p:cNvPr id="5" name="Shape 3"/>
          <p:cNvSpPr/>
          <p:nvPr/>
        </p:nvSpPr>
        <p:spPr>
          <a:xfrm>
            <a:off x="952500" y="3024188"/>
            <a:ext cx="609600" cy="38100"/>
          </a:xfrm>
          <a:prstGeom prst="roundRect">
            <a:avLst>
              <a:gd name="adj" fmla="val 50000"/>
            </a:avLst>
          </a:prstGeom>
          <a:solidFill>
            <a:srgbClr val="86BC25"/>
          </a:solidFill>
          <a:ln/>
        </p:spPr>
      </p:sp>
      <p:sp>
        <p:nvSpPr>
          <p:cNvPr id="6" name="Shape 4"/>
          <p:cNvSpPr/>
          <p:nvPr/>
        </p:nvSpPr>
        <p:spPr>
          <a:xfrm>
            <a:off x="952500" y="3328988"/>
            <a:ext cx="8048625" cy="4431983"/>
          </a:xfrm>
          <a:prstGeom prst="rect">
            <a:avLst/>
          </a:prstGeom>
          <a:ln w="7620">
            <a:solidFill>
              <a:srgbClr val="E5E7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226820" y="3546158"/>
            <a:ext cx="7724985" cy="1828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975" b="1" kern="0" spc="156" dirty="0">
                <a:solidFill>
                  <a:srgbClr val="475569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EXHIBIT 03A</a:t>
            </a:r>
            <a:endParaRPr lang="en-US" sz="975" dirty="0"/>
          </a:p>
        </p:txBody>
      </p:sp>
      <p:sp>
        <p:nvSpPr>
          <p:cNvPr id="8" name="Text 6"/>
          <p:cNvSpPr/>
          <p:nvPr/>
        </p:nvSpPr>
        <p:spPr>
          <a:xfrm>
            <a:off x="1226820" y="3690937"/>
            <a:ext cx="7724985" cy="2743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575" b="1" dirty="0">
                <a:solidFill>
                  <a:srgbClr val="0F172A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Hourly: solar (GW) vs. demand (GW), national average</a:t>
            </a:r>
            <a:endParaRPr lang="en-US" sz="1575" dirty="0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26820" y="3927158"/>
            <a:ext cx="7499985" cy="3658552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9286875" y="3328988"/>
            <a:ext cx="8048625" cy="4431983"/>
          </a:xfrm>
          <a:prstGeom prst="rect">
            <a:avLst/>
          </a:prstGeom>
          <a:ln w="7620">
            <a:solidFill>
              <a:srgbClr val="E5E7EB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9561195" y="3546158"/>
            <a:ext cx="7724985" cy="1828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975" b="1" kern="0" spc="156" dirty="0">
                <a:solidFill>
                  <a:srgbClr val="475569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EXHIBIT 03B</a:t>
            </a:r>
            <a:endParaRPr lang="en-US" sz="975" dirty="0"/>
          </a:p>
        </p:txBody>
      </p:sp>
      <p:sp>
        <p:nvSpPr>
          <p:cNvPr id="12" name="Text 9"/>
          <p:cNvSpPr/>
          <p:nvPr/>
        </p:nvSpPr>
        <p:spPr>
          <a:xfrm>
            <a:off x="9561195" y="3690937"/>
            <a:ext cx="7724985" cy="2743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575" b="1" dirty="0">
                <a:solidFill>
                  <a:srgbClr val="0F172A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Monthly: demand (GW) vs. wind (TWh)</a:t>
            </a:r>
            <a:endParaRPr lang="en-US" sz="1575" dirty="0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61195" y="3927157"/>
            <a:ext cx="7499985" cy="3755707"/>
          </a:xfrm>
          <a:prstGeom prst="rect">
            <a:avLst/>
          </a:prstGeom>
        </p:spPr>
      </p:pic>
      <p:sp>
        <p:nvSpPr>
          <p:cNvPr id="14" name="Shape 10"/>
          <p:cNvSpPr/>
          <p:nvPr/>
        </p:nvSpPr>
        <p:spPr>
          <a:xfrm>
            <a:off x="952500" y="7989570"/>
            <a:ext cx="16383000" cy="1059180"/>
          </a:xfrm>
          <a:prstGeom prst="rect">
            <a:avLst/>
          </a:prstGeom>
          <a:solidFill>
            <a:srgbClr val="F8FAF7"/>
          </a:solidFill>
          <a:ln/>
        </p:spPr>
      </p:sp>
      <p:sp>
        <p:nvSpPr>
          <p:cNvPr id="15" name="Shape 11"/>
          <p:cNvSpPr/>
          <p:nvPr/>
        </p:nvSpPr>
        <p:spPr>
          <a:xfrm>
            <a:off x="952500" y="7989570"/>
            <a:ext cx="38100" cy="1059180"/>
          </a:xfrm>
          <a:prstGeom prst="rect">
            <a:avLst/>
          </a:prstGeom>
          <a:solidFill>
            <a:srgbClr val="86BC25"/>
          </a:solidFill>
          <a:ln/>
        </p:spPr>
      </p:sp>
      <p:sp>
        <p:nvSpPr>
          <p:cNvPr id="16" name="Text 12"/>
          <p:cNvSpPr/>
          <p:nvPr/>
        </p:nvSpPr>
        <p:spPr>
          <a:xfrm>
            <a:off x="1257300" y="8237220"/>
            <a:ext cx="1189911" cy="1981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050" b="1" kern="0" spc="189" dirty="0">
                <a:solidFill>
                  <a:srgbClr val="0F5B4C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KEY INSIGHT</a:t>
            </a:r>
            <a:endParaRPr lang="en-US" sz="1050" dirty="0"/>
          </a:p>
        </p:txBody>
      </p:sp>
      <p:sp>
        <p:nvSpPr>
          <p:cNvPr id="17" name="Text 13"/>
          <p:cNvSpPr/>
          <p:nvPr/>
        </p:nvSpPr>
        <p:spPr>
          <a:xfrm>
            <a:off x="2599611" y="8199120"/>
            <a:ext cx="14903266" cy="6781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800" dirty="0">
                <a:solidFill>
                  <a:srgbClr val="0F172A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However many panels India installs, they will produce </a:t>
            </a:r>
            <a:r>
              <a:rPr lang="en-US" sz="1800" b="1" dirty="0">
                <a:solidFill>
                  <a:srgbClr val="0F172A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zero </a:t>
            </a:r>
            <a:r>
              <a:rPr lang="en-US" sz="1800" dirty="0">
                <a:solidFill>
                  <a:srgbClr val="0F172A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at 8 PM. Wind helps in monsoon, when demand is already lowest. The fix is storage.</a:t>
            </a:r>
            <a:endParaRPr lang="en-US" sz="1800" dirty="0"/>
          </a:p>
        </p:txBody>
      </p:sp>
      <p:sp>
        <p:nvSpPr>
          <p:cNvPr id="18" name="Shape 14"/>
          <p:cNvSpPr/>
          <p:nvPr/>
        </p:nvSpPr>
        <p:spPr>
          <a:xfrm>
            <a:off x="952500" y="9627870"/>
            <a:ext cx="16383000" cy="31623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9" name="Shape 15"/>
          <p:cNvSpPr/>
          <p:nvPr/>
        </p:nvSpPr>
        <p:spPr>
          <a:xfrm>
            <a:off x="952500" y="9627870"/>
            <a:ext cx="16383000" cy="9525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20" name="Text 16"/>
          <p:cNvSpPr/>
          <p:nvPr/>
        </p:nvSpPr>
        <p:spPr>
          <a:xfrm>
            <a:off x="952500" y="9772650"/>
            <a:ext cx="2388156" cy="2057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lnSpcReduction="10000"/>
          </a:bodyPr>
          <a:lstStyle/>
          <a:p>
            <a:pPr marL="0" indent="0" algn="l">
              <a:buNone/>
            </a:pPr>
            <a:r>
              <a:rPr lang="en-US" sz="1125" b="1" kern="0" spc="90" dirty="0">
                <a:solidFill>
                  <a:srgbClr val="0F5B4C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STRATEGY &amp; OPERATIONS</a:t>
            </a:r>
            <a:endParaRPr lang="en-US" sz="1125" dirty="0"/>
          </a:p>
        </p:txBody>
      </p:sp>
      <p:sp>
        <p:nvSpPr>
          <p:cNvPr id="21" name="Text 17"/>
          <p:cNvSpPr/>
          <p:nvPr/>
        </p:nvSpPr>
        <p:spPr>
          <a:xfrm>
            <a:off x="7272814" y="9768840"/>
            <a:ext cx="5755967" cy="2133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200" kern="0" spc="48" dirty="0">
                <a:solidFill>
                  <a:srgbClr val="94A3B8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Source: POSOCO load curves · CEA daily renewable generation 2019–2025</a:t>
            </a:r>
            <a:endParaRPr lang="en-US" sz="1200" dirty="0"/>
          </a:p>
        </p:txBody>
      </p:sp>
      <p:sp>
        <p:nvSpPr>
          <p:cNvPr id="22" name="Text 18"/>
          <p:cNvSpPr/>
          <p:nvPr/>
        </p:nvSpPr>
        <p:spPr>
          <a:xfrm>
            <a:off x="16869370" y="9768840"/>
            <a:ext cx="542330" cy="2133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475569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06 </a:t>
            </a:r>
            <a:r>
              <a:rPr lang="en-US" sz="1200" dirty="0">
                <a:solidFill>
                  <a:srgbClr val="94A3B8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/ 20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685800"/>
            <a:ext cx="16874490" cy="2362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350" b="1" kern="0" spc="216" dirty="0">
                <a:solidFill>
                  <a:srgbClr val="0F5B4C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03 · DIAGNOSIS GEOGRAPHIC &amp; CUF ANALYSIS</a:t>
            </a:r>
            <a:endParaRPr lang="en-US" sz="1350" dirty="0"/>
          </a:p>
        </p:txBody>
      </p:sp>
      <p:sp>
        <p:nvSpPr>
          <p:cNvPr id="3" name="Text 1"/>
          <p:cNvSpPr/>
          <p:nvPr/>
        </p:nvSpPr>
        <p:spPr>
          <a:xfrm>
            <a:off x="952500" y="1055370"/>
            <a:ext cx="14716125" cy="12725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4500" b="1" kern="0" spc="-90" dirty="0">
                <a:solidFill>
                  <a:srgbClr val="0F172A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Where capacity is built is not where power is consumed</a:t>
            </a:r>
            <a:endParaRPr lang="en-US" sz="4500" dirty="0"/>
          </a:p>
        </p:txBody>
      </p:sp>
      <p:sp>
        <p:nvSpPr>
          <p:cNvPr id="4" name="Text 2"/>
          <p:cNvSpPr/>
          <p:nvPr/>
        </p:nvSpPr>
        <p:spPr>
          <a:xfrm>
            <a:off x="952500" y="2423160"/>
            <a:ext cx="14716125" cy="3724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950" dirty="0">
                <a:solidFill>
                  <a:srgbClr val="475569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Three states own the renewable boom. Most demand sits elsewhere — and 150 GW of solar do not equal 150 GW of coal.</a:t>
            </a:r>
            <a:endParaRPr lang="en-US" sz="1950" dirty="0"/>
          </a:p>
        </p:txBody>
      </p:sp>
      <p:sp>
        <p:nvSpPr>
          <p:cNvPr id="5" name="Shape 3"/>
          <p:cNvSpPr/>
          <p:nvPr/>
        </p:nvSpPr>
        <p:spPr>
          <a:xfrm>
            <a:off x="952500" y="3024188"/>
            <a:ext cx="609600" cy="38100"/>
          </a:xfrm>
          <a:prstGeom prst="roundRect">
            <a:avLst>
              <a:gd name="adj" fmla="val 50000"/>
            </a:avLst>
          </a:prstGeom>
          <a:solidFill>
            <a:srgbClr val="86BC25"/>
          </a:solidFill>
          <a:ln/>
        </p:spPr>
      </p:sp>
      <p:sp>
        <p:nvSpPr>
          <p:cNvPr id="6" name="Shape 4"/>
          <p:cNvSpPr/>
          <p:nvPr/>
        </p:nvSpPr>
        <p:spPr>
          <a:xfrm>
            <a:off x="952500" y="3328988"/>
            <a:ext cx="9389983" cy="5719763"/>
          </a:xfrm>
          <a:prstGeom prst="rect">
            <a:avLst/>
          </a:prstGeom>
          <a:ln w="7620">
            <a:solidFill>
              <a:srgbClr val="E5E7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226820" y="3546158"/>
            <a:ext cx="9106584" cy="1828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975" b="1" kern="0" spc="156" dirty="0">
                <a:solidFill>
                  <a:srgbClr val="475569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EXHIBIT 04</a:t>
            </a:r>
            <a:endParaRPr lang="en-US" sz="975" dirty="0"/>
          </a:p>
        </p:txBody>
      </p:sp>
      <p:sp>
        <p:nvSpPr>
          <p:cNvPr id="8" name="Text 6"/>
          <p:cNvSpPr/>
          <p:nvPr/>
        </p:nvSpPr>
        <p:spPr>
          <a:xfrm>
            <a:off x="1226820" y="3690937"/>
            <a:ext cx="9106584" cy="2819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650" b="1" dirty="0">
                <a:solidFill>
                  <a:srgbClr val="0F172A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Renewable capacity vs. electricity demand — share of national total (%)</a:t>
            </a:r>
            <a:endParaRPr lang="en-US" sz="1650" dirty="0"/>
          </a:p>
        </p:txBody>
      </p:sp>
      <p:sp>
        <p:nvSpPr>
          <p:cNvPr id="9" name="Shape 7"/>
          <p:cNvSpPr/>
          <p:nvPr/>
        </p:nvSpPr>
        <p:spPr>
          <a:xfrm>
            <a:off x="1226820" y="4043363"/>
            <a:ext cx="133350" cy="133350"/>
          </a:xfrm>
          <a:prstGeom prst="roundRect">
            <a:avLst>
              <a:gd name="adj" fmla="val 14286"/>
            </a:avLst>
          </a:prstGeom>
          <a:solidFill>
            <a:srgbClr val="86BC25"/>
          </a:solidFill>
          <a:ln/>
        </p:spPr>
      </p:sp>
      <p:sp>
        <p:nvSpPr>
          <p:cNvPr id="10" name="Text 8"/>
          <p:cNvSpPr/>
          <p:nvPr/>
        </p:nvSpPr>
        <p:spPr>
          <a:xfrm>
            <a:off x="1436370" y="4010978"/>
            <a:ext cx="1686759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350" dirty="0">
                <a:solidFill>
                  <a:srgbClr val="475569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Share of RE capacity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3275529" y="4043363"/>
            <a:ext cx="133350" cy="133350"/>
          </a:xfrm>
          <a:prstGeom prst="roundRect">
            <a:avLst>
              <a:gd name="adj" fmla="val 14286"/>
            </a:avLst>
          </a:prstGeom>
          <a:solidFill>
            <a:srgbClr val="0F5B4C"/>
          </a:solidFill>
          <a:ln/>
        </p:spPr>
      </p:sp>
      <p:sp>
        <p:nvSpPr>
          <p:cNvPr id="12" name="Text 10"/>
          <p:cNvSpPr/>
          <p:nvPr/>
        </p:nvSpPr>
        <p:spPr>
          <a:xfrm>
            <a:off x="3485079" y="4010978"/>
            <a:ext cx="2039779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350" dirty="0">
                <a:solidFill>
                  <a:srgbClr val="475569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Share of national demand</a:t>
            </a:r>
            <a:endParaRPr lang="en-US" sz="1350" dirty="0"/>
          </a:p>
        </p:txBody>
      </p:sp>
      <p:pic>
        <p:nvPicPr>
          <p:cNvPr id="1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26820" y="4209096"/>
            <a:ext cx="8841343" cy="4727085"/>
          </a:xfrm>
          <a:prstGeom prst="rect">
            <a:avLst/>
          </a:prstGeom>
        </p:spPr>
      </p:pic>
      <p:sp>
        <p:nvSpPr>
          <p:cNvPr id="14" name="Shape 11"/>
          <p:cNvSpPr/>
          <p:nvPr/>
        </p:nvSpPr>
        <p:spPr>
          <a:xfrm>
            <a:off x="10628234" y="3328988"/>
            <a:ext cx="6707148" cy="3505200"/>
          </a:xfrm>
          <a:prstGeom prst="rect">
            <a:avLst/>
          </a:prstGeom>
          <a:ln w="7620">
            <a:solidFill>
              <a:srgbClr val="E5E7EB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10635853" y="4273868"/>
            <a:ext cx="6691908" cy="9525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16" name="Text 13"/>
          <p:cNvSpPr/>
          <p:nvPr/>
        </p:nvSpPr>
        <p:spPr>
          <a:xfrm>
            <a:off x="10845403" y="3508058"/>
            <a:ext cx="6460992" cy="1828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975" b="1" kern="0" spc="156" dirty="0">
                <a:solidFill>
                  <a:srgbClr val="475569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EXHIBIT 05</a:t>
            </a:r>
            <a:endParaRPr lang="en-US" sz="975" dirty="0"/>
          </a:p>
        </p:txBody>
      </p:sp>
      <p:sp>
        <p:nvSpPr>
          <p:cNvPr id="17" name="Text 14"/>
          <p:cNvSpPr/>
          <p:nvPr/>
        </p:nvSpPr>
        <p:spPr>
          <a:xfrm>
            <a:off x="10845403" y="3652838"/>
            <a:ext cx="6460992" cy="2743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575" b="1" dirty="0">
                <a:solidFill>
                  <a:srgbClr val="0F172A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Capacity Utilisation Factor by source</a:t>
            </a:r>
            <a:endParaRPr lang="en-US" sz="1575" dirty="0"/>
          </a:p>
        </p:txBody>
      </p:sp>
      <p:sp>
        <p:nvSpPr>
          <p:cNvPr id="18" name="Text 15"/>
          <p:cNvSpPr/>
          <p:nvPr/>
        </p:nvSpPr>
        <p:spPr>
          <a:xfrm>
            <a:off x="10845403" y="3927158"/>
            <a:ext cx="6460992" cy="2133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475569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Why 150 GW of solar ≠ 150 GW of coal</a:t>
            </a:r>
            <a:endParaRPr lang="en-US" sz="1200" dirty="0"/>
          </a:p>
        </p:txBody>
      </p:sp>
      <p:sp>
        <p:nvSpPr>
          <p:cNvPr id="19" name="Shape 16"/>
          <p:cNvSpPr/>
          <p:nvPr/>
        </p:nvSpPr>
        <p:spPr>
          <a:xfrm>
            <a:off x="10635853" y="4281488"/>
            <a:ext cx="2021681" cy="502920"/>
          </a:xfrm>
          <a:prstGeom prst="rect">
            <a:avLst/>
          </a:prstGeom>
          <a:solidFill>
            <a:srgbClr val="0F5B4C"/>
          </a:solidFill>
          <a:ln/>
        </p:spPr>
      </p:sp>
      <p:sp>
        <p:nvSpPr>
          <p:cNvPr id="20" name="Text 17"/>
          <p:cNvSpPr/>
          <p:nvPr/>
        </p:nvSpPr>
        <p:spPr>
          <a:xfrm>
            <a:off x="10807303" y="4433888"/>
            <a:ext cx="1754981" cy="2362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lnSpcReduction="10000"/>
          </a:bodyPr>
          <a:lstStyle/>
          <a:p>
            <a:pPr marL="0" indent="0" algn="l">
              <a:buNone/>
            </a:pPr>
            <a:r>
              <a:rPr lang="en-US" sz="1350" b="1" kern="0" spc="68" dirty="0">
                <a:solidFill>
                  <a:srgbClr val="FFFFFF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SOURCE</a:t>
            </a:r>
            <a:endParaRPr lang="en-US" sz="1350" dirty="0"/>
          </a:p>
        </p:txBody>
      </p:sp>
      <p:sp>
        <p:nvSpPr>
          <p:cNvPr id="21" name="Shape 18"/>
          <p:cNvSpPr/>
          <p:nvPr/>
        </p:nvSpPr>
        <p:spPr>
          <a:xfrm>
            <a:off x="12657534" y="4281488"/>
            <a:ext cx="2082522" cy="502920"/>
          </a:xfrm>
          <a:prstGeom prst="rect">
            <a:avLst/>
          </a:prstGeom>
          <a:solidFill>
            <a:srgbClr val="0F5B4C"/>
          </a:solidFill>
          <a:ln/>
        </p:spPr>
      </p:sp>
      <p:sp>
        <p:nvSpPr>
          <p:cNvPr id="22" name="Text 19"/>
          <p:cNvSpPr/>
          <p:nvPr/>
        </p:nvSpPr>
        <p:spPr>
          <a:xfrm>
            <a:off x="12752784" y="4433888"/>
            <a:ext cx="1815822" cy="2362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lnSpcReduction="10000"/>
          </a:bodyPr>
          <a:lstStyle/>
          <a:p>
            <a:pPr marL="0" indent="0" algn="r">
              <a:buNone/>
            </a:pPr>
            <a:r>
              <a:rPr lang="en-US" sz="1350" b="1" kern="0" spc="68" dirty="0">
                <a:solidFill>
                  <a:srgbClr val="FFFFFF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AVG CUF</a:t>
            </a:r>
            <a:endParaRPr lang="en-US" sz="1350" dirty="0"/>
          </a:p>
        </p:txBody>
      </p:sp>
      <p:sp>
        <p:nvSpPr>
          <p:cNvPr id="23" name="Shape 20"/>
          <p:cNvSpPr/>
          <p:nvPr/>
        </p:nvSpPr>
        <p:spPr>
          <a:xfrm>
            <a:off x="14740057" y="4281488"/>
            <a:ext cx="2587705" cy="502920"/>
          </a:xfrm>
          <a:prstGeom prst="rect">
            <a:avLst/>
          </a:prstGeom>
          <a:solidFill>
            <a:srgbClr val="0F5B4C"/>
          </a:solidFill>
          <a:ln/>
        </p:spPr>
      </p:sp>
      <p:sp>
        <p:nvSpPr>
          <p:cNvPr id="24" name="Text 21"/>
          <p:cNvSpPr/>
          <p:nvPr/>
        </p:nvSpPr>
        <p:spPr>
          <a:xfrm>
            <a:off x="14833876" y="4433888"/>
            <a:ext cx="2322436" cy="2362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lnSpcReduction="10000"/>
          </a:bodyPr>
          <a:lstStyle/>
          <a:p>
            <a:pPr marL="0" indent="0" algn="r">
              <a:buNone/>
            </a:pPr>
            <a:r>
              <a:rPr lang="en-US" sz="1350" b="1" kern="0" spc="68" dirty="0">
                <a:solidFill>
                  <a:srgbClr val="FFFFFF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CUF @ 8 PM</a:t>
            </a:r>
            <a:endParaRPr lang="en-US" sz="1350" dirty="0"/>
          </a:p>
        </p:txBody>
      </p:sp>
      <p:sp>
        <p:nvSpPr>
          <p:cNvPr id="25" name="Shape 22"/>
          <p:cNvSpPr/>
          <p:nvPr/>
        </p:nvSpPr>
        <p:spPr>
          <a:xfrm>
            <a:off x="10635853" y="4784408"/>
            <a:ext cx="2021681" cy="506730"/>
          </a:xfrm>
          <a:prstGeom prst="rect">
            <a:avLst/>
          </a:prstGeom>
          <a:solidFill>
            <a:srgbClr val="FAFBFB"/>
          </a:solidFill>
          <a:ln/>
        </p:spPr>
      </p:sp>
      <p:sp>
        <p:nvSpPr>
          <p:cNvPr id="26" name="Shape 23"/>
          <p:cNvSpPr/>
          <p:nvPr/>
        </p:nvSpPr>
        <p:spPr>
          <a:xfrm>
            <a:off x="10635853" y="5283518"/>
            <a:ext cx="2021681" cy="9525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27" name="Text 24"/>
          <p:cNvSpPr/>
          <p:nvPr/>
        </p:nvSpPr>
        <p:spPr>
          <a:xfrm>
            <a:off x="10807303" y="4936808"/>
            <a:ext cx="1754981" cy="2324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350" dirty="0">
                <a:solidFill>
                  <a:srgbClr val="1F2937"/>
                </a:solidFill>
                <a:highlight>
                  <a:srgbClr val="FAFBFB"/>
                </a:highlight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Solar</a:t>
            </a:r>
            <a:endParaRPr lang="en-US" sz="1350" dirty="0"/>
          </a:p>
        </p:txBody>
      </p:sp>
      <p:sp>
        <p:nvSpPr>
          <p:cNvPr id="28" name="Shape 25"/>
          <p:cNvSpPr/>
          <p:nvPr/>
        </p:nvSpPr>
        <p:spPr>
          <a:xfrm>
            <a:off x="12657534" y="4784408"/>
            <a:ext cx="2082522" cy="506730"/>
          </a:xfrm>
          <a:prstGeom prst="rect">
            <a:avLst/>
          </a:prstGeom>
          <a:solidFill>
            <a:srgbClr val="FAFBFB"/>
          </a:solidFill>
          <a:ln/>
        </p:spPr>
      </p:sp>
      <p:sp>
        <p:nvSpPr>
          <p:cNvPr id="29" name="Shape 26"/>
          <p:cNvSpPr/>
          <p:nvPr/>
        </p:nvSpPr>
        <p:spPr>
          <a:xfrm>
            <a:off x="12657534" y="5283518"/>
            <a:ext cx="2082522" cy="9525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30" name="Text 27"/>
          <p:cNvSpPr/>
          <p:nvPr/>
        </p:nvSpPr>
        <p:spPr>
          <a:xfrm>
            <a:off x="12752784" y="4936808"/>
            <a:ext cx="1815822" cy="2324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92500" lnSpcReduction="10000"/>
          </a:bodyPr>
          <a:lstStyle/>
          <a:p>
            <a:pPr marL="0" indent="0" algn="r">
              <a:buNone/>
            </a:pPr>
            <a:r>
              <a:rPr lang="en-US" sz="1350" dirty="0">
                <a:solidFill>
                  <a:srgbClr val="1F2937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20%</a:t>
            </a:r>
            <a:endParaRPr lang="en-US" sz="1350" dirty="0"/>
          </a:p>
        </p:txBody>
      </p:sp>
      <p:sp>
        <p:nvSpPr>
          <p:cNvPr id="31" name="Shape 28"/>
          <p:cNvSpPr/>
          <p:nvPr/>
        </p:nvSpPr>
        <p:spPr>
          <a:xfrm>
            <a:off x="14740057" y="4784408"/>
            <a:ext cx="2587705" cy="506730"/>
          </a:xfrm>
          <a:prstGeom prst="rect">
            <a:avLst/>
          </a:prstGeom>
          <a:solidFill>
            <a:srgbClr val="FAFBFB"/>
          </a:solidFill>
          <a:ln/>
        </p:spPr>
      </p:sp>
      <p:sp>
        <p:nvSpPr>
          <p:cNvPr id="32" name="Shape 29"/>
          <p:cNvSpPr/>
          <p:nvPr/>
        </p:nvSpPr>
        <p:spPr>
          <a:xfrm>
            <a:off x="14740057" y="5283518"/>
            <a:ext cx="2587705" cy="9525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33" name="Text 30"/>
          <p:cNvSpPr/>
          <p:nvPr/>
        </p:nvSpPr>
        <p:spPr>
          <a:xfrm>
            <a:off x="14833876" y="4936808"/>
            <a:ext cx="2322436" cy="2324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92500" lnSpcReduction="10000"/>
          </a:bodyPr>
          <a:lstStyle/>
          <a:p>
            <a:pPr marL="0" indent="0" algn="r">
              <a:buNone/>
            </a:pPr>
            <a:r>
              <a:rPr lang="en-US" sz="1350" b="1" dirty="0">
                <a:solidFill>
                  <a:srgbClr val="B91C1C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0%</a:t>
            </a:r>
            <a:endParaRPr lang="en-US" sz="1350" dirty="0"/>
          </a:p>
        </p:txBody>
      </p:sp>
      <p:sp>
        <p:nvSpPr>
          <p:cNvPr id="34" name="Shape 31"/>
          <p:cNvSpPr/>
          <p:nvPr/>
        </p:nvSpPr>
        <p:spPr>
          <a:xfrm>
            <a:off x="10635853" y="5794058"/>
            <a:ext cx="2021681" cy="9525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35" name="Text 32"/>
          <p:cNvSpPr/>
          <p:nvPr/>
        </p:nvSpPr>
        <p:spPr>
          <a:xfrm>
            <a:off x="10807303" y="5443538"/>
            <a:ext cx="1754981" cy="2362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lnSpcReduction="10000"/>
          </a:bodyPr>
          <a:lstStyle/>
          <a:p>
            <a:pPr marL="0" indent="0" algn="l">
              <a:buNone/>
            </a:pPr>
            <a:r>
              <a:rPr lang="en-US" sz="1350" dirty="0">
                <a:solidFill>
                  <a:srgbClr val="1F2937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Wind</a:t>
            </a:r>
            <a:endParaRPr lang="en-US" sz="1350" dirty="0"/>
          </a:p>
        </p:txBody>
      </p:sp>
      <p:sp>
        <p:nvSpPr>
          <p:cNvPr id="36" name="Shape 33"/>
          <p:cNvSpPr/>
          <p:nvPr/>
        </p:nvSpPr>
        <p:spPr>
          <a:xfrm>
            <a:off x="12657534" y="5794058"/>
            <a:ext cx="2082522" cy="9525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37" name="Text 34"/>
          <p:cNvSpPr/>
          <p:nvPr/>
        </p:nvSpPr>
        <p:spPr>
          <a:xfrm>
            <a:off x="12752784" y="5443538"/>
            <a:ext cx="1815822" cy="2362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lnSpcReduction="10000"/>
          </a:bodyPr>
          <a:lstStyle/>
          <a:p>
            <a:pPr marL="0" indent="0" algn="r">
              <a:buNone/>
            </a:pPr>
            <a:r>
              <a:rPr lang="en-US" sz="1350" dirty="0">
                <a:solidFill>
                  <a:srgbClr val="1F2937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25%</a:t>
            </a:r>
            <a:endParaRPr lang="en-US" sz="1350" dirty="0"/>
          </a:p>
        </p:txBody>
      </p:sp>
      <p:sp>
        <p:nvSpPr>
          <p:cNvPr id="38" name="Shape 35"/>
          <p:cNvSpPr/>
          <p:nvPr/>
        </p:nvSpPr>
        <p:spPr>
          <a:xfrm>
            <a:off x="14740057" y="5794058"/>
            <a:ext cx="2587705" cy="9525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39" name="Text 36"/>
          <p:cNvSpPr/>
          <p:nvPr/>
        </p:nvSpPr>
        <p:spPr>
          <a:xfrm>
            <a:off x="14833876" y="5443538"/>
            <a:ext cx="2322436" cy="2362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lnSpcReduction="10000"/>
          </a:bodyPr>
          <a:lstStyle/>
          <a:p>
            <a:pPr marL="0" indent="0" algn="r">
              <a:buNone/>
            </a:pPr>
            <a:r>
              <a:rPr lang="en-US" sz="1350" dirty="0">
                <a:solidFill>
                  <a:srgbClr val="1F2937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25%</a:t>
            </a:r>
            <a:endParaRPr lang="en-US" sz="1350" dirty="0"/>
          </a:p>
        </p:txBody>
      </p:sp>
      <p:sp>
        <p:nvSpPr>
          <p:cNvPr id="40" name="Shape 37"/>
          <p:cNvSpPr/>
          <p:nvPr/>
        </p:nvSpPr>
        <p:spPr>
          <a:xfrm>
            <a:off x="10635853" y="5801678"/>
            <a:ext cx="2021681" cy="510540"/>
          </a:xfrm>
          <a:prstGeom prst="rect">
            <a:avLst/>
          </a:prstGeom>
          <a:solidFill>
            <a:srgbClr val="FAFBFB"/>
          </a:solidFill>
          <a:ln/>
        </p:spPr>
      </p:sp>
      <p:sp>
        <p:nvSpPr>
          <p:cNvPr id="41" name="Shape 38"/>
          <p:cNvSpPr/>
          <p:nvPr/>
        </p:nvSpPr>
        <p:spPr>
          <a:xfrm>
            <a:off x="10635853" y="6304598"/>
            <a:ext cx="2021681" cy="9525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42" name="Text 39"/>
          <p:cNvSpPr/>
          <p:nvPr/>
        </p:nvSpPr>
        <p:spPr>
          <a:xfrm>
            <a:off x="10807303" y="5954078"/>
            <a:ext cx="1754981" cy="2362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lnSpcReduction="10000"/>
          </a:bodyPr>
          <a:lstStyle/>
          <a:p>
            <a:pPr marL="0" indent="0" algn="l">
              <a:buNone/>
            </a:pPr>
            <a:r>
              <a:rPr lang="en-US" sz="1350" dirty="0">
                <a:solidFill>
                  <a:srgbClr val="1F2937"/>
                </a:solidFill>
                <a:highlight>
                  <a:srgbClr val="FAFBFB"/>
                </a:highlight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Coal</a:t>
            </a:r>
            <a:endParaRPr lang="en-US" sz="1350" dirty="0"/>
          </a:p>
        </p:txBody>
      </p:sp>
      <p:sp>
        <p:nvSpPr>
          <p:cNvPr id="43" name="Shape 40"/>
          <p:cNvSpPr/>
          <p:nvPr/>
        </p:nvSpPr>
        <p:spPr>
          <a:xfrm>
            <a:off x="12657534" y="5801678"/>
            <a:ext cx="2082522" cy="510540"/>
          </a:xfrm>
          <a:prstGeom prst="rect">
            <a:avLst/>
          </a:prstGeom>
          <a:solidFill>
            <a:srgbClr val="FAFBFB"/>
          </a:solidFill>
          <a:ln/>
        </p:spPr>
      </p:sp>
      <p:sp>
        <p:nvSpPr>
          <p:cNvPr id="44" name="Shape 41"/>
          <p:cNvSpPr/>
          <p:nvPr/>
        </p:nvSpPr>
        <p:spPr>
          <a:xfrm>
            <a:off x="12657534" y="6304598"/>
            <a:ext cx="2082522" cy="9525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45" name="Text 42"/>
          <p:cNvSpPr/>
          <p:nvPr/>
        </p:nvSpPr>
        <p:spPr>
          <a:xfrm>
            <a:off x="12752784" y="5954078"/>
            <a:ext cx="1815822" cy="2362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lnSpcReduction="10000"/>
          </a:bodyPr>
          <a:lstStyle/>
          <a:p>
            <a:pPr marL="0" indent="0" algn="r">
              <a:buNone/>
            </a:pPr>
            <a:r>
              <a:rPr lang="en-US" sz="1350" dirty="0">
                <a:solidFill>
                  <a:srgbClr val="1F2937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58%</a:t>
            </a:r>
            <a:endParaRPr lang="en-US" sz="1350" dirty="0"/>
          </a:p>
        </p:txBody>
      </p:sp>
      <p:sp>
        <p:nvSpPr>
          <p:cNvPr id="46" name="Shape 43"/>
          <p:cNvSpPr/>
          <p:nvPr/>
        </p:nvSpPr>
        <p:spPr>
          <a:xfrm>
            <a:off x="14740057" y="5801678"/>
            <a:ext cx="2587705" cy="510540"/>
          </a:xfrm>
          <a:prstGeom prst="rect">
            <a:avLst/>
          </a:prstGeom>
          <a:solidFill>
            <a:srgbClr val="FAFBFB"/>
          </a:solidFill>
          <a:ln/>
        </p:spPr>
      </p:sp>
      <p:sp>
        <p:nvSpPr>
          <p:cNvPr id="47" name="Shape 44"/>
          <p:cNvSpPr/>
          <p:nvPr/>
        </p:nvSpPr>
        <p:spPr>
          <a:xfrm>
            <a:off x="14740057" y="6304598"/>
            <a:ext cx="2587705" cy="9525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48" name="Text 45"/>
          <p:cNvSpPr/>
          <p:nvPr/>
        </p:nvSpPr>
        <p:spPr>
          <a:xfrm>
            <a:off x="14833876" y="5954078"/>
            <a:ext cx="2322436" cy="2362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lnSpcReduction="10000"/>
          </a:bodyPr>
          <a:lstStyle/>
          <a:p>
            <a:pPr marL="0" indent="0" algn="r">
              <a:buNone/>
            </a:pPr>
            <a:r>
              <a:rPr lang="en-US" sz="1350" b="1" dirty="0">
                <a:solidFill>
                  <a:srgbClr val="0F5B4C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72%</a:t>
            </a:r>
            <a:endParaRPr lang="en-US" sz="1350" dirty="0"/>
          </a:p>
        </p:txBody>
      </p:sp>
      <p:sp>
        <p:nvSpPr>
          <p:cNvPr id="49" name="Shape 46"/>
          <p:cNvSpPr/>
          <p:nvPr/>
        </p:nvSpPr>
        <p:spPr>
          <a:xfrm>
            <a:off x="10635853" y="6815138"/>
            <a:ext cx="2021681" cy="9525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50" name="Text 47"/>
          <p:cNvSpPr/>
          <p:nvPr/>
        </p:nvSpPr>
        <p:spPr>
          <a:xfrm>
            <a:off x="10807303" y="6464618"/>
            <a:ext cx="1754981" cy="2362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lnSpcReduction="10000"/>
          </a:bodyPr>
          <a:lstStyle/>
          <a:p>
            <a:pPr marL="0" indent="0" algn="l">
              <a:buNone/>
            </a:pPr>
            <a:r>
              <a:rPr lang="en-US" sz="1350" dirty="0">
                <a:solidFill>
                  <a:srgbClr val="1F2937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Nuclear</a:t>
            </a:r>
            <a:endParaRPr lang="en-US" sz="1350" dirty="0"/>
          </a:p>
        </p:txBody>
      </p:sp>
      <p:sp>
        <p:nvSpPr>
          <p:cNvPr id="51" name="Shape 48"/>
          <p:cNvSpPr/>
          <p:nvPr/>
        </p:nvSpPr>
        <p:spPr>
          <a:xfrm>
            <a:off x="12657534" y="6815138"/>
            <a:ext cx="2082522" cy="9525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52" name="Text 49"/>
          <p:cNvSpPr/>
          <p:nvPr/>
        </p:nvSpPr>
        <p:spPr>
          <a:xfrm>
            <a:off x="12752784" y="6464618"/>
            <a:ext cx="1815822" cy="2362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lnSpcReduction="10000"/>
          </a:bodyPr>
          <a:lstStyle/>
          <a:p>
            <a:pPr marL="0" indent="0" algn="r">
              <a:buNone/>
            </a:pPr>
            <a:r>
              <a:rPr lang="en-US" sz="1350" dirty="0">
                <a:solidFill>
                  <a:srgbClr val="1F2937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82%</a:t>
            </a:r>
            <a:endParaRPr lang="en-US" sz="1350" dirty="0"/>
          </a:p>
        </p:txBody>
      </p:sp>
      <p:sp>
        <p:nvSpPr>
          <p:cNvPr id="53" name="Shape 50"/>
          <p:cNvSpPr/>
          <p:nvPr/>
        </p:nvSpPr>
        <p:spPr>
          <a:xfrm>
            <a:off x="14740057" y="6815138"/>
            <a:ext cx="2587705" cy="9525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54" name="Text 51"/>
          <p:cNvSpPr/>
          <p:nvPr/>
        </p:nvSpPr>
        <p:spPr>
          <a:xfrm>
            <a:off x="14833876" y="6464618"/>
            <a:ext cx="2322436" cy="2362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lnSpcReduction="10000"/>
          </a:bodyPr>
          <a:lstStyle/>
          <a:p>
            <a:pPr marL="0" indent="0" algn="r">
              <a:buNone/>
            </a:pPr>
            <a:r>
              <a:rPr lang="en-US" sz="1350" b="1" dirty="0">
                <a:solidFill>
                  <a:srgbClr val="0F5B4C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82%</a:t>
            </a:r>
            <a:endParaRPr lang="en-US" sz="1350" dirty="0"/>
          </a:p>
        </p:txBody>
      </p:sp>
      <p:sp>
        <p:nvSpPr>
          <p:cNvPr id="55" name="Shape 52"/>
          <p:cNvSpPr/>
          <p:nvPr/>
        </p:nvSpPr>
        <p:spPr>
          <a:xfrm>
            <a:off x="10628234" y="7005638"/>
            <a:ext cx="6707148" cy="952500"/>
          </a:xfrm>
          <a:prstGeom prst="rect">
            <a:avLst/>
          </a:prstGeom>
          <a:solidFill>
            <a:srgbClr val="F8FAF7"/>
          </a:solidFill>
          <a:ln/>
        </p:spPr>
      </p:sp>
      <p:sp>
        <p:nvSpPr>
          <p:cNvPr id="56" name="Shape 53"/>
          <p:cNvSpPr/>
          <p:nvPr/>
        </p:nvSpPr>
        <p:spPr>
          <a:xfrm>
            <a:off x="10628234" y="7005638"/>
            <a:ext cx="38100" cy="952500"/>
          </a:xfrm>
          <a:prstGeom prst="rect">
            <a:avLst/>
          </a:prstGeom>
          <a:solidFill>
            <a:srgbClr val="86BC25"/>
          </a:solidFill>
          <a:ln/>
        </p:spPr>
      </p:sp>
      <p:sp>
        <p:nvSpPr>
          <p:cNvPr id="57" name="Text 54"/>
          <p:cNvSpPr/>
          <p:nvPr/>
        </p:nvSpPr>
        <p:spPr>
          <a:xfrm>
            <a:off x="10933034" y="7253288"/>
            <a:ext cx="1197054" cy="1981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050" b="1" kern="0" spc="189" dirty="0">
                <a:solidFill>
                  <a:srgbClr val="0F5B4C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IMPLICATION</a:t>
            </a:r>
            <a:endParaRPr lang="en-US" sz="1050" dirty="0"/>
          </a:p>
        </p:txBody>
      </p:sp>
      <p:sp>
        <p:nvSpPr>
          <p:cNvPr id="58" name="Text 55"/>
          <p:cNvSpPr/>
          <p:nvPr/>
        </p:nvSpPr>
        <p:spPr>
          <a:xfrm>
            <a:off x="12282488" y="7215188"/>
            <a:ext cx="4929779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500" dirty="0">
                <a:solidFill>
                  <a:srgbClr val="0F172A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Solar at 0% CUF at 8 PM means the 150 GW nameplate provides zero firm capacity into the peak.</a:t>
            </a:r>
            <a:endParaRPr lang="en-US" sz="1500" dirty="0"/>
          </a:p>
        </p:txBody>
      </p:sp>
      <p:sp>
        <p:nvSpPr>
          <p:cNvPr id="59" name="Shape 56"/>
          <p:cNvSpPr/>
          <p:nvPr/>
        </p:nvSpPr>
        <p:spPr>
          <a:xfrm>
            <a:off x="952500" y="9627870"/>
            <a:ext cx="16383000" cy="31623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0" name="Shape 57"/>
          <p:cNvSpPr/>
          <p:nvPr/>
        </p:nvSpPr>
        <p:spPr>
          <a:xfrm>
            <a:off x="952500" y="9627870"/>
            <a:ext cx="16383000" cy="9525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61" name="Text 58"/>
          <p:cNvSpPr/>
          <p:nvPr/>
        </p:nvSpPr>
        <p:spPr>
          <a:xfrm>
            <a:off x="952500" y="9772650"/>
            <a:ext cx="2388156" cy="2057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lnSpcReduction="10000"/>
          </a:bodyPr>
          <a:lstStyle/>
          <a:p>
            <a:pPr marL="0" indent="0" algn="l">
              <a:buNone/>
            </a:pPr>
            <a:r>
              <a:rPr lang="en-US" sz="1125" b="1" kern="0" spc="90" dirty="0">
                <a:solidFill>
                  <a:srgbClr val="0F5B4C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STRATEGY &amp; OPERATIONS</a:t>
            </a:r>
            <a:endParaRPr lang="en-US" sz="1125" dirty="0"/>
          </a:p>
        </p:txBody>
      </p:sp>
      <p:sp>
        <p:nvSpPr>
          <p:cNvPr id="62" name="Text 59"/>
          <p:cNvSpPr/>
          <p:nvPr/>
        </p:nvSpPr>
        <p:spPr>
          <a:xfrm>
            <a:off x="7196971" y="9768840"/>
            <a:ext cx="5912203" cy="2133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200" kern="0" spc="48" dirty="0">
                <a:solidFill>
                  <a:srgbClr val="94A3B8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Source: NPP / CEA installed capacity by state · POSOCO hourly dispatch logs</a:t>
            </a:r>
            <a:endParaRPr lang="en-US" sz="1200" dirty="0"/>
          </a:p>
        </p:txBody>
      </p:sp>
      <p:sp>
        <p:nvSpPr>
          <p:cNvPr id="63" name="Text 60"/>
          <p:cNvSpPr/>
          <p:nvPr/>
        </p:nvSpPr>
        <p:spPr>
          <a:xfrm>
            <a:off x="16869370" y="9768840"/>
            <a:ext cx="542330" cy="2133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475569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07 </a:t>
            </a:r>
            <a:r>
              <a:rPr lang="en-US" sz="1200" dirty="0">
                <a:solidFill>
                  <a:srgbClr val="94A3B8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/ 20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685800"/>
            <a:ext cx="16874490" cy="2362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350" b="1" kern="0" spc="216" dirty="0">
                <a:solidFill>
                  <a:srgbClr val="0F5B4C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04 · MODELS FIVE QUANTITATIVE TOOLS</a:t>
            </a:r>
            <a:endParaRPr lang="en-US" sz="1350" dirty="0"/>
          </a:p>
        </p:txBody>
      </p:sp>
      <p:sp>
        <p:nvSpPr>
          <p:cNvPr id="3" name="Text 1"/>
          <p:cNvSpPr/>
          <p:nvPr/>
        </p:nvSpPr>
        <p:spPr>
          <a:xfrm>
            <a:off x="952500" y="1055370"/>
            <a:ext cx="14716125" cy="12725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4500" b="1" kern="0" spc="-90" dirty="0">
                <a:solidFill>
                  <a:srgbClr val="0F172A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From observation to quantification — each model answers one question</a:t>
            </a:r>
            <a:endParaRPr lang="en-US" sz="4500" dirty="0"/>
          </a:p>
        </p:txBody>
      </p:sp>
      <p:sp>
        <p:nvSpPr>
          <p:cNvPr id="4" name="Text 2"/>
          <p:cNvSpPr/>
          <p:nvPr/>
        </p:nvSpPr>
        <p:spPr>
          <a:xfrm>
            <a:off x="952500" y="2423160"/>
            <a:ext cx="14716125" cy="3724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950" dirty="0">
                <a:solidFill>
                  <a:srgbClr val="475569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A linked set of forecasting, optimisation, inventory, and clustering models — built on the same dataset.</a:t>
            </a:r>
            <a:endParaRPr lang="en-US" sz="1950" dirty="0"/>
          </a:p>
        </p:txBody>
      </p:sp>
      <p:sp>
        <p:nvSpPr>
          <p:cNvPr id="5" name="Shape 3"/>
          <p:cNvSpPr/>
          <p:nvPr/>
        </p:nvSpPr>
        <p:spPr>
          <a:xfrm>
            <a:off x="952500" y="3024188"/>
            <a:ext cx="609600" cy="38100"/>
          </a:xfrm>
          <a:prstGeom prst="roundRect">
            <a:avLst>
              <a:gd name="adj" fmla="val 50000"/>
            </a:avLst>
          </a:prstGeom>
          <a:solidFill>
            <a:srgbClr val="86BC25"/>
          </a:solidFill>
          <a:ln/>
        </p:spPr>
      </p:sp>
      <p:sp>
        <p:nvSpPr>
          <p:cNvPr id="6" name="Shape 4"/>
          <p:cNvSpPr/>
          <p:nvPr/>
        </p:nvSpPr>
        <p:spPr>
          <a:xfrm>
            <a:off x="952500" y="3328988"/>
            <a:ext cx="3139440" cy="4752022"/>
          </a:xfrm>
          <a:prstGeom prst="rect">
            <a:avLst/>
          </a:prstGeom>
          <a:ln w="7620">
            <a:solidFill>
              <a:srgbClr val="E5E7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69670" y="3546158"/>
            <a:ext cx="266938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700" b="1" dirty="0">
                <a:solidFill>
                  <a:srgbClr val="86BC25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1</a:t>
            </a:r>
            <a:endParaRPr lang="en-US" sz="2700" dirty="0"/>
          </a:p>
        </p:txBody>
      </p:sp>
      <p:sp>
        <p:nvSpPr>
          <p:cNvPr id="8" name="Text 6"/>
          <p:cNvSpPr/>
          <p:nvPr/>
        </p:nvSpPr>
        <p:spPr>
          <a:xfrm>
            <a:off x="3106103" y="3652838"/>
            <a:ext cx="844868" cy="1676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900" kern="0" spc="144" dirty="0">
                <a:solidFill>
                  <a:srgbClr val="475569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FORECAST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169670" y="4022408"/>
            <a:ext cx="2786253" cy="2819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650" b="1" dirty="0">
                <a:solidFill>
                  <a:srgbClr val="0F172A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SARIMAX</a:t>
            </a:r>
            <a:endParaRPr lang="en-US" sz="1650" dirty="0"/>
          </a:p>
        </p:txBody>
      </p:sp>
      <p:sp>
        <p:nvSpPr>
          <p:cNvPr id="10" name="Text 8"/>
          <p:cNvSpPr/>
          <p:nvPr/>
        </p:nvSpPr>
        <p:spPr>
          <a:xfrm>
            <a:off x="1169670" y="4304347"/>
            <a:ext cx="2786253" cy="1981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050" b="1" kern="0" spc="105" dirty="0">
                <a:solidFill>
                  <a:srgbClr val="0F5B4C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DEMAND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1169670" y="4578668"/>
            <a:ext cx="2786253" cy="4800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200" dirty="0">
                <a:solidFill>
                  <a:srgbClr val="475569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How much power will India need by 2030?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1169670" y="7341870"/>
            <a:ext cx="2705100" cy="9525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13" name="Text 11"/>
          <p:cNvSpPr/>
          <p:nvPr/>
        </p:nvSpPr>
        <p:spPr>
          <a:xfrm>
            <a:off x="1169670" y="7482840"/>
            <a:ext cx="125789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0F172A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241 → 295 GW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1169670" y="7719060"/>
            <a:ext cx="2786253" cy="1828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975" dirty="0">
                <a:solidFill>
                  <a:srgbClr val="475569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+3.5% CAGR</a:t>
            </a:r>
            <a:endParaRPr lang="en-US" sz="975" dirty="0"/>
          </a:p>
        </p:txBody>
      </p:sp>
      <p:sp>
        <p:nvSpPr>
          <p:cNvPr id="15" name="Shape 13"/>
          <p:cNvSpPr/>
          <p:nvPr/>
        </p:nvSpPr>
        <p:spPr>
          <a:xfrm>
            <a:off x="4263390" y="3328988"/>
            <a:ext cx="3139440" cy="4752022"/>
          </a:xfrm>
          <a:prstGeom prst="rect">
            <a:avLst/>
          </a:prstGeom>
          <a:ln w="7620">
            <a:solidFill>
              <a:srgbClr val="E5E7E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480560" y="3546158"/>
            <a:ext cx="266938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700" b="1" dirty="0">
                <a:solidFill>
                  <a:srgbClr val="86BC25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2</a:t>
            </a:r>
            <a:endParaRPr lang="en-US" sz="2700" dirty="0"/>
          </a:p>
        </p:txBody>
      </p:sp>
      <p:sp>
        <p:nvSpPr>
          <p:cNvPr id="17" name="Text 15"/>
          <p:cNvSpPr/>
          <p:nvPr/>
        </p:nvSpPr>
        <p:spPr>
          <a:xfrm>
            <a:off x="6358295" y="3652838"/>
            <a:ext cx="903565" cy="1676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900" kern="0" spc="144" dirty="0">
                <a:solidFill>
                  <a:srgbClr val="475569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INVENTORY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480560" y="4022408"/>
            <a:ext cx="2786253" cy="2819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650" b="1" dirty="0">
                <a:solidFill>
                  <a:srgbClr val="0F172A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EOQ</a:t>
            </a:r>
            <a:endParaRPr lang="en-US" sz="1650" dirty="0"/>
          </a:p>
        </p:txBody>
      </p:sp>
      <p:sp>
        <p:nvSpPr>
          <p:cNvPr id="19" name="Text 17"/>
          <p:cNvSpPr/>
          <p:nvPr/>
        </p:nvSpPr>
        <p:spPr>
          <a:xfrm>
            <a:off x="4480560" y="4304347"/>
            <a:ext cx="2786253" cy="1981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050" b="1" kern="0" spc="105" dirty="0">
                <a:solidFill>
                  <a:srgbClr val="0F5B4C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COAL STOCKS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4480560" y="4578668"/>
            <a:ext cx="2786253" cy="259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200" dirty="0">
                <a:solidFill>
                  <a:srgbClr val="475569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Was the 2021 coal crisis preventable?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480560" y="7341870"/>
            <a:ext cx="2705100" cy="9525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22" name="Text 20"/>
          <p:cNvSpPr/>
          <p:nvPr/>
        </p:nvSpPr>
        <p:spPr>
          <a:xfrm>
            <a:off x="4480560" y="7482840"/>
            <a:ext cx="224873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0F172A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Yes — supply chain failure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4480560" y="7719060"/>
            <a:ext cx="2786253" cy="1828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975" dirty="0">
                <a:solidFill>
                  <a:srgbClr val="475569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EOQ violated at 100+ plants</a:t>
            </a:r>
            <a:endParaRPr lang="en-US" sz="975" dirty="0"/>
          </a:p>
        </p:txBody>
      </p:sp>
      <p:sp>
        <p:nvSpPr>
          <p:cNvPr id="24" name="Shape 22"/>
          <p:cNvSpPr/>
          <p:nvPr/>
        </p:nvSpPr>
        <p:spPr>
          <a:xfrm>
            <a:off x="7574280" y="3328988"/>
            <a:ext cx="3139440" cy="4752022"/>
          </a:xfrm>
          <a:prstGeom prst="rect">
            <a:avLst/>
          </a:prstGeom>
          <a:ln w="7620">
            <a:solidFill>
              <a:srgbClr val="E5E7E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791450" y="3546158"/>
            <a:ext cx="266938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700" b="1" dirty="0">
                <a:solidFill>
                  <a:srgbClr val="86BC25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3</a:t>
            </a:r>
            <a:endParaRPr lang="en-US" sz="2700" dirty="0"/>
          </a:p>
        </p:txBody>
      </p:sp>
      <p:sp>
        <p:nvSpPr>
          <p:cNvPr id="26" name="Text 24"/>
          <p:cNvSpPr/>
          <p:nvPr/>
        </p:nvSpPr>
        <p:spPr>
          <a:xfrm>
            <a:off x="9466302" y="3652838"/>
            <a:ext cx="1106448" cy="1676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900" kern="0" spc="144" dirty="0">
                <a:solidFill>
                  <a:srgbClr val="475569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OPTIMISATION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7791450" y="4022408"/>
            <a:ext cx="2786253" cy="2819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650" b="1" dirty="0">
                <a:solidFill>
                  <a:srgbClr val="0F172A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Linear Programming</a:t>
            </a:r>
            <a:endParaRPr lang="en-US" sz="1650" dirty="0"/>
          </a:p>
        </p:txBody>
      </p:sp>
      <p:sp>
        <p:nvSpPr>
          <p:cNvPr id="28" name="Text 26"/>
          <p:cNvSpPr/>
          <p:nvPr/>
        </p:nvSpPr>
        <p:spPr>
          <a:xfrm>
            <a:off x="7791450" y="4304347"/>
            <a:ext cx="2786253" cy="1981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050" b="1" kern="0" spc="105" dirty="0">
                <a:solidFill>
                  <a:srgbClr val="0F5B4C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DISPATCH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7791450" y="4578668"/>
            <a:ext cx="2786253" cy="4800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200" dirty="0">
                <a:solidFill>
                  <a:srgbClr val="475569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What is the cheapest way to meet 8 PM demand?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7791450" y="7341870"/>
            <a:ext cx="2705100" cy="9525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31" name="Text 29"/>
          <p:cNvSpPr/>
          <p:nvPr/>
        </p:nvSpPr>
        <p:spPr>
          <a:xfrm>
            <a:off x="7791450" y="7482840"/>
            <a:ext cx="174367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0F172A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200 GW coal at 8 PM</a:t>
            </a:r>
            <a:endParaRPr lang="en-US" sz="1350" dirty="0"/>
          </a:p>
        </p:txBody>
      </p:sp>
      <p:sp>
        <p:nvSpPr>
          <p:cNvPr id="32" name="Text 30"/>
          <p:cNvSpPr/>
          <p:nvPr/>
        </p:nvSpPr>
        <p:spPr>
          <a:xfrm>
            <a:off x="7791450" y="7719060"/>
            <a:ext cx="2786253" cy="1828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975" dirty="0">
                <a:solidFill>
                  <a:srgbClr val="475569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Decarbonising +37% w/o BESS</a:t>
            </a:r>
            <a:endParaRPr lang="en-US" sz="975" dirty="0"/>
          </a:p>
        </p:txBody>
      </p:sp>
      <p:sp>
        <p:nvSpPr>
          <p:cNvPr id="33" name="Shape 31"/>
          <p:cNvSpPr/>
          <p:nvPr/>
        </p:nvSpPr>
        <p:spPr>
          <a:xfrm>
            <a:off x="10885170" y="3328988"/>
            <a:ext cx="3139440" cy="4752022"/>
          </a:xfrm>
          <a:prstGeom prst="rect">
            <a:avLst/>
          </a:prstGeom>
          <a:ln w="7620">
            <a:solidFill>
              <a:srgbClr val="E5E7EB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11102340" y="3546158"/>
            <a:ext cx="266938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700" b="1" dirty="0">
                <a:solidFill>
                  <a:srgbClr val="86BC25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4</a:t>
            </a:r>
            <a:endParaRPr lang="en-US" sz="2700" dirty="0"/>
          </a:p>
        </p:txBody>
      </p:sp>
      <p:sp>
        <p:nvSpPr>
          <p:cNvPr id="35" name="Text 33"/>
          <p:cNvSpPr/>
          <p:nvPr/>
        </p:nvSpPr>
        <p:spPr>
          <a:xfrm>
            <a:off x="12690396" y="3652838"/>
            <a:ext cx="1193244" cy="1676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900" kern="0" spc="144" dirty="0">
                <a:solidFill>
                  <a:srgbClr val="475569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SEGMENTATION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11102340" y="4022408"/>
            <a:ext cx="2786253" cy="2819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650" b="1" dirty="0">
                <a:solidFill>
                  <a:srgbClr val="0F172A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K-Means</a:t>
            </a:r>
            <a:endParaRPr lang="en-US" sz="1650" dirty="0"/>
          </a:p>
        </p:txBody>
      </p:sp>
      <p:sp>
        <p:nvSpPr>
          <p:cNvPr id="37" name="Text 35"/>
          <p:cNvSpPr/>
          <p:nvPr/>
        </p:nvSpPr>
        <p:spPr>
          <a:xfrm>
            <a:off x="11102340" y="4304347"/>
            <a:ext cx="2786253" cy="1981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050" b="1" kern="0" spc="105" dirty="0">
                <a:solidFill>
                  <a:srgbClr val="0F5B4C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STATE CLUSTERS</a:t>
            </a:r>
            <a:endParaRPr lang="en-US" sz="1050" dirty="0"/>
          </a:p>
        </p:txBody>
      </p:sp>
      <p:sp>
        <p:nvSpPr>
          <p:cNvPr id="38" name="Text 36"/>
          <p:cNvSpPr/>
          <p:nvPr/>
        </p:nvSpPr>
        <p:spPr>
          <a:xfrm>
            <a:off x="11102340" y="4578668"/>
            <a:ext cx="2786253" cy="259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200" dirty="0">
                <a:solidFill>
                  <a:srgbClr val="475569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Do all states share the same problem?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11102340" y="7341870"/>
            <a:ext cx="2705100" cy="9525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40" name="Text 38"/>
          <p:cNvSpPr/>
          <p:nvPr/>
        </p:nvSpPr>
        <p:spPr>
          <a:xfrm>
            <a:off x="11102340" y="7482840"/>
            <a:ext cx="202930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0F172A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No — 4 distinct clusters</a:t>
            </a:r>
            <a:endParaRPr lang="en-US" sz="1350" dirty="0"/>
          </a:p>
        </p:txBody>
      </p:sp>
      <p:sp>
        <p:nvSpPr>
          <p:cNvPr id="41" name="Text 39"/>
          <p:cNvSpPr/>
          <p:nvPr/>
        </p:nvSpPr>
        <p:spPr>
          <a:xfrm>
            <a:off x="11102340" y="7719060"/>
            <a:ext cx="2786253" cy="1828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975" dirty="0">
                <a:solidFill>
                  <a:srgbClr val="475569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Different policy levers</a:t>
            </a:r>
            <a:endParaRPr lang="en-US" sz="975" dirty="0"/>
          </a:p>
        </p:txBody>
      </p:sp>
      <p:sp>
        <p:nvSpPr>
          <p:cNvPr id="42" name="Shape 40"/>
          <p:cNvSpPr/>
          <p:nvPr/>
        </p:nvSpPr>
        <p:spPr>
          <a:xfrm>
            <a:off x="14196060" y="3328988"/>
            <a:ext cx="3139440" cy="4752022"/>
          </a:xfrm>
          <a:prstGeom prst="rect">
            <a:avLst/>
          </a:prstGeom>
          <a:solidFill>
            <a:srgbClr val="F8FAF7"/>
          </a:solidFill>
          <a:ln w="7620">
            <a:solidFill>
              <a:srgbClr val="E5E7EB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14413231" y="3546158"/>
            <a:ext cx="266938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700" b="1" dirty="0">
                <a:solidFill>
                  <a:srgbClr val="86BC25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5</a:t>
            </a:r>
            <a:endParaRPr lang="en-US" sz="2700" dirty="0"/>
          </a:p>
        </p:txBody>
      </p:sp>
      <p:sp>
        <p:nvSpPr>
          <p:cNvPr id="44" name="Text 42"/>
          <p:cNvSpPr/>
          <p:nvPr/>
        </p:nvSpPr>
        <p:spPr>
          <a:xfrm>
            <a:off x="16374904" y="3652838"/>
            <a:ext cx="819626" cy="1676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900" kern="0" spc="144" dirty="0">
                <a:solidFill>
                  <a:srgbClr val="475569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SCENARIO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14413231" y="4022408"/>
            <a:ext cx="2786253" cy="2819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650" b="1" dirty="0">
                <a:solidFill>
                  <a:srgbClr val="0F172A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BESS + Counterfactual</a:t>
            </a:r>
            <a:endParaRPr lang="en-US" sz="1650" dirty="0"/>
          </a:p>
        </p:txBody>
      </p:sp>
      <p:sp>
        <p:nvSpPr>
          <p:cNvPr id="46" name="Text 44"/>
          <p:cNvSpPr/>
          <p:nvPr/>
        </p:nvSpPr>
        <p:spPr>
          <a:xfrm>
            <a:off x="14413231" y="4304347"/>
            <a:ext cx="2786253" cy="1981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050" b="1" kern="0" spc="105" dirty="0">
                <a:solidFill>
                  <a:srgbClr val="0F5B4C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STORAGE</a:t>
            </a:r>
            <a:endParaRPr lang="en-US" sz="1050" dirty="0"/>
          </a:p>
        </p:txBody>
      </p:sp>
      <p:sp>
        <p:nvSpPr>
          <p:cNvPr id="47" name="Text 45"/>
          <p:cNvSpPr/>
          <p:nvPr/>
        </p:nvSpPr>
        <p:spPr>
          <a:xfrm>
            <a:off x="14413231" y="4578668"/>
            <a:ext cx="2786253" cy="259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200" dirty="0">
                <a:solidFill>
                  <a:srgbClr val="475569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How much storage at 500 GW solar?</a:t>
            </a:r>
            <a:endParaRPr lang="en-US" sz="1200" dirty="0"/>
          </a:p>
        </p:txBody>
      </p:sp>
      <p:sp>
        <p:nvSpPr>
          <p:cNvPr id="48" name="Shape 46"/>
          <p:cNvSpPr/>
          <p:nvPr/>
        </p:nvSpPr>
        <p:spPr>
          <a:xfrm>
            <a:off x="14413231" y="7341870"/>
            <a:ext cx="2705100" cy="9525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49" name="Text 47"/>
          <p:cNvSpPr/>
          <p:nvPr/>
        </p:nvSpPr>
        <p:spPr>
          <a:xfrm>
            <a:off x="14413231" y="7482840"/>
            <a:ext cx="11912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0F172A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300–500 GWh</a:t>
            </a:r>
            <a:endParaRPr lang="en-US" sz="1350" dirty="0"/>
          </a:p>
        </p:txBody>
      </p:sp>
      <p:sp>
        <p:nvSpPr>
          <p:cNvPr id="50" name="Text 48"/>
          <p:cNvSpPr/>
          <p:nvPr/>
        </p:nvSpPr>
        <p:spPr>
          <a:xfrm>
            <a:off x="14413231" y="7719060"/>
            <a:ext cx="2786253" cy="1828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975" dirty="0">
                <a:solidFill>
                  <a:srgbClr val="475569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Coal still 70 GW at peak</a:t>
            </a:r>
            <a:endParaRPr lang="en-US" sz="975" dirty="0"/>
          </a:p>
        </p:txBody>
      </p:sp>
      <p:sp>
        <p:nvSpPr>
          <p:cNvPr id="51" name="Shape 49"/>
          <p:cNvSpPr/>
          <p:nvPr/>
        </p:nvSpPr>
        <p:spPr>
          <a:xfrm>
            <a:off x="952500" y="8309610"/>
            <a:ext cx="16383000" cy="739140"/>
          </a:xfrm>
          <a:prstGeom prst="rect">
            <a:avLst/>
          </a:prstGeom>
          <a:solidFill>
            <a:srgbClr val="F8FAF7"/>
          </a:solidFill>
          <a:ln/>
        </p:spPr>
      </p:sp>
      <p:sp>
        <p:nvSpPr>
          <p:cNvPr id="52" name="Shape 50"/>
          <p:cNvSpPr/>
          <p:nvPr/>
        </p:nvSpPr>
        <p:spPr>
          <a:xfrm>
            <a:off x="952500" y="8309610"/>
            <a:ext cx="38100" cy="739140"/>
          </a:xfrm>
          <a:prstGeom prst="rect">
            <a:avLst/>
          </a:prstGeom>
          <a:solidFill>
            <a:srgbClr val="86BC25"/>
          </a:solidFill>
          <a:ln/>
        </p:spPr>
      </p:sp>
      <p:sp>
        <p:nvSpPr>
          <p:cNvPr id="53" name="Text 51"/>
          <p:cNvSpPr/>
          <p:nvPr/>
        </p:nvSpPr>
        <p:spPr>
          <a:xfrm>
            <a:off x="1257300" y="8557260"/>
            <a:ext cx="1031438" cy="1981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050" b="1" kern="0" spc="189" dirty="0">
                <a:solidFill>
                  <a:srgbClr val="0F5B4C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APPROACH</a:t>
            </a:r>
            <a:endParaRPr lang="en-US" sz="1050" dirty="0"/>
          </a:p>
        </p:txBody>
      </p:sp>
      <p:sp>
        <p:nvSpPr>
          <p:cNvPr id="54" name="Text 52"/>
          <p:cNvSpPr/>
          <p:nvPr/>
        </p:nvSpPr>
        <p:spPr>
          <a:xfrm>
            <a:off x="2441138" y="8519160"/>
            <a:ext cx="13833649" cy="358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800" dirty="0">
                <a:solidFill>
                  <a:srgbClr val="0F172A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Each model uses standard, peer-reviewed methods (statsmodels, scikit-learn, PuLP/CBC) — outputs are reproducible and auditable.</a:t>
            </a:r>
            <a:endParaRPr lang="en-US" sz="1800" dirty="0"/>
          </a:p>
        </p:txBody>
      </p:sp>
      <p:sp>
        <p:nvSpPr>
          <p:cNvPr id="55" name="Shape 53"/>
          <p:cNvSpPr/>
          <p:nvPr/>
        </p:nvSpPr>
        <p:spPr>
          <a:xfrm>
            <a:off x="952500" y="9627870"/>
            <a:ext cx="16383000" cy="31623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6" name="Shape 54"/>
          <p:cNvSpPr/>
          <p:nvPr/>
        </p:nvSpPr>
        <p:spPr>
          <a:xfrm>
            <a:off x="952500" y="9627870"/>
            <a:ext cx="16383000" cy="9525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57" name="Text 55"/>
          <p:cNvSpPr/>
          <p:nvPr/>
        </p:nvSpPr>
        <p:spPr>
          <a:xfrm>
            <a:off x="952500" y="9772650"/>
            <a:ext cx="2388156" cy="2057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lnSpcReduction="10000"/>
          </a:bodyPr>
          <a:lstStyle/>
          <a:p>
            <a:pPr marL="0" indent="0" algn="l">
              <a:buNone/>
            </a:pPr>
            <a:r>
              <a:rPr lang="en-US" sz="1125" b="1" kern="0" spc="90" dirty="0">
                <a:solidFill>
                  <a:srgbClr val="0F5B4C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STRATEGY &amp; OPERATIONS</a:t>
            </a:r>
            <a:endParaRPr lang="en-US" sz="1125" dirty="0"/>
          </a:p>
        </p:txBody>
      </p:sp>
      <p:sp>
        <p:nvSpPr>
          <p:cNvPr id="58" name="Text 56"/>
          <p:cNvSpPr/>
          <p:nvPr/>
        </p:nvSpPr>
        <p:spPr>
          <a:xfrm>
            <a:off x="7790140" y="9768840"/>
            <a:ext cx="4690152" cy="2133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200" kern="0" spc="48" dirty="0">
                <a:solidFill>
                  <a:srgbClr val="94A3B8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Models built in Python · statsmodels · scikit-learn · PuLP/CBC</a:t>
            </a:r>
            <a:endParaRPr lang="en-US" sz="1200" dirty="0"/>
          </a:p>
        </p:txBody>
      </p:sp>
      <p:sp>
        <p:nvSpPr>
          <p:cNvPr id="59" name="Text 57"/>
          <p:cNvSpPr/>
          <p:nvPr/>
        </p:nvSpPr>
        <p:spPr>
          <a:xfrm>
            <a:off x="16869370" y="9768840"/>
            <a:ext cx="542330" cy="2133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475569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08 </a:t>
            </a:r>
            <a:r>
              <a:rPr lang="en-US" sz="1200" dirty="0">
                <a:solidFill>
                  <a:srgbClr val="94A3B8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/ 20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685800"/>
            <a:ext cx="16874490" cy="2362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350" b="1" kern="0" spc="216" dirty="0">
                <a:solidFill>
                  <a:srgbClr val="0F5B4C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04 · MODEL 1 SARIMAX PEAK DEMAND FORECAST</a:t>
            </a:r>
            <a:endParaRPr lang="en-US" sz="1350" dirty="0"/>
          </a:p>
        </p:txBody>
      </p:sp>
      <p:sp>
        <p:nvSpPr>
          <p:cNvPr id="3" name="Text 1"/>
          <p:cNvSpPr/>
          <p:nvPr/>
        </p:nvSpPr>
        <p:spPr>
          <a:xfrm>
            <a:off x="952500" y="1055370"/>
            <a:ext cx="14716125" cy="12725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4500" b="1" kern="0" spc="-90" dirty="0">
                <a:solidFill>
                  <a:srgbClr val="0F172A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Peak demand reaches 295 GW by 2030 at a 3.5% CAGR</a:t>
            </a:r>
            <a:endParaRPr lang="en-US" sz="4500" dirty="0"/>
          </a:p>
        </p:txBody>
      </p:sp>
      <p:sp>
        <p:nvSpPr>
          <p:cNvPr id="4" name="Text 2"/>
          <p:cNvSpPr/>
          <p:nvPr/>
        </p:nvSpPr>
        <p:spPr>
          <a:xfrm>
            <a:off x="952500" y="2423160"/>
            <a:ext cx="14716125" cy="3724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950" dirty="0">
                <a:solidFill>
                  <a:srgbClr val="475569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SARIMAX(2,1,1) on 15 years of CEA annual peak demand — forecast band ±31 GW at 95% confidence.</a:t>
            </a:r>
            <a:endParaRPr lang="en-US" sz="1950" dirty="0"/>
          </a:p>
        </p:txBody>
      </p:sp>
      <p:sp>
        <p:nvSpPr>
          <p:cNvPr id="5" name="Shape 3"/>
          <p:cNvSpPr/>
          <p:nvPr/>
        </p:nvSpPr>
        <p:spPr>
          <a:xfrm>
            <a:off x="952500" y="3024188"/>
            <a:ext cx="609600" cy="38100"/>
          </a:xfrm>
          <a:prstGeom prst="roundRect">
            <a:avLst>
              <a:gd name="adj" fmla="val 50000"/>
            </a:avLst>
          </a:prstGeom>
          <a:solidFill>
            <a:srgbClr val="86BC25"/>
          </a:solidFill>
          <a:ln/>
        </p:spPr>
      </p:sp>
      <p:sp>
        <p:nvSpPr>
          <p:cNvPr id="6" name="Shape 4"/>
          <p:cNvSpPr/>
          <p:nvPr/>
        </p:nvSpPr>
        <p:spPr>
          <a:xfrm>
            <a:off x="952500" y="3328988"/>
            <a:ext cx="9906000" cy="6911340"/>
          </a:xfrm>
          <a:prstGeom prst="rect">
            <a:avLst/>
          </a:prstGeom>
          <a:ln w="7620">
            <a:solidFill>
              <a:srgbClr val="E5E7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226820" y="3546158"/>
            <a:ext cx="9638081" cy="1828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975" b="1" kern="0" spc="156" dirty="0">
                <a:solidFill>
                  <a:srgbClr val="475569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EXHIBIT 06</a:t>
            </a:r>
            <a:endParaRPr lang="en-US" sz="975" dirty="0"/>
          </a:p>
        </p:txBody>
      </p:sp>
      <p:sp>
        <p:nvSpPr>
          <p:cNvPr id="8" name="Text 6"/>
          <p:cNvSpPr/>
          <p:nvPr/>
        </p:nvSpPr>
        <p:spPr>
          <a:xfrm>
            <a:off x="1226820" y="3690937"/>
            <a:ext cx="9638081" cy="2819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650" b="1" dirty="0">
                <a:solidFill>
                  <a:srgbClr val="0F172A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Annual peak demand — actual + SARIMAX forecast (GW)</a:t>
            </a:r>
            <a:endParaRPr lang="en-US" sz="1650" dirty="0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26820" y="3934778"/>
            <a:ext cx="9357360" cy="5426392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11144250" y="3328988"/>
            <a:ext cx="6191250" cy="1318260"/>
          </a:xfrm>
          <a:prstGeom prst="rect">
            <a:avLst/>
          </a:prstGeom>
          <a:solidFill>
            <a:srgbClr val="0F5B4C"/>
          </a:solidFill>
          <a:ln w="7620">
            <a:solidFill>
              <a:srgbClr val="0F5B4C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11418570" y="3565208"/>
            <a:ext cx="5811889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4200" b="1" kern="0" spc="-84" dirty="0">
                <a:solidFill>
                  <a:srgbClr val="FFFFFF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295 </a:t>
            </a:r>
            <a:r>
              <a:rPr lang="en-US" sz="2100" b="1" kern="0" spc="-84" dirty="0">
                <a:solidFill>
                  <a:srgbClr val="FFFFFF">
                    <a:alpha val="75000"/>
                  </a:srgbClr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GW</a:t>
            </a:r>
            <a:endParaRPr lang="en-US" sz="4200" dirty="0"/>
          </a:p>
        </p:txBody>
      </p:sp>
      <p:sp>
        <p:nvSpPr>
          <p:cNvPr id="12" name="Text 9"/>
          <p:cNvSpPr/>
          <p:nvPr/>
        </p:nvSpPr>
        <p:spPr>
          <a:xfrm>
            <a:off x="11418570" y="4212908"/>
            <a:ext cx="5811889" cy="2362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350" kern="0" spc="54" dirty="0">
                <a:solidFill>
                  <a:srgbClr val="FFFFFF">
                    <a:alpha val="85000"/>
                  </a:srgbClr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2030 forecast peak demand</a:t>
            </a:r>
            <a:endParaRPr lang="en-US" sz="1350" dirty="0"/>
          </a:p>
        </p:txBody>
      </p:sp>
      <p:sp>
        <p:nvSpPr>
          <p:cNvPr id="13" name="Shape 10"/>
          <p:cNvSpPr/>
          <p:nvPr/>
        </p:nvSpPr>
        <p:spPr>
          <a:xfrm>
            <a:off x="11144250" y="4818697"/>
            <a:ext cx="6191250" cy="1318260"/>
          </a:xfrm>
          <a:prstGeom prst="rect">
            <a:avLst/>
          </a:prstGeom>
          <a:solidFill>
            <a:srgbClr val="FFFFFF"/>
          </a:solidFill>
          <a:ln w="7620">
            <a:solidFill>
              <a:srgbClr val="E5E7EB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11418570" y="5054918"/>
            <a:ext cx="5811889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4200" b="1" kern="0" spc="-84" dirty="0">
                <a:solidFill>
                  <a:srgbClr val="0F5B4C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3.5 </a:t>
            </a:r>
            <a:r>
              <a:rPr lang="en-US" sz="2100" b="1" kern="0" spc="-84" dirty="0">
                <a:solidFill>
                  <a:srgbClr val="475569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%</a:t>
            </a:r>
            <a:endParaRPr lang="en-US" sz="4200" dirty="0"/>
          </a:p>
        </p:txBody>
      </p:sp>
      <p:sp>
        <p:nvSpPr>
          <p:cNvPr id="15" name="Text 12"/>
          <p:cNvSpPr/>
          <p:nvPr/>
        </p:nvSpPr>
        <p:spPr>
          <a:xfrm>
            <a:off x="11418570" y="5702618"/>
            <a:ext cx="5811889" cy="2362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350" kern="0" spc="54" dirty="0">
                <a:solidFill>
                  <a:srgbClr val="475569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Compounded annual growth</a:t>
            </a:r>
            <a:endParaRPr lang="en-US" sz="1350" dirty="0"/>
          </a:p>
        </p:txBody>
      </p:sp>
      <p:sp>
        <p:nvSpPr>
          <p:cNvPr id="16" name="Shape 13"/>
          <p:cNvSpPr/>
          <p:nvPr/>
        </p:nvSpPr>
        <p:spPr>
          <a:xfrm>
            <a:off x="11144250" y="6308407"/>
            <a:ext cx="6191250" cy="1318260"/>
          </a:xfrm>
          <a:prstGeom prst="rect">
            <a:avLst/>
          </a:prstGeom>
          <a:solidFill>
            <a:srgbClr val="FFFFFF"/>
          </a:solidFill>
          <a:ln w="7620">
            <a:solidFill>
              <a:srgbClr val="E5E7EB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11418570" y="6544628"/>
            <a:ext cx="5811889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4200" b="1" kern="0" spc="-84" dirty="0">
                <a:solidFill>
                  <a:srgbClr val="0F5B4C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+54 </a:t>
            </a:r>
            <a:r>
              <a:rPr lang="en-US" sz="2100" b="1" kern="0" spc="-84" dirty="0">
                <a:solidFill>
                  <a:srgbClr val="475569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GW</a:t>
            </a:r>
            <a:endParaRPr lang="en-US" sz="4200" dirty="0"/>
          </a:p>
        </p:txBody>
      </p:sp>
      <p:sp>
        <p:nvSpPr>
          <p:cNvPr id="18" name="Text 15"/>
          <p:cNvSpPr/>
          <p:nvPr/>
        </p:nvSpPr>
        <p:spPr>
          <a:xfrm>
            <a:off x="11418570" y="7192328"/>
            <a:ext cx="5811889" cy="2362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350" kern="0" spc="54" dirty="0">
                <a:solidFill>
                  <a:srgbClr val="475569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Above 2025 peak</a:t>
            </a:r>
            <a:endParaRPr lang="en-US" sz="1350" dirty="0"/>
          </a:p>
        </p:txBody>
      </p:sp>
      <p:sp>
        <p:nvSpPr>
          <p:cNvPr id="19" name="Shape 16"/>
          <p:cNvSpPr/>
          <p:nvPr/>
        </p:nvSpPr>
        <p:spPr>
          <a:xfrm>
            <a:off x="11144250" y="7798118"/>
            <a:ext cx="6191250" cy="1318260"/>
          </a:xfrm>
          <a:prstGeom prst="rect">
            <a:avLst/>
          </a:prstGeom>
          <a:solidFill>
            <a:srgbClr val="FFFFFF"/>
          </a:solidFill>
          <a:ln w="7620">
            <a:solidFill>
              <a:srgbClr val="E5E7EB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11418570" y="8034338"/>
            <a:ext cx="5811889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4200" b="1" kern="0" spc="-84" dirty="0">
                <a:solidFill>
                  <a:srgbClr val="0F5B4C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±31 </a:t>
            </a:r>
            <a:r>
              <a:rPr lang="en-US" sz="2100" b="1" kern="0" spc="-84" dirty="0">
                <a:solidFill>
                  <a:srgbClr val="475569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GW</a:t>
            </a:r>
            <a:endParaRPr lang="en-US" sz="4200" dirty="0"/>
          </a:p>
        </p:txBody>
      </p:sp>
      <p:sp>
        <p:nvSpPr>
          <p:cNvPr id="21" name="Text 18"/>
          <p:cNvSpPr/>
          <p:nvPr/>
        </p:nvSpPr>
        <p:spPr>
          <a:xfrm>
            <a:off x="11418570" y="8682038"/>
            <a:ext cx="5811889" cy="2362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350" kern="0" spc="54" dirty="0">
                <a:solidFill>
                  <a:srgbClr val="475569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95% confidence interval</a:t>
            </a:r>
            <a:endParaRPr lang="en-US" sz="1350" dirty="0"/>
          </a:p>
        </p:txBody>
      </p:sp>
      <p:sp>
        <p:nvSpPr>
          <p:cNvPr id="22" name="Shape 19"/>
          <p:cNvSpPr/>
          <p:nvPr/>
        </p:nvSpPr>
        <p:spPr>
          <a:xfrm>
            <a:off x="11144250" y="9287828"/>
            <a:ext cx="6191250" cy="952500"/>
          </a:xfrm>
          <a:prstGeom prst="rect">
            <a:avLst/>
          </a:prstGeom>
          <a:solidFill>
            <a:srgbClr val="F8FAF7"/>
          </a:solidFill>
          <a:ln/>
        </p:spPr>
      </p:sp>
      <p:sp>
        <p:nvSpPr>
          <p:cNvPr id="23" name="Shape 20"/>
          <p:cNvSpPr/>
          <p:nvPr/>
        </p:nvSpPr>
        <p:spPr>
          <a:xfrm>
            <a:off x="11144250" y="9287828"/>
            <a:ext cx="38100" cy="952500"/>
          </a:xfrm>
          <a:prstGeom prst="rect">
            <a:avLst/>
          </a:prstGeom>
          <a:solidFill>
            <a:srgbClr val="86BC25"/>
          </a:solidFill>
          <a:ln/>
        </p:spPr>
      </p:sp>
      <p:sp>
        <p:nvSpPr>
          <p:cNvPr id="24" name="Text 21"/>
          <p:cNvSpPr/>
          <p:nvPr/>
        </p:nvSpPr>
        <p:spPr>
          <a:xfrm>
            <a:off x="11449050" y="9535478"/>
            <a:ext cx="864037" cy="1981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050" b="1" kern="0" spc="189" dirty="0">
                <a:solidFill>
                  <a:srgbClr val="0F5B4C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SO WHAT</a:t>
            </a:r>
            <a:endParaRPr lang="en-US" sz="1050" dirty="0"/>
          </a:p>
        </p:txBody>
      </p:sp>
      <p:sp>
        <p:nvSpPr>
          <p:cNvPr id="25" name="Text 22"/>
          <p:cNvSpPr/>
          <p:nvPr/>
        </p:nvSpPr>
        <p:spPr>
          <a:xfrm>
            <a:off x="12465487" y="9497378"/>
            <a:ext cx="4741413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500" dirty="0">
                <a:solidFill>
                  <a:srgbClr val="0F172A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Even at the lower bound, India must build 30 GW of new firm capacity per year to 2030.</a:t>
            </a:r>
            <a:endParaRPr lang="en-US" sz="1500" dirty="0"/>
          </a:p>
        </p:txBody>
      </p:sp>
      <p:sp>
        <p:nvSpPr>
          <p:cNvPr id="26" name="Shape 23"/>
          <p:cNvSpPr/>
          <p:nvPr/>
        </p:nvSpPr>
        <p:spPr>
          <a:xfrm>
            <a:off x="952500" y="9904095"/>
            <a:ext cx="16383000" cy="31623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7" name="Shape 24"/>
          <p:cNvSpPr/>
          <p:nvPr/>
        </p:nvSpPr>
        <p:spPr>
          <a:xfrm>
            <a:off x="952500" y="9627870"/>
            <a:ext cx="16383000" cy="9525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28" name="Text 25"/>
          <p:cNvSpPr/>
          <p:nvPr/>
        </p:nvSpPr>
        <p:spPr>
          <a:xfrm>
            <a:off x="952500" y="9772650"/>
            <a:ext cx="2388156" cy="2057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lnSpcReduction="10000"/>
          </a:bodyPr>
          <a:lstStyle/>
          <a:p>
            <a:pPr marL="0" indent="0" algn="l">
              <a:buNone/>
            </a:pPr>
            <a:r>
              <a:rPr lang="en-US" sz="1125" b="1" kern="0" spc="90" dirty="0">
                <a:solidFill>
                  <a:srgbClr val="0F5B4C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STRATEGY &amp; OPERATIONS</a:t>
            </a:r>
            <a:endParaRPr lang="en-US" sz="1125" dirty="0"/>
          </a:p>
        </p:txBody>
      </p:sp>
      <p:sp>
        <p:nvSpPr>
          <p:cNvPr id="29" name="Text 26"/>
          <p:cNvSpPr/>
          <p:nvPr/>
        </p:nvSpPr>
        <p:spPr>
          <a:xfrm>
            <a:off x="7255366" y="10073640"/>
            <a:ext cx="5592005" cy="2133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200" kern="0" spc="48" dirty="0">
                <a:solidFill>
                  <a:srgbClr val="94A3B8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Source: CEA annual reports 2010–2024 · SARIMAX(2,1,1) fit, AIC = 102.4</a:t>
            </a:r>
            <a:endParaRPr lang="en-US" sz="1200" dirty="0"/>
          </a:p>
        </p:txBody>
      </p:sp>
      <p:sp>
        <p:nvSpPr>
          <p:cNvPr id="30" name="Text 27"/>
          <p:cNvSpPr/>
          <p:nvPr/>
        </p:nvSpPr>
        <p:spPr>
          <a:xfrm>
            <a:off x="16869370" y="9768840"/>
            <a:ext cx="542330" cy="2133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475569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09 </a:t>
            </a:r>
            <a:r>
              <a:rPr lang="en-US" sz="1200" dirty="0">
                <a:solidFill>
                  <a:srgbClr val="94A3B8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/ 20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685800"/>
            <a:ext cx="16874490" cy="2362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350" b="1" kern="0" spc="216" dirty="0">
                <a:solidFill>
                  <a:srgbClr val="0F5B4C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04 · MODEL 2 EOQ INVENTORY ANALYSIS</a:t>
            </a:r>
            <a:endParaRPr lang="en-US" sz="1350" dirty="0"/>
          </a:p>
        </p:txBody>
      </p:sp>
      <p:sp>
        <p:nvSpPr>
          <p:cNvPr id="3" name="Text 1"/>
          <p:cNvSpPr/>
          <p:nvPr/>
        </p:nvSpPr>
        <p:spPr>
          <a:xfrm>
            <a:off x="952500" y="1055370"/>
            <a:ext cx="14716125" cy="12725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4500" b="1" kern="0" spc="-90" dirty="0">
                <a:solidFill>
                  <a:srgbClr val="0F172A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October 2021 was a supply-chain failure, not a coal shortage</a:t>
            </a:r>
            <a:endParaRPr lang="en-US" sz="4500" dirty="0"/>
          </a:p>
        </p:txBody>
      </p:sp>
      <p:sp>
        <p:nvSpPr>
          <p:cNvPr id="4" name="Text 2"/>
          <p:cNvSpPr/>
          <p:nvPr/>
        </p:nvSpPr>
        <p:spPr>
          <a:xfrm>
            <a:off x="952500" y="2423160"/>
            <a:ext cx="14716125" cy="3724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950" dirty="0">
                <a:solidFill>
                  <a:srgbClr val="475569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EOQ ordering norms were violated at 100+ thermal plants. The crisis was structural and is preventable with monitoring.</a:t>
            </a:r>
            <a:endParaRPr lang="en-US" sz="1950" dirty="0"/>
          </a:p>
        </p:txBody>
      </p:sp>
      <p:sp>
        <p:nvSpPr>
          <p:cNvPr id="5" name="Shape 3"/>
          <p:cNvSpPr/>
          <p:nvPr/>
        </p:nvSpPr>
        <p:spPr>
          <a:xfrm>
            <a:off x="952500" y="3024188"/>
            <a:ext cx="609600" cy="38100"/>
          </a:xfrm>
          <a:prstGeom prst="roundRect">
            <a:avLst>
              <a:gd name="adj" fmla="val 50000"/>
            </a:avLst>
          </a:prstGeom>
          <a:solidFill>
            <a:srgbClr val="86BC25"/>
          </a:solidFill>
          <a:ln/>
        </p:spPr>
      </p:sp>
      <p:sp>
        <p:nvSpPr>
          <p:cNvPr id="6" name="Shape 4"/>
          <p:cNvSpPr/>
          <p:nvPr/>
        </p:nvSpPr>
        <p:spPr>
          <a:xfrm>
            <a:off x="952500" y="3328988"/>
            <a:ext cx="8431887" cy="5719763"/>
          </a:xfrm>
          <a:prstGeom prst="rect">
            <a:avLst/>
          </a:prstGeom>
          <a:ln w="7620">
            <a:solidFill>
              <a:srgbClr val="E5E7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226820" y="3546158"/>
            <a:ext cx="8119745" cy="1828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975" b="1" kern="0" spc="156" dirty="0">
                <a:solidFill>
                  <a:srgbClr val="475569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EXHIBIT 07</a:t>
            </a:r>
            <a:endParaRPr lang="en-US" sz="975" dirty="0"/>
          </a:p>
        </p:txBody>
      </p:sp>
      <p:sp>
        <p:nvSpPr>
          <p:cNvPr id="8" name="Text 6"/>
          <p:cNvSpPr/>
          <p:nvPr/>
        </p:nvSpPr>
        <p:spPr>
          <a:xfrm>
            <a:off x="1226820" y="3690937"/>
            <a:ext cx="8119745" cy="2819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650" b="1" dirty="0">
                <a:solidFill>
                  <a:srgbClr val="0F172A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Coal stock days at thermal fleet · 2020–22</a:t>
            </a:r>
            <a:endParaRPr lang="en-US" sz="1650" dirty="0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26820" y="3934777"/>
            <a:ext cx="7883247" cy="5113973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9670137" y="3328988"/>
            <a:ext cx="7665363" cy="2179320"/>
          </a:xfrm>
          <a:prstGeom prst="rect">
            <a:avLst/>
          </a:prstGeom>
          <a:solidFill>
            <a:srgbClr val="F8FAF7"/>
          </a:solidFill>
          <a:ln w="7620">
            <a:solidFill>
              <a:srgbClr val="E5E7EB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9944457" y="3565208"/>
            <a:ext cx="7330225" cy="1828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975" b="1" kern="0" spc="156" dirty="0">
                <a:solidFill>
                  <a:srgbClr val="0F5B4C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EOQ FORMULA</a:t>
            </a:r>
            <a:endParaRPr lang="en-US" sz="975" dirty="0"/>
          </a:p>
        </p:txBody>
      </p:sp>
      <p:sp>
        <p:nvSpPr>
          <p:cNvPr id="12" name="Text 9"/>
          <p:cNvSpPr/>
          <p:nvPr/>
        </p:nvSpPr>
        <p:spPr>
          <a:xfrm>
            <a:off x="9944457" y="3843338"/>
            <a:ext cx="4741536" cy="716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40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Q* = √(2DS / H)</a:t>
            </a:r>
            <a:endParaRPr lang="en-US" sz="4050" dirty="0"/>
          </a:p>
        </p:txBody>
      </p:sp>
      <p:sp>
        <p:nvSpPr>
          <p:cNvPr id="13" name="Text 10"/>
          <p:cNvSpPr/>
          <p:nvPr/>
        </p:nvSpPr>
        <p:spPr>
          <a:xfrm>
            <a:off x="9944457" y="4692968"/>
            <a:ext cx="1755338" cy="2971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0F5B4C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D</a:t>
            </a:r>
            <a:endParaRPr lang="en-US" sz="1800" dirty="0"/>
          </a:p>
        </p:txBody>
      </p:sp>
      <p:sp>
        <p:nvSpPr>
          <p:cNvPr id="14" name="Text 11"/>
          <p:cNvSpPr/>
          <p:nvPr/>
        </p:nvSpPr>
        <p:spPr>
          <a:xfrm>
            <a:off x="9944457" y="4952048"/>
            <a:ext cx="1755338" cy="358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475569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Daily coal demand (rake/day)</a:t>
            </a:r>
            <a:endParaRPr lang="en-US" sz="1050" dirty="0"/>
          </a:p>
        </p:txBody>
      </p:sp>
      <p:sp>
        <p:nvSpPr>
          <p:cNvPr id="15" name="Text 12"/>
          <p:cNvSpPr/>
          <p:nvPr/>
        </p:nvSpPr>
        <p:spPr>
          <a:xfrm>
            <a:off x="11756946" y="4692968"/>
            <a:ext cx="1755338" cy="2971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0F5B4C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S</a:t>
            </a:r>
            <a:endParaRPr lang="en-US" sz="1800" dirty="0"/>
          </a:p>
        </p:txBody>
      </p:sp>
      <p:sp>
        <p:nvSpPr>
          <p:cNvPr id="16" name="Text 13"/>
          <p:cNvSpPr/>
          <p:nvPr/>
        </p:nvSpPr>
        <p:spPr>
          <a:xfrm>
            <a:off x="11756946" y="4952048"/>
            <a:ext cx="1755338" cy="1981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475569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Order cost ~₹3 Cr/rake</a:t>
            </a:r>
            <a:endParaRPr lang="en-US" sz="1050" dirty="0"/>
          </a:p>
        </p:txBody>
      </p:sp>
      <p:sp>
        <p:nvSpPr>
          <p:cNvPr id="17" name="Text 14"/>
          <p:cNvSpPr/>
          <p:nvPr/>
        </p:nvSpPr>
        <p:spPr>
          <a:xfrm>
            <a:off x="13569435" y="4692968"/>
            <a:ext cx="1755338" cy="2971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0F5B4C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H</a:t>
            </a:r>
            <a:endParaRPr lang="en-US" sz="1800" dirty="0"/>
          </a:p>
        </p:txBody>
      </p:sp>
      <p:sp>
        <p:nvSpPr>
          <p:cNvPr id="18" name="Text 15"/>
          <p:cNvSpPr/>
          <p:nvPr/>
        </p:nvSpPr>
        <p:spPr>
          <a:xfrm>
            <a:off x="13569435" y="4952048"/>
            <a:ext cx="1755338" cy="1981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475569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Holding cost ~₹150/T·day</a:t>
            </a:r>
            <a:endParaRPr lang="en-US" sz="1050" dirty="0"/>
          </a:p>
        </p:txBody>
      </p:sp>
      <p:sp>
        <p:nvSpPr>
          <p:cNvPr id="19" name="Text 16"/>
          <p:cNvSpPr/>
          <p:nvPr/>
        </p:nvSpPr>
        <p:spPr>
          <a:xfrm>
            <a:off x="15381923" y="4692968"/>
            <a:ext cx="1755458" cy="2971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0F5B4C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ROP</a:t>
            </a:r>
            <a:endParaRPr lang="en-US" sz="1800" dirty="0"/>
          </a:p>
        </p:txBody>
      </p:sp>
      <p:sp>
        <p:nvSpPr>
          <p:cNvPr id="20" name="Text 17"/>
          <p:cNvSpPr/>
          <p:nvPr/>
        </p:nvSpPr>
        <p:spPr>
          <a:xfrm>
            <a:off x="15381923" y="4952048"/>
            <a:ext cx="1755458" cy="1981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475569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Norm × D = trigger</a:t>
            </a:r>
            <a:endParaRPr lang="en-US" sz="1050" dirty="0"/>
          </a:p>
        </p:txBody>
      </p:sp>
      <p:sp>
        <p:nvSpPr>
          <p:cNvPr id="21" name="Shape 18"/>
          <p:cNvSpPr/>
          <p:nvPr/>
        </p:nvSpPr>
        <p:spPr>
          <a:xfrm>
            <a:off x="9670137" y="5679757"/>
            <a:ext cx="7665363" cy="1379220"/>
          </a:xfrm>
          <a:prstGeom prst="rect">
            <a:avLst/>
          </a:prstGeom>
          <a:solidFill>
            <a:srgbClr val="F8FAF7"/>
          </a:solidFill>
          <a:ln/>
        </p:spPr>
      </p:sp>
      <p:sp>
        <p:nvSpPr>
          <p:cNvPr id="22" name="Shape 19"/>
          <p:cNvSpPr/>
          <p:nvPr/>
        </p:nvSpPr>
        <p:spPr>
          <a:xfrm>
            <a:off x="9670137" y="5679757"/>
            <a:ext cx="38100" cy="1379220"/>
          </a:xfrm>
          <a:prstGeom prst="rect">
            <a:avLst/>
          </a:prstGeom>
          <a:solidFill>
            <a:srgbClr val="86BC25"/>
          </a:solidFill>
          <a:ln/>
        </p:spPr>
      </p:sp>
      <p:sp>
        <p:nvSpPr>
          <p:cNvPr id="23" name="Text 20"/>
          <p:cNvSpPr/>
          <p:nvPr/>
        </p:nvSpPr>
        <p:spPr>
          <a:xfrm>
            <a:off x="9974938" y="5927407"/>
            <a:ext cx="1040606" cy="1981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050" b="1" kern="0" spc="189" dirty="0">
                <a:solidFill>
                  <a:srgbClr val="0F5B4C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DIAGNOSIS</a:t>
            </a:r>
            <a:endParaRPr lang="en-US" sz="1050" dirty="0"/>
          </a:p>
        </p:txBody>
      </p:sp>
      <p:sp>
        <p:nvSpPr>
          <p:cNvPr id="24" name="Text 21"/>
          <p:cNvSpPr/>
          <p:nvPr/>
        </p:nvSpPr>
        <p:spPr>
          <a:xfrm>
            <a:off x="11167944" y="5889307"/>
            <a:ext cx="6077882" cy="9982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800" dirty="0">
                <a:solidFill>
                  <a:srgbClr val="0F172A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EOQ-compliant ordering would have triggered restock when stock days fell below 22 — three weeks before the Oct'21 crisis.</a:t>
            </a:r>
            <a:endParaRPr lang="en-US" sz="1800" dirty="0"/>
          </a:p>
        </p:txBody>
      </p:sp>
      <p:sp>
        <p:nvSpPr>
          <p:cNvPr id="25" name="Shape 22"/>
          <p:cNvSpPr/>
          <p:nvPr/>
        </p:nvSpPr>
        <p:spPr>
          <a:xfrm>
            <a:off x="952500" y="9627870"/>
            <a:ext cx="16383000" cy="31623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6" name="Shape 23"/>
          <p:cNvSpPr/>
          <p:nvPr/>
        </p:nvSpPr>
        <p:spPr>
          <a:xfrm>
            <a:off x="952500" y="9627870"/>
            <a:ext cx="16383000" cy="9525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27" name="Text 24"/>
          <p:cNvSpPr/>
          <p:nvPr/>
        </p:nvSpPr>
        <p:spPr>
          <a:xfrm>
            <a:off x="952500" y="9772650"/>
            <a:ext cx="2388156" cy="2057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lnSpcReduction="10000"/>
          </a:bodyPr>
          <a:lstStyle/>
          <a:p>
            <a:pPr marL="0" indent="0" algn="l">
              <a:buNone/>
            </a:pPr>
            <a:r>
              <a:rPr lang="en-US" sz="1125" b="1" kern="0" spc="90" dirty="0">
                <a:solidFill>
                  <a:srgbClr val="0F5B4C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STRATEGY &amp; OPERATIONS</a:t>
            </a:r>
            <a:endParaRPr lang="en-US" sz="1125" dirty="0"/>
          </a:p>
        </p:txBody>
      </p:sp>
      <p:sp>
        <p:nvSpPr>
          <p:cNvPr id="28" name="Text 25"/>
          <p:cNvSpPr/>
          <p:nvPr/>
        </p:nvSpPr>
        <p:spPr>
          <a:xfrm>
            <a:off x="7023973" y="9768840"/>
            <a:ext cx="6268579" cy="2133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200" kern="0" spc="48" dirty="0">
                <a:solidFill>
                  <a:srgbClr val="94A3B8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Source: NPP / MoP daily coal stock series 2020–2022; CEA normative stock norms</a:t>
            </a:r>
            <a:endParaRPr lang="en-US" sz="1200" dirty="0"/>
          </a:p>
        </p:txBody>
      </p:sp>
      <p:sp>
        <p:nvSpPr>
          <p:cNvPr id="29" name="Text 26"/>
          <p:cNvSpPr/>
          <p:nvPr/>
        </p:nvSpPr>
        <p:spPr>
          <a:xfrm>
            <a:off x="16869370" y="9768840"/>
            <a:ext cx="542330" cy="2133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475569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10 </a:t>
            </a:r>
            <a:r>
              <a:rPr lang="en-US" sz="1200" dirty="0">
                <a:solidFill>
                  <a:srgbClr val="94A3B8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/ 20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685800"/>
            <a:ext cx="16874490" cy="2362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350" b="1" kern="0" spc="216" dirty="0">
                <a:solidFill>
                  <a:srgbClr val="0F5B4C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04 · MODEL 3 LP OPTIMISATION + COUNTERFACTUAL</a:t>
            </a:r>
            <a:endParaRPr lang="en-US" sz="1350" dirty="0"/>
          </a:p>
        </p:txBody>
      </p:sp>
      <p:sp>
        <p:nvSpPr>
          <p:cNvPr id="3" name="Text 1"/>
          <p:cNvSpPr/>
          <p:nvPr/>
        </p:nvSpPr>
        <p:spPr>
          <a:xfrm>
            <a:off x="952500" y="1055370"/>
            <a:ext cx="14716125" cy="12725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4500" b="1" kern="0" spc="-90" dirty="0">
                <a:solidFill>
                  <a:srgbClr val="0F172A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Even at 500 GW solar, coal at 8 PM falls only to 70 GW — not zero</a:t>
            </a:r>
            <a:endParaRPr lang="en-US" sz="4500" dirty="0"/>
          </a:p>
        </p:txBody>
      </p:sp>
      <p:sp>
        <p:nvSpPr>
          <p:cNvPr id="4" name="Text 2"/>
          <p:cNvSpPr/>
          <p:nvPr/>
        </p:nvSpPr>
        <p:spPr>
          <a:xfrm>
            <a:off x="952500" y="2423160"/>
            <a:ext cx="14716125" cy="3724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950" dirty="0">
                <a:solidFill>
                  <a:srgbClr val="475569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PuLP minimum-cost dispatch across seven sources, four carbon-price scenarios, and the 500 GW counterfactual.</a:t>
            </a:r>
            <a:endParaRPr lang="en-US" sz="1950" dirty="0"/>
          </a:p>
        </p:txBody>
      </p:sp>
      <p:sp>
        <p:nvSpPr>
          <p:cNvPr id="5" name="Shape 3"/>
          <p:cNvSpPr/>
          <p:nvPr/>
        </p:nvSpPr>
        <p:spPr>
          <a:xfrm>
            <a:off x="952500" y="3024188"/>
            <a:ext cx="609600" cy="38100"/>
          </a:xfrm>
          <a:prstGeom prst="roundRect">
            <a:avLst>
              <a:gd name="adj" fmla="val 50000"/>
            </a:avLst>
          </a:prstGeom>
          <a:solidFill>
            <a:srgbClr val="86BC25"/>
          </a:solidFill>
          <a:ln/>
        </p:spPr>
      </p:sp>
      <p:sp>
        <p:nvSpPr>
          <p:cNvPr id="6" name="Shape 4"/>
          <p:cNvSpPr/>
          <p:nvPr/>
        </p:nvSpPr>
        <p:spPr>
          <a:xfrm>
            <a:off x="952500" y="3328988"/>
            <a:ext cx="8048625" cy="4431983"/>
          </a:xfrm>
          <a:prstGeom prst="rect">
            <a:avLst/>
          </a:prstGeom>
          <a:ln w="7620">
            <a:solidFill>
              <a:srgbClr val="E5E7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226820" y="3546158"/>
            <a:ext cx="7724985" cy="1828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975" b="1" kern="0" spc="156" dirty="0">
                <a:solidFill>
                  <a:srgbClr val="475569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EXHIBIT 08A</a:t>
            </a:r>
            <a:endParaRPr lang="en-US" sz="975" dirty="0"/>
          </a:p>
        </p:txBody>
      </p:sp>
      <p:sp>
        <p:nvSpPr>
          <p:cNvPr id="8" name="Text 6"/>
          <p:cNvSpPr/>
          <p:nvPr/>
        </p:nvSpPr>
        <p:spPr>
          <a:xfrm>
            <a:off x="1226820" y="3690937"/>
            <a:ext cx="7724985" cy="2743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575" b="1" dirty="0">
                <a:solidFill>
                  <a:srgbClr val="0F172A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Optimal hourly dispatch · today (GW)</a:t>
            </a:r>
            <a:endParaRPr lang="en-US" sz="1575" dirty="0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26820" y="3927157"/>
            <a:ext cx="7499985" cy="3755707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1226820" y="7512896"/>
            <a:ext cx="133350" cy="133350"/>
          </a:xfrm>
          <a:prstGeom prst="roundRect">
            <a:avLst>
              <a:gd name="adj" fmla="val 14286"/>
            </a:avLst>
          </a:prstGeom>
          <a:solidFill>
            <a:srgbClr val="1F2937"/>
          </a:solidFill>
          <a:ln/>
        </p:spPr>
      </p:sp>
      <p:sp>
        <p:nvSpPr>
          <p:cNvPr id="11" name="Text 8"/>
          <p:cNvSpPr/>
          <p:nvPr/>
        </p:nvSpPr>
        <p:spPr>
          <a:xfrm>
            <a:off x="1436370" y="7480512"/>
            <a:ext cx="42886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350" dirty="0">
                <a:solidFill>
                  <a:srgbClr val="475569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Coal</a:t>
            </a:r>
            <a:endParaRPr lang="en-US" sz="1350" dirty="0"/>
          </a:p>
        </p:txBody>
      </p:sp>
      <p:sp>
        <p:nvSpPr>
          <p:cNvPr id="12" name="Shape 9"/>
          <p:cNvSpPr/>
          <p:nvPr/>
        </p:nvSpPr>
        <p:spPr>
          <a:xfrm>
            <a:off x="2017633" y="7512896"/>
            <a:ext cx="133350" cy="133350"/>
          </a:xfrm>
          <a:prstGeom prst="roundRect">
            <a:avLst>
              <a:gd name="adj" fmla="val 14286"/>
            </a:avLst>
          </a:prstGeom>
          <a:solidFill>
            <a:srgbClr val="94A3B8"/>
          </a:solidFill>
          <a:ln/>
        </p:spPr>
      </p:sp>
      <p:sp>
        <p:nvSpPr>
          <p:cNvPr id="13" name="Text 10"/>
          <p:cNvSpPr/>
          <p:nvPr/>
        </p:nvSpPr>
        <p:spPr>
          <a:xfrm>
            <a:off x="2227183" y="7480512"/>
            <a:ext cx="53363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350" dirty="0">
                <a:solidFill>
                  <a:srgbClr val="475569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Hydro</a:t>
            </a:r>
            <a:endParaRPr lang="en-US" sz="1350" dirty="0"/>
          </a:p>
        </p:txBody>
      </p:sp>
      <p:sp>
        <p:nvSpPr>
          <p:cNvPr id="14" name="Shape 11"/>
          <p:cNvSpPr/>
          <p:nvPr/>
        </p:nvSpPr>
        <p:spPr>
          <a:xfrm>
            <a:off x="2913221" y="7512896"/>
            <a:ext cx="133350" cy="133350"/>
          </a:xfrm>
          <a:prstGeom prst="roundRect">
            <a:avLst>
              <a:gd name="adj" fmla="val 14286"/>
            </a:avLst>
          </a:prstGeom>
          <a:solidFill>
            <a:srgbClr val="0F5B4C"/>
          </a:solidFill>
          <a:ln/>
        </p:spPr>
      </p:sp>
      <p:sp>
        <p:nvSpPr>
          <p:cNvPr id="15" name="Text 12"/>
          <p:cNvSpPr/>
          <p:nvPr/>
        </p:nvSpPr>
        <p:spPr>
          <a:xfrm>
            <a:off x="3122771" y="7480512"/>
            <a:ext cx="46684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350" dirty="0">
                <a:solidFill>
                  <a:srgbClr val="475569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Wind</a:t>
            </a:r>
            <a:endParaRPr lang="en-US" sz="1350" dirty="0"/>
          </a:p>
        </p:txBody>
      </p:sp>
      <p:sp>
        <p:nvSpPr>
          <p:cNvPr id="16" name="Shape 13"/>
          <p:cNvSpPr/>
          <p:nvPr/>
        </p:nvSpPr>
        <p:spPr>
          <a:xfrm>
            <a:off x="3742015" y="7512896"/>
            <a:ext cx="133350" cy="133350"/>
          </a:xfrm>
          <a:prstGeom prst="roundRect">
            <a:avLst>
              <a:gd name="adj" fmla="val 14286"/>
            </a:avLst>
          </a:prstGeom>
          <a:solidFill>
            <a:srgbClr val="86BC25"/>
          </a:solidFill>
          <a:ln/>
        </p:spPr>
      </p:sp>
      <p:sp>
        <p:nvSpPr>
          <p:cNvPr id="17" name="Text 14"/>
          <p:cNvSpPr/>
          <p:nvPr/>
        </p:nvSpPr>
        <p:spPr>
          <a:xfrm>
            <a:off x="3951565" y="7480512"/>
            <a:ext cx="4764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350" dirty="0">
                <a:solidFill>
                  <a:srgbClr val="475569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Solar</a:t>
            </a:r>
            <a:endParaRPr lang="en-US" sz="1350" dirty="0"/>
          </a:p>
        </p:txBody>
      </p:sp>
      <p:sp>
        <p:nvSpPr>
          <p:cNvPr id="18" name="Shape 15"/>
          <p:cNvSpPr/>
          <p:nvPr/>
        </p:nvSpPr>
        <p:spPr>
          <a:xfrm>
            <a:off x="4580454" y="7512896"/>
            <a:ext cx="133350" cy="133350"/>
          </a:xfrm>
          <a:prstGeom prst="roundRect">
            <a:avLst>
              <a:gd name="adj" fmla="val 14286"/>
            </a:avLst>
          </a:prstGeom>
          <a:solidFill>
            <a:srgbClr val="F59E0B"/>
          </a:solidFill>
          <a:ln/>
        </p:spPr>
      </p:sp>
      <p:sp>
        <p:nvSpPr>
          <p:cNvPr id="19" name="Text 16"/>
          <p:cNvSpPr/>
          <p:nvPr/>
        </p:nvSpPr>
        <p:spPr>
          <a:xfrm>
            <a:off x="4790004" y="7480512"/>
            <a:ext cx="96250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350" dirty="0">
                <a:solidFill>
                  <a:srgbClr val="475569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Gas peaker</a:t>
            </a:r>
            <a:endParaRPr lang="en-US" sz="1350" dirty="0"/>
          </a:p>
        </p:txBody>
      </p:sp>
      <p:sp>
        <p:nvSpPr>
          <p:cNvPr id="20" name="Shape 17"/>
          <p:cNvSpPr/>
          <p:nvPr/>
        </p:nvSpPr>
        <p:spPr>
          <a:xfrm>
            <a:off x="9286875" y="3328988"/>
            <a:ext cx="8048625" cy="4431983"/>
          </a:xfrm>
          <a:prstGeom prst="rect">
            <a:avLst/>
          </a:prstGeom>
          <a:ln w="7620">
            <a:solidFill>
              <a:srgbClr val="E5E7EB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9561195" y="3546158"/>
            <a:ext cx="7724985" cy="1828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975" b="1" kern="0" spc="156" dirty="0">
                <a:solidFill>
                  <a:srgbClr val="475569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EXHIBIT 08B</a:t>
            </a:r>
            <a:endParaRPr lang="en-US" sz="975" dirty="0"/>
          </a:p>
        </p:txBody>
      </p:sp>
      <p:sp>
        <p:nvSpPr>
          <p:cNvPr id="22" name="Text 19"/>
          <p:cNvSpPr/>
          <p:nvPr/>
        </p:nvSpPr>
        <p:spPr>
          <a:xfrm>
            <a:off x="9561195" y="3690937"/>
            <a:ext cx="7724985" cy="2743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575" b="1" dirty="0">
                <a:solidFill>
                  <a:srgbClr val="0F172A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Coal at 8 PM — counterfactual scenarios (GW)</a:t>
            </a:r>
            <a:endParaRPr lang="en-US" sz="1575" dirty="0"/>
          </a:p>
        </p:txBody>
      </p:sp>
      <p:pic>
        <p:nvPicPr>
          <p:cNvPr id="2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61195" y="3927158"/>
            <a:ext cx="7499985" cy="3890962"/>
          </a:xfrm>
          <a:prstGeom prst="rect">
            <a:avLst/>
          </a:prstGeom>
        </p:spPr>
      </p:pic>
      <p:sp>
        <p:nvSpPr>
          <p:cNvPr id="24" name="Shape 20"/>
          <p:cNvSpPr/>
          <p:nvPr/>
        </p:nvSpPr>
        <p:spPr>
          <a:xfrm>
            <a:off x="952500" y="7989570"/>
            <a:ext cx="16383000" cy="1059180"/>
          </a:xfrm>
          <a:prstGeom prst="rect">
            <a:avLst/>
          </a:prstGeom>
          <a:solidFill>
            <a:srgbClr val="F8FAF7"/>
          </a:solidFill>
          <a:ln/>
        </p:spPr>
      </p:sp>
      <p:sp>
        <p:nvSpPr>
          <p:cNvPr id="25" name="Shape 21"/>
          <p:cNvSpPr/>
          <p:nvPr/>
        </p:nvSpPr>
        <p:spPr>
          <a:xfrm>
            <a:off x="952500" y="7989570"/>
            <a:ext cx="38100" cy="1059180"/>
          </a:xfrm>
          <a:prstGeom prst="rect">
            <a:avLst/>
          </a:prstGeom>
          <a:solidFill>
            <a:srgbClr val="86BC25"/>
          </a:solidFill>
          <a:ln/>
        </p:spPr>
      </p:sp>
      <p:sp>
        <p:nvSpPr>
          <p:cNvPr id="26" name="Text 22"/>
          <p:cNvSpPr/>
          <p:nvPr/>
        </p:nvSpPr>
        <p:spPr>
          <a:xfrm>
            <a:off x="1257300" y="8237220"/>
            <a:ext cx="1197293" cy="1981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050" b="1" kern="0" spc="189" dirty="0">
                <a:solidFill>
                  <a:srgbClr val="0F5B4C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KEY FINDING</a:t>
            </a:r>
            <a:endParaRPr lang="en-US" sz="1050" dirty="0"/>
          </a:p>
        </p:txBody>
      </p:sp>
      <p:sp>
        <p:nvSpPr>
          <p:cNvPr id="27" name="Text 23"/>
          <p:cNvSpPr/>
          <p:nvPr/>
        </p:nvSpPr>
        <p:spPr>
          <a:xfrm>
            <a:off x="2606993" y="8199120"/>
            <a:ext cx="14895662" cy="6781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800" dirty="0">
                <a:solidFill>
                  <a:srgbClr val="0F172A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Coal does not disappear from the 8 PM peak without 24/7 battery storage. The transition is not solar-only — it is solar + storage + carbon pricing.</a:t>
            </a:r>
            <a:endParaRPr lang="en-US" sz="1800" dirty="0"/>
          </a:p>
        </p:txBody>
      </p:sp>
      <p:sp>
        <p:nvSpPr>
          <p:cNvPr id="28" name="Shape 24"/>
          <p:cNvSpPr/>
          <p:nvPr/>
        </p:nvSpPr>
        <p:spPr>
          <a:xfrm>
            <a:off x="952500" y="9627870"/>
            <a:ext cx="16383000" cy="31623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9" name="Shape 25"/>
          <p:cNvSpPr/>
          <p:nvPr/>
        </p:nvSpPr>
        <p:spPr>
          <a:xfrm>
            <a:off x="952500" y="9627870"/>
            <a:ext cx="16383000" cy="9525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30" name="Text 26"/>
          <p:cNvSpPr/>
          <p:nvPr/>
        </p:nvSpPr>
        <p:spPr>
          <a:xfrm>
            <a:off x="952500" y="9772650"/>
            <a:ext cx="2388156" cy="2057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lnSpcReduction="10000"/>
          </a:bodyPr>
          <a:lstStyle/>
          <a:p>
            <a:pPr marL="0" indent="0" algn="l">
              <a:buNone/>
            </a:pPr>
            <a:r>
              <a:rPr lang="en-US" sz="1125" b="1" kern="0" spc="90" dirty="0">
                <a:solidFill>
                  <a:srgbClr val="0F5B4C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STRATEGY &amp; OPERATIONS</a:t>
            </a:r>
            <a:endParaRPr lang="en-US" sz="1125" dirty="0"/>
          </a:p>
        </p:txBody>
      </p:sp>
      <p:sp>
        <p:nvSpPr>
          <p:cNvPr id="31" name="Text 27"/>
          <p:cNvSpPr/>
          <p:nvPr/>
        </p:nvSpPr>
        <p:spPr>
          <a:xfrm>
            <a:off x="7201376" y="9768840"/>
            <a:ext cx="5911836" cy="2133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200" kern="0" spc="48" dirty="0">
                <a:solidFill>
                  <a:srgbClr val="94A3B8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Source: PuLP / CBC LP solver · 7 sources · POSOCO 2024 hourly load profile</a:t>
            </a:r>
            <a:endParaRPr lang="en-US" sz="1200" dirty="0"/>
          </a:p>
        </p:txBody>
      </p:sp>
      <p:sp>
        <p:nvSpPr>
          <p:cNvPr id="32" name="Text 28"/>
          <p:cNvSpPr/>
          <p:nvPr/>
        </p:nvSpPr>
        <p:spPr>
          <a:xfrm>
            <a:off x="16877824" y="9768840"/>
            <a:ext cx="533876" cy="2133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475569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11 </a:t>
            </a:r>
            <a:r>
              <a:rPr lang="en-US" sz="1200" dirty="0">
                <a:solidFill>
                  <a:srgbClr val="94A3B8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/ 20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685800"/>
            <a:ext cx="16874490" cy="2362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350" b="1" kern="0" spc="216" dirty="0">
                <a:solidFill>
                  <a:srgbClr val="0F5B4C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04 · MODEL 4 K-MEANS · K = 4 (SILHOUETTE = 0.61)</a:t>
            </a:r>
            <a:endParaRPr lang="en-US" sz="1350" dirty="0"/>
          </a:p>
        </p:txBody>
      </p:sp>
      <p:sp>
        <p:nvSpPr>
          <p:cNvPr id="3" name="Text 1"/>
          <p:cNvSpPr/>
          <p:nvPr/>
        </p:nvSpPr>
        <p:spPr>
          <a:xfrm>
            <a:off x="952500" y="1055370"/>
            <a:ext cx="14716125" cy="6553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4500" b="1" kern="0" spc="-90" dirty="0">
                <a:solidFill>
                  <a:srgbClr val="0F172A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India's states fall into four distinct power profiles</a:t>
            </a:r>
            <a:endParaRPr lang="en-US" sz="4500" dirty="0"/>
          </a:p>
        </p:txBody>
      </p:sp>
      <p:sp>
        <p:nvSpPr>
          <p:cNvPr id="4" name="Text 2"/>
          <p:cNvSpPr/>
          <p:nvPr/>
        </p:nvSpPr>
        <p:spPr>
          <a:xfrm>
            <a:off x="952500" y="1805940"/>
            <a:ext cx="14716125" cy="3724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950" dirty="0">
                <a:solidFill>
                  <a:srgbClr val="475569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A single national policy ignores Rs 40,000+ Cr/yr of efficiency gains available from cluster-specific levers.</a:t>
            </a:r>
            <a:endParaRPr lang="en-US" sz="1950" dirty="0"/>
          </a:p>
        </p:txBody>
      </p:sp>
      <p:sp>
        <p:nvSpPr>
          <p:cNvPr id="5" name="Shape 3"/>
          <p:cNvSpPr/>
          <p:nvPr/>
        </p:nvSpPr>
        <p:spPr>
          <a:xfrm>
            <a:off x="952500" y="2406967"/>
            <a:ext cx="609600" cy="38100"/>
          </a:xfrm>
          <a:prstGeom prst="roundRect">
            <a:avLst>
              <a:gd name="adj" fmla="val 50000"/>
            </a:avLst>
          </a:prstGeom>
          <a:solidFill>
            <a:srgbClr val="86BC25"/>
          </a:solidFill>
          <a:ln/>
        </p:spPr>
      </p:sp>
      <p:sp>
        <p:nvSpPr>
          <p:cNvPr id="6" name="Shape 4"/>
          <p:cNvSpPr/>
          <p:nvPr/>
        </p:nvSpPr>
        <p:spPr>
          <a:xfrm>
            <a:off x="952500" y="2711768"/>
            <a:ext cx="8244840" cy="6336982"/>
          </a:xfrm>
          <a:prstGeom prst="rect">
            <a:avLst/>
          </a:prstGeom>
          <a:ln w="7620">
            <a:solidFill>
              <a:srgbClr val="E5E7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226820" y="2928938"/>
            <a:ext cx="7927086" cy="1828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975" b="1" kern="0" spc="156" dirty="0">
                <a:solidFill>
                  <a:srgbClr val="475569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EXHIBIT 09</a:t>
            </a:r>
            <a:endParaRPr lang="en-US" sz="975" dirty="0"/>
          </a:p>
        </p:txBody>
      </p:sp>
      <p:sp>
        <p:nvSpPr>
          <p:cNvPr id="8" name="Text 6"/>
          <p:cNvSpPr/>
          <p:nvPr/>
        </p:nvSpPr>
        <p:spPr>
          <a:xfrm>
            <a:off x="1226820" y="3073718"/>
            <a:ext cx="7927086" cy="2743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575" b="1" dirty="0">
                <a:solidFill>
                  <a:srgbClr val="0F172A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RES share (%) vs. coal share (%) — states</a:t>
            </a:r>
            <a:endParaRPr lang="en-US" sz="1575" dirty="0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26820" y="3309938"/>
            <a:ext cx="7696200" cy="5738812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9483090" y="5786914"/>
            <a:ext cx="3840361" cy="9525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11" name="Shape 8"/>
          <p:cNvSpPr/>
          <p:nvPr/>
        </p:nvSpPr>
        <p:spPr>
          <a:xfrm>
            <a:off x="9483090" y="2711768"/>
            <a:ext cx="3840361" cy="38100"/>
          </a:xfrm>
          <a:prstGeom prst="rect">
            <a:avLst/>
          </a:prstGeom>
          <a:solidFill>
            <a:srgbClr val="86BC25"/>
          </a:solidFill>
          <a:ln/>
        </p:spPr>
      </p:sp>
      <p:sp>
        <p:nvSpPr>
          <p:cNvPr id="12" name="Shape 9"/>
          <p:cNvSpPr/>
          <p:nvPr/>
        </p:nvSpPr>
        <p:spPr>
          <a:xfrm>
            <a:off x="9483090" y="2711768"/>
            <a:ext cx="9525" cy="3082766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13" name="Shape 10"/>
          <p:cNvSpPr/>
          <p:nvPr/>
        </p:nvSpPr>
        <p:spPr>
          <a:xfrm>
            <a:off x="13315831" y="2711768"/>
            <a:ext cx="9525" cy="3082766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14" name="Text 11"/>
          <p:cNvSpPr/>
          <p:nvPr/>
        </p:nvSpPr>
        <p:spPr>
          <a:xfrm>
            <a:off x="9700260" y="2921318"/>
            <a:ext cx="3508202" cy="1828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975" b="1" kern="0" spc="156" dirty="0">
                <a:solidFill>
                  <a:srgbClr val="475569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CLUSTER A</a:t>
            </a:r>
            <a:endParaRPr lang="en-US" sz="975" dirty="0"/>
          </a:p>
        </p:txBody>
      </p:sp>
      <p:sp>
        <p:nvSpPr>
          <p:cNvPr id="15" name="Text 12"/>
          <p:cNvSpPr/>
          <p:nvPr/>
        </p:nvSpPr>
        <p:spPr>
          <a:xfrm>
            <a:off x="9700260" y="3104197"/>
            <a:ext cx="3508202" cy="2743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575" b="1" dirty="0">
                <a:solidFill>
                  <a:srgbClr val="0F172A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RE Champions</a:t>
            </a:r>
            <a:endParaRPr lang="en-US" sz="1575" dirty="0"/>
          </a:p>
        </p:txBody>
      </p:sp>
      <p:sp>
        <p:nvSpPr>
          <p:cNvPr id="16" name="Text 13"/>
          <p:cNvSpPr/>
          <p:nvPr/>
        </p:nvSpPr>
        <p:spPr>
          <a:xfrm>
            <a:off x="9700260" y="3397568"/>
            <a:ext cx="3508202" cy="2057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125" dirty="0">
                <a:solidFill>
                  <a:srgbClr val="475569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Rajasthan · Gujarat · Karnataka</a:t>
            </a:r>
            <a:endParaRPr lang="en-US" sz="1125" dirty="0"/>
          </a:p>
        </p:txBody>
      </p:sp>
      <p:sp>
        <p:nvSpPr>
          <p:cNvPr id="17" name="Text 14"/>
          <p:cNvSpPr/>
          <p:nvPr/>
        </p:nvSpPr>
        <p:spPr>
          <a:xfrm>
            <a:off x="9700260" y="3698558"/>
            <a:ext cx="3508202" cy="1981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0F5B4C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RE 40%+ · Coal &lt;30% · Net exporter</a:t>
            </a:r>
            <a:endParaRPr lang="en-US" sz="1050" dirty="0"/>
          </a:p>
        </p:txBody>
      </p:sp>
      <p:sp>
        <p:nvSpPr>
          <p:cNvPr id="18" name="Shape 15"/>
          <p:cNvSpPr/>
          <p:nvPr/>
        </p:nvSpPr>
        <p:spPr>
          <a:xfrm>
            <a:off x="13494901" y="5786914"/>
            <a:ext cx="3840480" cy="9525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19" name="Shape 16"/>
          <p:cNvSpPr/>
          <p:nvPr/>
        </p:nvSpPr>
        <p:spPr>
          <a:xfrm>
            <a:off x="13494901" y="2711768"/>
            <a:ext cx="3840480" cy="38100"/>
          </a:xfrm>
          <a:prstGeom prst="rect">
            <a:avLst/>
          </a:prstGeom>
          <a:solidFill>
            <a:srgbClr val="0F5B4C"/>
          </a:solidFill>
          <a:ln/>
        </p:spPr>
      </p:sp>
      <p:sp>
        <p:nvSpPr>
          <p:cNvPr id="20" name="Shape 17"/>
          <p:cNvSpPr/>
          <p:nvPr/>
        </p:nvSpPr>
        <p:spPr>
          <a:xfrm>
            <a:off x="13494901" y="2711768"/>
            <a:ext cx="9525" cy="3082766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21" name="Shape 18"/>
          <p:cNvSpPr/>
          <p:nvPr/>
        </p:nvSpPr>
        <p:spPr>
          <a:xfrm>
            <a:off x="17327761" y="2711768"/>
            <a:ext cx="9525" cy="3082766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22" name="Text 19"/>
          <p:cNvSpPr/>
          <p:nvPr/>
        </p:nvSpPr>
        <p:spPr>
          <a:xfrm>
            <a:off x="13712071" y="2921318"/>
            <a:ext cx="3508324" cy="1828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975" b="1" kern="0" spc="156" dirty="0">
                <a:solidFill>
                  <a:srgbClr val="475569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CLUSTER B</a:t>
            </a:r>
            <a:endParaRPr lang="en-US" sz="975" dirty="0"/>
          </a:p>
        </p:txBody>
      </p:sp>
      <p:sp>
        <p:nvSpPr>
          <p:cNvPr id="23" name="Text 20"/>
          <p:cNvSpPr/>
          <p:nvPr/>
        </p:nvSpPr>
        <p:spPr>
          <a:xfrm>
            <a:off x="13712071" y="3104197"/>
            <a:ext cx="3508324" cy="2743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575" b="1" dirty="0">
                <a:solidFill>
                  <a:srgbClr val="0F172A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Transition Leaders</a:t>
            </a:r>
            <a:endParaRPr lang="en-US" sz="1575" dirty="0"/>
          </a:p>
        </p:txBody>
      </p:sp>
      <p:sp>
        <p:nvSpPr>
          <p:cNvPr id="24" name="Text 21"/>
          <p:cNvSpPr/>
          <p:nvPr/>
        </p:nvSpPr>
        <p:spPr>
          <a:xfrm>
            <a:off x="13712071" y="3397568"/>
            <a:ext cx="3508324" cy="2057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125" dirty="0">
                <a:solidFill>
                  <a:srgbClr val="475569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Tamil Nadu · AP · Telangana</a:t>
            </a:r>
            <a:endParaRPr lang="en-US" sz="1125" dirty="0"/>
          </a:p>
        </p:txBody>
      </p:sp>
      <p:sp>
        <p:nvSpPr>
          <p:cNvPr id="25" name="Text 22"/>
          <p:cNvSpPr/>
          <p:nvPr/>
        </p:nvSpPr>
        <p:spPr>
          <a:xfrm>
            <a:off x="13712071" y="3698558"/>
            <a:ext cx="3508324" cy="1981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0F5B4C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RE 30–40% · Demand growing</a:t>
            </a:r>
            <a:endParaRPr lang="en-US" sz="1050" dirty="0"/>
          </a:p>
        </p:txBody>
      </p:sp>
      <p:sp>
        <p:nvSpPr>
          <p:cNvPr id="26" name="Shape 23"/>
          <p:cNvSpPr/>
          <p:nvPr/>
        </p:nvSpPr>
        <p:spPr>
          <a:xfrm>
            <a:off x="9483090" y="9041130"/>
            <a:ext cx="3840361" cy="9525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27" name="Shape 24"/>
          <p:cNvSpPr/>
          <p:nvPr/>
        </p:nvSpPr>
        <p:spPr>
          <a:xfrm>
            <a:off x="9483090" y="5965984"/>
            <a:ext cx="3840361" cy="38100"/>
          </a:xfrm>
          <a:prstGeom prst="rect">
            <a:avLst/>
          </a:prstGeom>
          <a:solidFill>
            <a:srgbClr val="1F2937"/>
          </a:solidFill>
          <a:ln/>
        </p:spPr>
      </p:sp>
      <p:sp>
        <p:nvSpPr>
          <p:cNvPr id="28" name="Shape 25"/>
          <p:cNvSpPr/>
          <p:nvPr/>
        </p:nvSpPr>
        <p:spPr>
          <a:xfrm>
            <a:off x="9483090" y="5965984"/>
            <a:ext cx="9525" cy="3082766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29" name="Shape 26"/>
          <p:cNvSpPr/>
          <p:nvPr/>
        </p:nvSpPr>
        <p:spPr>
          <a:xfrm>
            <a:off x="13315831" y="5965984"/>
            <a:ext cx="9525" cy="3082766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30" name="Text 27"/>
          <p:cNvSpPr/>
          <p:nvPr/>
        </p:nvSpPr>
        <p:spPr>
          <a:xfrm>
            <a:off x="9700260" y="6175534"/>
            <a:ext cx="3508202" cy="1828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975" b="1" kern="0" spc="156" dirty="0">
                <a:solidFill>
                  <a:srgbClr val="475569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CLUSTER C</a:t>
            </a:r>
            <a:endParaRPr lang="en-US" sz="975" dirty="0"/>
          </a:p>
        </p:txBody>
      </p:sp>
      <p:sp>
        <p:nvSpPr>
          <p:cNvPr id="31" name="Text 28"/>
          <p:cNvSpPr/>
          <p:nvPr/>
        </p:nvSpPr>
        <p:spPr>
          <a:xfrm>
            <a:off x="9700260" y="6358414"/>
            <a:ext cx="3508202" cy="2743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575" b="1" dirty="0">
                <a:solidFill>
                  <a:srgbClr val="0F172A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Coal Dependent</a:t>
            </a:r>
            <a:endParaRPr lang="en-US" sz="1575" dirty="0"/>
          </a:p>
        </p:txBody>
      </p:sp>
      <p:sp>
        <p:nvSpPr>
          <p:cNvPr id="32" name="Text 29"/>
          <p:cNvSpPr/>
          <p:nvPr/>
        </p:nvSpPr>
        <p:spPr>
          <a:xfrm>
            <a:off x="9700260" y="6651784"/>
            <a:ext cx="3508202" cy="2057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125" dirty="0">
                <a:solidFill>
                  <a:srgbClr val="475569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UP · Maharashtra · MP · Jharkhand</a:t>
            </a:r>
            <a:endParaRPr lang="en-US" sz="1125" dirty="0"/>
          </a:p>
        </p:txBody>
      </p:sp>
      <p:sp>
        <p:nvSpPr>
          <p:cNvPr id="33" name="Text 30"/>
          <p:cNvSpPr/>
          <p:nvPr/>
        </p:nvSpPr>
        <p:spPr>
          <a:xfrm>
            <a:off x="9700260" y="6952774"/>
            <a:ext cx="3508202" cy="1981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0F5B4C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Coal 60%+ · Deficit risk</a:t>
            </a:r>
            <a:endParaRPr lang="en-US" sz="1050" dirty="0"/>
          </a:p>
        </p:txBody>
      </p:sp>
      <p:sp>
        <p:nvSpPr>
          <p:cNvPr id="34" name="Shape 31"/>
          <p:cNvSpPr/>
          <p:nvPr/>
        </p:nvSpPr>
        <p:spPr>
          <a:xfrm>
            <a:off x="13494901" y="9041130"/>
            <a:ext cx="3840480" cy="9525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35" name="Shape 32"/>
          <p:cNvSpPr/>
          <p:nvPr/>
        </p:nvSpPr>
        <p:spPr>
          <a:xfrm>
            <a:off x="13494901" y="5965984"/>
            <a:ext cx="3840480" cy="3810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6" name="Shape 33"/>
          <p:cNvSpPr/>
          <p:nvPr/>
        </p:nvSpPr>
        <p:spPr>
          <a:xfrm>
            <a:off x="13494901" y="5965984"/>
            <a:ext cx="9525" cy="3082766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37" name="Shape 34"/>
          <p:cNvSpPr/>
          <p:nvPr/>
        </p:nvSpPr>
        <p:spPr>
          <a:xfrm>
            <a:off x="17327761" y="5965984"/>
            <a:ext cx="9525" cy="3082766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38" name="Text 35"/>
          <p:cNvSpPr/>
          <p:nvPr/>
        </p:nvSpPr>
        <p:spPr>
          <a:xfrm>
            <a:off x="13712071" y="6175534"/>
            <a:ext cx="3508324" cy="1828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975" b="1" kern="0" spc="156" dirty="0">
                <a:solidFill>
                  <a:srgbClr val="475569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CLUSTER D</a:t>
            </a:r>
            <a:endParaRPr lang="en-US" sz="975" dirty="0"/>
          </a:p>
        </p:txBody>
      </p:sp>
      <p:sp>
        <p:nvSpPr>
          <p:cNvPr id="39" name="Text 36"/>
          <p:cNvSpPr/>
          <p:nvPr/>
        </p:nvSpPr>
        <p:spPr>
          <a:xfrm>
            <a:off x="13712071" y="6358414"/>
            <a:ext cx="3508324" cy="2743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575" b="1" dirty="0">
                <a:solidFill>
                  <a:srgbClr val="0F172A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Energy Starved</a:t>
            </a:r>
            <a:endParaRPr lang="en-US" sz="1575" dirty="0"/>
          </a:p>
        </p:txBody>
      </p:sp>
      <p:sp>
        <p:nvSpPr>
          <p:cNvPr id="40" name="Text 37"/>
          <p:cNvSpPr/>
          <p:nvPr/>
        </p:nvSpPr>
        <p:spPr>
          <a:xfrm>
            <a:off x="13712071" y="6651784"/>
            <a:ext cx="3508324" cy="2057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125" dirty="0">
                <a:solidFill>
                  <a:srgbClr val="475569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Bihar · HP · Northeast</a:t>
            </a:r>
            <a:endParaRPr lang="en-US" sz="1125" dirty="0"/>
          </a:p>
        </p:txBody>
      </p:sp>
      <p:sp>
        <p:nvSpPr>
          <p:cNvPr id="41" name="Text 38"/>
          <p:cNvSpPr/>
          <p:nvPr/>
        </p:nvSpPr>
        <p:spPr>
          <a:xfrm>
            <a:off x="13712071" y="6952774"/>
            <a:ext cx="3508324" cy="1981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0F5B4C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Low capacity · Persistent deficit</a:t>
            </a:r>
            <a:endParaRPr lang="en-US" sz="1050" dirty="0"/>
          </a:p>
        </p:txBody>
      </p:sp>
      <p:sp>
        <p:nvSpPr>
          <p:cNvPr id="42" name="Shape 39"/>
          <p:cNvSpPr/>
          <p:nvPr/>
        </p:nvSpPr>
        <p:spPr>
          <a:xfrm>
            <a:off x="952500" y="9627870"/>
            <a:ext cx="16383000" cy="31623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3" name="Shape 40"/>
          <p:cNvSpPr/>
          <p:nvPr/>
        </p:nvSpPr>
        <p:spPr>
          <a:xfrm>
            <a:off x="952500" y="9627870"/>
            <a:ext cx="16383000" cy="9525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44" name="Text 41"/>
          <p:cNvSpPr/>
          <p:nvPr/>
        </p:nvSpPr>
        <p:spPr>
          <a:xfrm>
            <a:off x="952500" y="9772650"/>
            <a:ext cx="2388156" cy="2057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lnSpcReduction="10000"/>
          </a:bodyPr>
          <a:lstStyle/>
          <a:p>
            <a:pPr marL="0" indent="0" algn="l">
              <a:buNone/>
            </a:pPr>
            <a:r>
              <a:rPr lang="en-US" sz="1125" b="1" kern="0" spc="90" dirty="0">
                <a:solidFill>
                  <a:srgbClr val="0F5B4C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STRATEGY &amp; OPERATIONS</a:t>
            </a:r>
            <a:endParaRPr lang="en-US" sz="1125" dirty="0"/>
          </a:p>
        </p:txBody>
      </p:sp>
      <p:sp>
        <p:nvSpPr>
          <p:cNvPr id="45" name="Text 42"/>
          <p:cNvSpPr/>
          <p:nvPr/>
        </p:nvSpPr>
        <p:spPr>
          <a:xfrm>
            <a:off x="7083147" y="9768840"/>
            <a:ext cx="6146680" cy="2133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200" kern="0" spc="48" dirty="0">
                <a:solidFill>
                  <a:srgbClr val="94A3B8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Source: scikit-learn KMeans · features = RES share, coal cap, deficit %, total cap</a:t>
            </a:r>
            <a:endParaRPr lang="en-US" sz="1200" dirty="0"/>
          </a:p>
        </p:txBody>
      </p:sp>
      <p:sp>
        <p:nvSpPr>
          <p:cNvPr id="46" name="Text 43"/>
          <p:cNvSpPr/>
          <p:nvPr/>
        </p:nvSpPr>
        <p:spPr>
          <a:xfrm>
            <a:off x="16869370" y="9768840"/>
            <a:ext cx="542330" cy="2133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475569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12 </a:t>
            </a:r>
            <a:r>
              <a:rPr lang="en-US" sz="1200" dirty="0">
                <a:solidFill>
                  <a:srgbClr val="94A3B8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/ 20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685800"/>
            <a:ext cx="16874490" cy="2362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350" b="1" kern="0" spc="216" dirty="0">
                <a:solidFill>
                  <a:srgbClr val="0F5B4C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04 · MODEL 5 BESS SIZING WATERFALL</a:t>
            </a:r>
            <a:endParaRPr lang="en-US" sz="1350" dirty="0"/>
          </a:p>
        </p:txBody>
      </p:sp>
      <p:sp>
        <p:nvSpPr>
          <p:cNvPr id="3" name="Text 1"/>
          <p:cNvSpPr/>
          <p:nvPr/>
        </p:nvSpPr>
        <p:spPr>
          <a:xfrm>
            <a:off x="952500" y="1055370"/>
            <a:ext cx="14716125" cy="12725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4500" b="1" kern="0" spc="-90" dirty="0">
                <a:solidFill>
                  <a:srgbClr val="0F172A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India needs 300–500 GWh of storage — 75–125× today's installed base</a:t>
            </a:r>
            <a:endParaRPr lang="en-US" sz="4500" dirty="0"/>
          </a:p>
        </p:txBody>
      </p:sp>
      <p:sp>
        <p:nvSpPr>
          <p:cNvPr id="4" name="Text 2"/>
          <p:cNvSpPr/>
          <p:nvPr/>
        </p:nvSpPr>
        <p:spPr>
          <a:xfrm>
            <a:off x="952500" y="2423160"/>
            <a:ext cx="14716125" cy="3724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950" dirty="0">
                <a:solidFill>
                  <a:srgbClr val="475569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Engineering build-up from solar nameplate to required storage capacity, with discharge duration and round-trip losses.</a:t>
            </a:r>
            <a:endParaRPr lang="en-US" sz="1950" dirty="0"/>
          </a:p>
        </p:txBody>
      </p:sp>
      <p:sp>
        <p:nvSpPr>
          <p:cNvPr id="5" name="Shape 3"/>
          <p:cNvSpPr/>
          <p:nvPr/>
        </p:nvSpPr>
        <p:spPr>
          <a:xfrm>
            <a:off x="952500" y="3024188"/>
            <a:ext cx="609600" cy="38100"/>
          </a:xfrm>
          <a:prstGeom prst="roundRect">
            <a:avLst>
              <a:gd name="adj" fmla="val 50000"/>
            </a:avLst>
          </a:prstGeom>
          <a:solidFill>
            <a:srgbClr val="86BC25"/>
          </a:solidFill>
          <a:ln/>
        </p:spPr>
      </p:sp>
      <p:sp>
        <p:nvSpPr>
          <p:cNvPr id="6" name="Shape 4"/>
          <p:cNvSpPr/>
          <p:nvPr/>
        </p:nvSpPr>
        <p:spPr>
          <a:xfrm>
            <a:off x="952500" y="3328988"/>
            <a:ext cx="9658350" cy="6911340"/>
          </a:xfrm>
          <a:prstGeom prst="rect">
            <a:avLst/>
          </a:prstGeom>
          <a:ln w="7620">
            <a:solidFill>
              <a:srgbClr val="E5E7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226820" y="3565208"/>
            <a:ext cx="9383002" cy="1828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975" b="1" kern="0" spc="156" dirty="0">
                <a:solidFill>
                  <a:srgbClr val="475569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EXHIBIT 10</a:t>
            </a:r>
            <a:endParaRPr lang="en-US" sz="975" dirty="0"/>
          </a:p>
        </p:txBody>
      </p:sp>
      <p:sp>
        <p:nvSpPr>
          <p:cNvPr id="8" name="Text 6"/>
          <p:cNvSpPr/>
          <p:nvPr/>
        </p:nvSpPr>
        <p:spPr>
          <a:xfrm>
            <a:off x="1226820" y="3709988"/>
            <a:ext cx="9383002" cy="2819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650" b="1" dirty="0">
                <a:solidFill>
                  <a:srgbClr val="0F172A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From 150 GW solar → BESS power capacity</a:t>
            </a:r>
            <a:endParaRPr lang="en-US" sz="1650" dirty="0"/>
          </a:p>
        </p:txBody>
      </p:sp>
      <p:sp>
        <p:nvSpPr>
          <p:cNvPr id="9" name="Text 7"/>
          <p:cNvSpPr/>
          <p:nvPr/>
        </p:nvSpPr>
        <p:spPr>
          <a:xfrm>
            <a:off x="1226820" y="4197668"/>
            <a:ext cx="2171700" cy="2362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350" dirty="0">
                <a:solidFill>
                  <a:srgbClr val="475569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Solar installed (2025)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3474720" y="4125278"/>
            <a:ext cx="5375910" cy="342900"/>
          </a:xfrm>
          <a:prstGeom prst="rect">
            <a:avLst/>
          </a:prstGeom>
          <a:solidFill>
            <a:srgbClr val="86BC25"/>
          </a:solidFill>
          <a:ln/>
        </p:spPr>
      </p:sp>
      <p:sp>
        <p:nvSpPr>
          <p:cNvPr id="11" name="Text 9"/>
          <p:cNvSpPr/>
          <p:nvPr/>
        </p:nvSpPr>
        <p:spPr>
          <a:xfrm>
            <a:off x="8926830" y="4174808"/>
            <a:ext cx="1409700" cy="2819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r">
              <a:buNone/>
            </a:pPr>
            <a:r>
              <a:rPr lang="en-US" sz="1650" b="1" dirty="0">
                <a:solidFill>
                  <a:srgbClr val="0F172A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150 GW</a:t>
            </a:r>
            <a:endParaRPr lang="en-US" sz="1650" dirty="0"/>
          </a:p>
        </p:txBody>
      </p:sp>
      <p:sp>
        <p:nvSpPr>
          <p:cNvPr id="12" name="Text 10"/>
          <p:cNvSpPr/>
          <p:nvPr/>
        </p:nvSpPr>
        <p:spPr>
          <a:xfrm>
            <a:off x="1226820" y="4635818"/>
            <a:ext cx="2171700" cy="2362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350" dirty="0">
                <a:solidFill>
                  <a:srgbClr val="475569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× CUF (annual avg)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3474720" y="4563428"/>
            <a:ext cx="1075134" cy="342900"/>
          </a:xfrm>
          <a:prstGeom prst="rect">
            <a:avLst/>
          </a:prstGeom>
          <a:solidFill>
            <a:srgbClr val="86BC25">
              <a:alpha val="70000"/>
            </a:srgbClr>
          </a:solidFill>
          <a:ln/>
        </p:spPr>
      </p:sp>
      <p:sp>
        <p:nvSpPr>
          <p:cNvPr id="14" name="Text 12"/>
          <p:cNvSpPr/>
          <p:nvPr/>
        </p:nvSpPr>
        <p:spPr>
          <a:xfrm>
            <a:off x="8926830" y="4612958"/>
            <a:ext cx="1409700" cy="2819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r">
              <a:buNone/>
            </a:pPr>
            <a:r>
              <a:rPr lang="en-US" sz="1650" b="1" dirty="0">
                <a:solidFill>
                  <a:srgbClr val="0F172A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× 20%</a:t>
            </a:r>
            <a:endParaRPr lang="en-US" sz="1650" dirty="0"/>
          </a:p>
        </p:txBody>
      </p:sp>
      <p:sp>
        <p:nvSpPr>
          <p:cNvPr id="15" name="Text 13"/>
          <p:cNvSpPr/>
          <p:nvPr/>
        </p:nvSpPr>
        <p:spPr>
          <a:xfrm>
            <a:off x="1226820" y="5073968"/>
            <a:ext cx="2171700" cy="2362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350" dirty="0">
                <a:solidFill>
                  <a:srgbClr val="475569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× Daily production (h)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3474720" y="5001578"/>
            <a:ext cx="3225522" cy="342900"/>
          </a:xfrm>
          <a:prstGeom prst="rect">
            <a:avLst/>
          </a:prstGeom>
          <a:solidFill>
            <a:srgbClr val="86BC25">
              <a:alpha val="55000"/>
            </a:srgbClr>
          </a:solidFill>
          <a:ln/>
        </p:spPr>
      </p:sp>
      <p:sp>
        <p:nvSpPr>
          <p:cNvPr id="17" name="Text 15"/>
          <p:cNvSpPr/>
          <p:nvPr/>
        </p:nvSpPr>
        <p:spPr>
          <a:xfrm>
            <a:off x="8926830" y="5051107"/>
            <a:ext cx="1409700" cy="2819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r">
              <a:buNone/>
            </a:pPr>
            <a:r>
              <a:rPr lang="en-US" sz="1650" b="1" dirty="0">
                <a:solidFill>
                  <a:srgbClr val="0F172A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× 8 h</a:t>
            </a:r>
            <a:endParaRPr lang="en-US" sz="1650" dirty="0"/>
          </a:p>
        </p:txBody>
      </p:sp>
      <p:sp>
        <p:nvSpPr>
          <p:cNvPr id="18" name="Shape 16"/>
          <p:cNvSpPr/>
          <p:nvPr/>
        </p:nvSpPr>
        <p:spPr>
          <a:xfrm>
            <a:off x="1226820" y="5439728"/>
            <a:ext cx="9109710" cy="9525"/>
          </a:xfrm>
          <a:prstGeom prst="rect">
            <a:avLst/>
          </a:prstGeom>
          <a:solidFill>
            <a:srgbClr val="D1D5DB"/>
          </a:solidFill>
          <a:ln/>
        </p:spPr>
      </p:sp>
      <p:sp>
        <p:nvSpPr>
          <p:cNvPr id="19" name="Text 17"/>
          <p:cNvSpPr/>
          <p:nvPr/>
        </p:nvSpPr>
        <p:spPr>
          <a:xfrm>
            <a:off x="1226820" y="5595938"/>
            <a:ext cx="2171700" cy="2362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0F5B4C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= Daily generation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3474720" y="5523548"/>
            <a:ext cx="4300657" cy="342900"/>
          </a:xfrm>
          <a:prstGeom prst="rect">
            <a:avLst/>
          </a:prstGeom>
          <a:solidFill>
            <a:srgbClr val="0F5B4C"/>
          </a:solidFill>
          <a:ln/>
        </p:spPr>
      </p:sp>
      <p:sp>
        <p:nvSpPr>
          <p:cNvPr id="21" name="Text 19"/>
          <p:cNvSpPr/>
          <p:nvPr/>
        </p:nvSpPr>
        <p:spPr>
          <a:xfrm>
            <a:off x="8926830" y="5573078"/>
            <a:ext cx="1409700" cy="2819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r">
              <a:buNone/>
            </a:pPr>
            <a:r>
              <a:rPr lang="en-US" sz="1650" b="1" dirty="0">
                <a:solidFill>
                  <a:srgbClr val="0F5B4C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240 GWh</a:t>
            </a:r>
            <a:endParaRPr lang="en-US" sz="1650" dirty="0"/>
          </a:p>
        </p:txBody>
      </p:sp>
      <p:sp>
        <p:nvSpPr>
          <p:cNvPr id="22" name="Text 20"/>
          <p:cNvSpPr/>
          <p:nvPr/>
        </p:nvSpPr>
        <p:spPr>
          <a:xfrm>
            <a:off x="1226820" y="6034088"/>
            <a:ext cx="2171700" cy="2362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350" dirty="0">
                <a:solidFill>
                  <a:srgbClr val="475569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× Stored for evening</a:t>
            </a:r>
            <a:endParaRPr lang="en-US" sz="1350" dirty="0"/>
          </a:p>
        </p:txBody>
      </p:sp>
      <p:sp>
        <p:nvSpPr>
          <p:cNvPr id="23" name="Shape 21"/>
          <p:cNvSpPr/>
          <p:nvPr/>
        </p:nvSpPr>
        <p:spPr>
          <a:xfrm>
            <a:off x="3474720" y="5961698"/>
            <a:ext cx="2687955" cy="342900"/>
          </a:xfrm>
          <a:prstGeom prst="rect">
            <a:avLst/>
          </a:prstGeom>
          <a:solidFill>
            <a:srgbClr val="0F5B4C">
              <a:alpha val="60000"/>
            </a:srgbClr>
          </a:solidFill>
          <a:ln/>
        </p:spPr>
      </p:sp>
      <p:sp>
        <p:nvSpPr>
          <p:cNvPr id="24" name="Text 22"/>
          <p:cNvSpPr/>
          <p:nvPr/>
        </p:nvSpPr>
        <p:spPr>
          <a:xfrm>
            <a:off x="8926830" y="6011228"/>
            <a:ext cx="1409700" cy="2819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r">
              <a:buNone/>
            </a:pPr>
            <a:r>
              <a:rPr lang="en-US" sz="1650" b="1" dirty="0">
                <a:solidFill>
                  <a:srgbClr val="0F172A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× 50%</a:t>
            </a:r>
            <a:endParaRPr lang="en-US" sz="1650" dirty="0"/>
          </a:p>
        </p:txBody>
      </p:sp>
      <p:sp>
        <p:nvSpPr>
          <p:cNvPr id="25" name="Text 23"/>
          <p:cNvSpPr/>
          <p:nvPr/>
        </p:nvSpPr>
        <p:spPr>
          <a:xfrm>
            <a:off x="1226820" y="6472238"/>
            <a:ext cx="2171700" cy="2362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350" dirty="0">
                <a:solidFill>
                  <a:srgbClr val="475569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× Round-trip efficiency</a:t>
            </a:r>
            <a:endParaRPr lang="en-US" sz="1350" dirty="0"/>
          </a:p>
        </p:txBody>
      </p:sp>
      <p:sp>
        <p:nvSpPr>
          <p:cNvPr id="26" name="Shape 24"/>
          <p:cNvSpPr/>
          <p:nvPr/>
        </p:nvSpPr>
        <p:spPr>
          <a:xfrm>
            <a:off x="3474720" y="6399848"/>
            <a:ext cx="4730710" cy="342900"/>
          </a:xfrm>
          <a:prstGeom prst="rect">
            <a:avLst/>
          </a:prstGeom>
          <a:solidFill>
            <a:srgbClr val="0F5B4C">
              <a:alpha val="55000"/>
            </a:srgbClr>
          </a:solidFill>
          <a:ln/>
        </p:spPr>
      </p:sp>
      <p:sp>
        <p:nvSpPr>
          <p:cNvPr id="27" name="Text 25"/>
          <p:cNvSpPr/>
          <p:nvPr/>
        </p:nvSpPr>
        <p:spPr>
          <a:xfrm>
            <a:off x="8926830" y="6449378"/>
            <a:ext cx="1409700" cy="2819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r">
              <a:buNone/>
            </a:pPr>
            <a:r>
              <a:rPr lang="en-US" sz="1650" b="1" dirty="0">
                <a:solidFill>
                  <a:srgbClr val="0F172A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× 88%</a:t>
            </a:r>
            <a:endParaRPr lang="en-US" sz="1650" dirty="0"/>
          </a:p>
        </p:txBody>
      </p:sp>
      <p:sp>
        <p:nvSpPr>
          <p:cNvPr id="28" name="Shape 26"/>
          <p:cNvSpPr/>
          <p:nvPr/>
        </p:nvSpPr>
        <p:spPr>
          <a:xfrm>
            <a:off x="1226820" y="6837998"/>
            <a:ext cx="9109710" cy="9525"/>
          </a:xfrm>
          <a:prstGeom prst="rect">
            <a:avLst/>
          </a:prstGeom>
          <a:solidFill>
            <a:srgbClr val="D1D5DB"/>
          </a:solidFill>
          <a:ln/>
        </p:spPr>
      </p:sp>
      <p:sp>
        <p:nvSpPr>
          <p:cNvPr id="29" name="Text 27"/>
          <p:cNvSpPr/>
          <p:nvPr/>
        </p:nvSpPr>
        <p:spPr>
          <a:xfrm>
            <a:off x="1226820" y="6994207"/>
            <a:ext cx="2171700" cy="2362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0F5B4C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= Storable energy</a:t>
            </a:r>
            <a:endParaRPr lang="en-US" sz="1350" dirty="0"/>
          </a:p>
        </p:txBody>
      </p:sp>
      <p:sp>
        <p:nvSpPr>
          <p:cNvPr id="30" name="Shape 28"/>
          <p:cNvSpPr/>
          <p:nvPr/>
        </p:nvSpPr>
        <p:spPr>
          <a:xfrm>
            <a:off x="3474720" y="6921818"/>
            <a:ext cx="2365296" cy="342900"/>
          </a:xfrm>
          <a:prstGeom prst="rect">
            <a:avLst/>
          </a:prstGeom>
          <a:solidFill>
            <a:srgbClr val="0F5B4C"/>
          </a:solidFill>
          <a:ln/>
        </p:spPr>
      </p:sp>
      <p:sp>
        <p:nvSpPr>
          <p:cNvPr id="31" name="Text 29"/>
          <p:cNvSpPr/>
          <p:nvPr/>
        </p:nvSpPr>
        <p:spPr>
          <a:xfrm>
            <a:off x="8926830" y="6971348"/>
            <a:ext cx="1409700" cy="2819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r">
              <a:buNone/>
            </a:pPr>
            <a:r>
              <a:rPr lang="en-US" sz="1650" b="1" dirty="0">
                <a:solidFill>
                  <a:srgbClr val="0F5B4C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106 GWh</a:t>
            </a:r>
            <a:endParaRPr lang="en-US" sz="1650" dirty="0"/>
          </a:p>
        </p:txBody>
      </p:sp>
      <p:sp>
        <p:nvSpPr>
          <p:cNvPr id="32" name="Text 30"/>
          <p:cNvSpPr/>
          <p:nvPr/>
        </p:nvSpPr>
        <p:spPr>
          <a:xfrm>
            <a:off x="1226820" y="7432357"/>
            <a:ext cx="2171700" cy="2362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350" dirty="0">
                <a:solidFill>
                  <a:srgbClr val="475569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÷ Discharge duration</a:t>
            </a:r>
            <a:endParaRPr lang="en-US" sz="1350" dirty="0"/>
          </a:p>
        </p:txBody>
      </p:sp>
      <p:sp>
        <p:nvSpPr>
          <p:cNvPr id="33" name="Shape 31"/>
          <p:cNvSpPr/>
          <p:nvPr/>
        </p:nvSpPr>
        <p:spPr>
          <a:xfrm>
            <a:off x="3474720" y="7359968"/>
            <a:ext cx="1612702" cy="342900"/>
          </a:xfrm>
          <a:prstGeom prst="rect">
            <a:avLst/>
          </a:prstGeom>
          <a:solidFill>
            <a:srgbClr val="0F5B4C">
              <a:alpha val="45000"/>
            </a:srgbClr>
          </a:solidFill>
          <a:ln/>
        </p:spPr>
      </p:sp>
      <p:sp>
        <p:nvSpPr>
          <p:cNvPr id="34" name="Text 32"/>
          <p:cNvSpPr/>
          <p:nvPr/>
        </p:nvSpPr>
        <p:spPr>
          <a:xfrm>
            <a:off x="8926830" y="7409498"/>
            <a:ext cx="1409700" cy="2819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r">
              <a:buNone/>
            </a:pPr>
            <a:r>
              <a:rPr lang="en-US" sz="1650" b="1" dirty="0">
                <a:solidFill>
                  <a:srgbClr val="0F172A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÷ 4 h</a:t>
            </a:r>
            <a:endParaRPr lang="en-US" sz="1650" dirty="0"/>
          </a:p>
        </p:txBody>
      </p:sp>
      <p:sp>
        <p:nvSpPr>
          <p:cNvPr id="35" name="Shape 33"/>
          <p:cNvSpPr/>
          <p:nvPr/>
        </p:nvSpPr>
        <p:spPr>
          <a:xfrm>
            <a:off x="1226820" y="7798118"/>
            <a:ext cx="9109710" cy="15240"/>
          </a:xfrm>
          <a:prstGeom prst="rect">
            <a:avLst/>
          </a:prstGeom>
          <a:solidFill>
            <a:srgbClr val="0F5B4C"/>
          </a:solidFill>
          <a:ln/>
        </p:spPr>
      </p:sp>
      <p:sp>
        <p:nvSpPr>
          <p:cNvPr id="36" name="Text 34"/>
          <p:cNvSpPr/>
          <p:nvPr/>
        </p:nvSpPr>
        <p:spPr>
          <a:xfrm>
            <a:off x="1226820" y="8001953"/>
            <a:ext cx="2171700" cy="2514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425" b="1" dirty="0">
                <a:solidFill>
                  <a:srgbClr val="0F5B4C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BESS power needed</a:t>
            </a:r>
            <a:endParaRPr lang="en-US" sz="1425" dirty="0"/>
          </a:p>
        </p:txBody>
      </p:sp>
      <p:sp>
        <p:nvSpPr>
          <p:cNvPr id="37" name="Shape 35"/>
          <p:cNvSpPr/>
          <p:nvPr/>
        </p:nvSpPr>
        <p:spPr>
          <a:xfrm>
            <a:off x="3474720" y="7908607"/>
            <a:ext cx="967621" cy="400050"/>
          </a:xfrm>
          <a:prstGeom prst="rect">
            <a:avLst/>
          </a:prstGeom>
          <a:solidFill>
            <a:srgbClr val="0F5B4C"/>
          </a:solidFill>
          <a:ln/>
        </p:spPr>
      </p:sp>
      <p:sp>
        <p:nvSpPr>
          <p:cNvPr id="38" name="Text 36"/>
          <p:cNvSpPr/>
          <p:nvPr/>
        </p:nvSpPr>
        <p:spPr>
          <a:xfrm>
            <a:off x="8926830" y="7967662"/>
            <a:ext cx="1409700" cy="3200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r">
              <a:buNone/>
            </a:pPr>
            <a:r>
              <a:rPr lang="en-US" sz="1950" b="1" dirty="0">
                <a:solidFill>
                  <a:srgbClr val="0F5B4C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26 GW</a:t>
            </a:r>
            <a:endParaRPr lang="en-US" sz="1950" dirty="0"/>
          </a:p>
        </p:txBody>
      </p:sp>
      <p:sp>
        <p:nvSpPr>
          <p:cNvPr id="39" name="Shape 37"/>
          <p:cNvSpPr/>
          <p:nvPr/>
        </p:nvSpPr>
        <p:spPr>
          <a:xfrm>
            <a:off x="10896600" y="3328988"/>
            <a:ext cx="6438900" cy="1318260"/>
          </a:xfrm>
          <a:prstGeom prst="rect">
            <a:avLst/>
          </a:prstGeom>
          <a:solidFill>
            <a:srgbClr val="FFFFFF"/>
          </a:solidFill>
          <a:ln w="7620">
            <a:solidFill>
              <a:srgbClr val="E5E7EB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11170920" y="3565208"/>
            <a:ext cx="6066968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4200" b="1" kern="0" spc="-84" dirty="0">
                <a:solidFill>
                  <a:srgbClr val="0F5B4C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~4 </a:t>
            </a:r>
            <a:r>
              <a:rPr lang="en-US" sz="2100" b="1" kern="0" spc="-84" dirty="0">
                <a:solidFill>
                  <a:srgbClr val="475569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GWh</a:t>
            </a:r>
            <a:endParaRPr lang="en-US" sz="4200" dirty="0"/>
          </a:p>
        </p:txBody>
      </p:sp>
      <p:sp>
        <p:nvSpPr>
          <p:cNvPr id="41" name="Text 39"/>
          <p:cNvSpPr/>
          <p:nvPr/>
        </p:nvSpPr>
        <p:spPr>
          <a:xfrm>
            <a:off x="11170920" y="4212908"/>
            <a:ext cx="6066968" cy="2362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350" kern="0" spc="54" dirty="0">
                <a:solidFill>
                  <a:srgbClr val="475569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India BESS today</a:t>
            </a:r>
            <a:endParaRPr lang="en-US" sz="1350" dirty="0"/>
          </a:p>
        </p:txBody>
      </p:sp>
      <p:sp>
        <p:nvSpPr>
          <p:cNvPr id="42" name="Shape 40"/>
          <p:cNvSpPr/>
          <p:nvPr/>
        </p:nvSpPr>
        <p:spPr>
          <a:xfrm>
            <a:off x="10896600" y="4818697"/>
            <a:ext cx="6438900" cy="1318260"/>
          </a:xfrm>
          <a:prstGeom prst="rect">
            <a:avLst/>
          </a:prstGeom>
          <a:solidFill>
            <a:srgbClr val="0F5B4C"/>
          </a:solidFill>
          <a:ln w="7620">
            <a:solidFill>
              <a:srgbClr val="0F5B4C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11170920" y="5054918"/>
            <a:ext cx="6066968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4200" b="1" kern="0" spc="-84" dirty="0">
                <a:solidFill>
                  <a:srgbClr val="FFFFFF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300–500 </a:t>
            </a:r>
            <a:r>
              <a:rPr lang="en-US" sz="2100" b="1" kern="0" spc="-84" dirty="0">
                <a:solidFill>
                  <a:srgbClr val="FFFFFF">
                    <a:alpha val="75000"/>
                  </a:srgbClr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GWh</a:t>
            </a:r>
            <a:endParaRPr lang="en-US" sz="4200" dirty="0"/>
          </a:p>
        </p:txBody>
      </p:sp>
      <p:sp>
        <p:nvSpPr>
          <p:cNvPr id="44" name="Text 42"/>
          <p:cNvSpPr/>
          <p:nvPr/>
        </p:nvSpPr>
        <p:spPr>
          <a:xfrm>
            <a:off x="11170920" y="5702618"/>
            <a:ext cx="6066968" cy="2362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350" kern="0" spc="54" dirty="0">
                <a:solidFill>
                  <a:srgbClr val="FFFFFF">
                    <a:alpha val="85000"/>
                  </a:srgbClr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National requirement</a:t>
            </a:r>
            <a:endParaRPr lang="en-US" sz="1350" dirty="0"/>
          </a:p>
        </p:txBody>
      </p:sp>
      <p:sp>
        <p:nvSpPr>
          <p:cNvPr id="45" name="Shape 43"/>
          <p:cNvSpPr/>
          <p:nvPr/>
        </p:nvSpPr>
        <p:spPr>
          <a:xfrm>
            <a:off x="10896600" y="6308407"/>
            <a:ext cx="6438900" cy="1318260"/>
          </a:xfrm>
          <a:prstGeom prst="rect">
            <a:avLst/>
          </a:prstGeom>
          <a:solidFill>
            <a:srgbClr val="FFFFFF"/>
          </a:solidFill>
          <a:ln w="7620">
            <a:solidFill>
              <a:srgbClr val="E5E7EB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11170920" y="6544628"/>
            <a:ext cx="6066968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4200" b="1" kern="0" spc="-84" dirty="0">
                <a:solidFill>
                  <a:srgbClr val="0F5B4C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75–125 </a:t>
            </a:r>
            <a:r>
              <a:rPr lang="en-US" sz="2100" b="1" kern="0" spc="-84" dirty="0">
                <a:solidFill>
                  <a:srgbClr val="475569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×</a:t>
            </a:r>
            <a:endParaRPr lang="en-US" sz="4200" dirty="0"/>
          </a:p>
        </p:txBody>
      </p:sp>
      <p:sp>
        <p:nvSpPr>
          <p:cNvPr id="47" name="Text 45"/>
          <p:cNvSpPr/>
          <p:nvPr/>
        </p:nvSpPr>
        <p:spPr>
          <a:xfrm>
            <a:off x="11170920" y="7192328"/>
            <a:ext cx="6066968" cy="2362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350" kern="0" spc="54" dirty="0">
                <a:solidFill>
                  <a:srgbClr val="475569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The storage gap</a:t>
            </a:r>
            <a:endParaRPr lang="en-US" sz="1350" dirty="0"/>
          </a:p>
        </p:txBody>
      </p:sp>
      <p:sp>
        <p:nvSpPr>
          <p:cNvPr id="48" name="Shape 46"/>
          <p:cNvSpPr/>
          <p:nvPr/>
        </p:nvSpPr>
        <p:spPr>
          <a:xfrm>
            <a:off x="10896600" y="7798118"/>
            <a:ext cx="6438900" cy="1318260"/>
          </a:xfrm>
          <a:prstGeom prst="rect">
            <a:avLst/>
          </a:prstGeom>
          <a:solidFill>
            <a:srgbClr val="FFFFFF"/>
          </a:solidFill>
          <a:ln w="7620">
            <a:solidFill>
              <a:srgbClr val="E5E7EB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11170920" y="8034338"/>
            <a:ext cx="6066968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4200" b="1" kern="0" spc="-84" dirty="0">
                <a:solidFill>
                  <a:srgbClr val="0F5B4C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₹12k </a:t>
            </a:r>
            <a:r>
              <a:rPr lang="en-US" sz="2100" b="1" kern="0" spc="-84" dirty="0">
                <a:solidFill>
                  <a:srgbClr val="475569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Cr</a:t>
            </a:r>
            <a:endParaRPr lang="en-US" sz="4200" dirty="0"/>
          </a:p>
        </p:txBody>
      </p:sp>
      <p:sp>
        <p:nvSpPr>
          <p:cNvPr id="50" name="Text 48"/>
          <p:cNvSpPr/>
          <p:nvPr/>
        </p:nvSpPr>
        <p:spPr>
          <a:xfrm>
            <a:off x="11170920" y="8682038"/>
            <a:ext cx="6066968" cy="2362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350" kern="0" spc="54" dirty="0">
                <a:solidFill>
                  <a:srgbClr val="475569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Capex required (initial 30 GWh)</a:t>
            </a:r>
            <a:endParaRPr lang="en-US" sz="1350" dirty="0"/>
          </a:p>
        </p:txBody>
      </p:sp>
      <p:sp>
        <p:nvSpPr>
          <p:cNvPr id="51" name="Shape 49"/>
          <p:cNvSpPr/>
          <p:nvPr/>
        </p:nvSpPr>
        <p:spPr>
          <a:xfrm>
            <a:off x="10896600" y="9287828"/>
            <a:ext cx="6438900" cy="952500"/>
          </a:xfrm>
          <a:prstGeom prst="rect">
            <a:avLst/>
          </a:prstGeom>
          <a:solidFill>
            <a:srgbClr val="F8FAF7"/>
          </a:solidFill>
          <a:ln/>
        </p:spPr>
      </p:sp>
      <p:sp>
        <p:nvSpPr>
          <p:cNvPr id="52" name="Shape 50"/>
          <p:cNvSpPr/>
          <p:nvPr/>
        </p:nvSpPr>
        <p:spPr>
          <a:xfrm>
            <a:off x="10896600" y="9287828"/>
            <a:ext cx="38100" cy="952500"/>
          </a:xfrm>
          <a:prstGeom prst="rect">
            <a:avLst/>
          </a:prstGeom>
          <a:solidFill>
            <a:srgbClr val="86BC25"/>
          </a:solidFill>
          <a:ln/>
        </p:spPr>
      </p:sp>
      <p:sp>
        <p:nvSpPr>
          <p:cNvPr id="53" name="Text 51"/>
          <p:cNvSpPr/>
          <p:nvPr/>
        </p:nvSpPr>
        <p:spPr>
          <a:xfrm>
            <a:off x="11201400" y="9535478"/>
            <a:ext cx="1197054" cy="1981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050" b="1" kern="0" spc="189" dirty="0">
                <a:solidFill>
                  <a:srgbClr val="0F5B4C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IMPLICATION</a:t>
            </a:r>
            <a:endParaRPr lang="en-US" sz="1050" dirty="0"/>
          </a:p>
        </p:txBody>
      </p:sp>
      <p:sp>
        <p:nvSpPr>
          <p:cNvPr id="54" name="Text 52"/>
          <p:cNvSpPr/>
          <p:nvPr/>
        </p:nvSpPr>
        <p:spPr>
          <a:xfrm>
            <a:off x="12550855" y="9497378"/>
            <a:ext cx="4653484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500" dirty="0">
                <a:solidFill>
                  <a:srgbClr val="0F172A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Storage cannot be built at this scale without policy mandates and concessional capital.</a:t>
            </a:r>
            <a:endParaRPr lang="en-US" sz="1500" dirty="0"/>
          </a:p>
        </p:txBody>
      </p:sp>
      <p:sp>
        <p:nvSpPr>
          <p:cNvPr id="55" name="Shape 53"/>
          <p:cNvSpPr/>
          <p:nvPr/>
        </p:nvSpPr>
        <p:spPr>
          <a:xfrm>
            <a:off x="952500" y="9627870"/>
            <a:ext cx="16383000" cy="31623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6" name="Shape 54"/>
          <p:cNvSpPr/>
          <p:nvPr/>
        </p:nvSpPr>
        <p:spPr>
          <a:xfrm>
            <a:off x="952500" y="9627870"/>
            <a:ext cx="16383000" cy="9525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57" name="Text 55"/>
          <p:cNvSpPr/>
          <p:nvPr/>
        </p:nvSpPr>
        <p:spPr>
          <a:xfrm>
            <a:off x="952500" y="9772650"/>
            <a:ext cx="2388156" cy="2057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lnSpcReduction="10000"/>
          </a:bodyPr>
          <a:lstStyle/>
          <a:p>
            <a:pPr marL="0" indent="0" algn="l">
              <a:buNone/>
            </a:pPr>
            <a:r>
              <a:rPr lang="en-US" sz="1125" b="1" kern="0" spc="90" dirty="0">
                <a:solidFill>
                  <a:srgbClr val="0F5B4C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STRATEGY &amp; OPERATIONS</a:t>
            </a:r>
            <a:endParaRPr lang="en-US" sz="1125" dirty="0"/>
          </a:p>
        </p:txBody>
      </p:sp>
      <p:sp>
        <p:nvSpPr>
          <p:cNvPr id="58" name="Text 56"/>
          <p:cNvSpPr/>
          <p:nvPr/>
        </p:nvSpPr>
        <p:spPr>
          <a:xfrm>
            <a:off x="6762512" y="9768840"/>
            <a:ext cx="6807066" cy="2133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200" kern="0" spc="48" dirty="0">
                <a:solidFill>
                  <a:srgbClr val="94A3B8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Engineering model · CEA daily renewable generation 2019–25 · industry RTE benchmarks</a:t>
            </a:r>
            <a:endParaRPr lang="en-US" sz="1200" dirty="0"/>
          </a:p>
        </p:txBody>
      </p:sp>
      <p:sp>
        <p:nvSpPr>
          <p:cNvPr id="59" name="Text 57"/>
          <p:cNvSpPr/>
          <p:nvPr/>
        </p:nvSpPr>
        <p:spPr>
          <a:xfrm>
            <a:off x="16869370" y="9768840"/>
            <a:ext cx="542330" cy="2133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475569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13 </a:t>
            </a:r>
            <a:r>
              <a:rPr lang="en-US" sz="1200" dirty="0">
                <a:solidFill>
                  <a:srgbClr val="94A3B8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/ 20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685800"/>
            <a:ext cx="16874490" cy="2362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350" b="1" kern="0" spc="216" dirty="0">
                <a:solidFill>
                  <a:srgbClr val="0F5B4C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05 · ECONOMICS CBA · PIGOUVIAN · WRIGHT'S LAW</a:t>
            </a:r>
            <a:endParaRPr lang="en-US" sz="1350" dirty="0"/>
          </a:p>
        </p:txBody>
      </p:sp>
      <p:sp>
        <p:nvSpPr>
          <p:cNvPr id="3" name="Text 1"/>
          <p:cNvSpPr/>
          <p:nvPr/>
        </p:nvSpPr>
        <p:spPr>
          <a:xfrm>
            <a:off x="952500" y="1055370"/>
            <a:ext cx="14716125" cy="6553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4500" b="1" kern="0" spc="-90" dirty="0">
                <a:solidFill>
                  <a:srgbClr val="0F172A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The financial case is positive on every dimension</a:t>
            </a:r>
            <a:endParaRPr lang="en-US" sz="4500" dirty="0"/>
          </a:p>
        </p:txBody>
      </p:sp>
      <p:sp>
        <p:nvSpPr>
          <p:cNvPr id="4" name="Text 2"/>
          <p:cNvSpPr/>
          <p:nvPr/>
        </p:nvSpPr>
        <p:spPr>
          <a:xfrm>
            <a:off x="952500" y="1805940"/>
            <a:ext cx="14716125" cy="3724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950" dirty="0">
                <a:solidFill>
                  <a:srgbClr val="475569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BESS pays back in seven years. Coal is mispriced by Rs 572/MWh. Solar will reach Rs 1.5/kWh by 2030.</a:t>
            </a:r>
            <a:endParaRPr lang="en-US" sz="1950" dirty="0"/>
          </a:p>
        </p:txBody>
      </p:sp>
      <p:sp>
        <p:nvSpPr>
          <p:cNvPr id="5" name="Shape 3"/>
          <p:cNvSpPr/>
          <p:nvPr/>
        </p:nvSpPr>
        <p:spPr>
          <a:xfrm>
            <a:off x="952500" y="2406967"/>
            <a:ext cx="609600" cy="38100"/>
          </a:xfrm>
          <a:prstGeom prst="roundRect">
            <a:avLst>
              <a:gd name="adj" fmla="val 50000"/>
            </a:avLst>
          </a:prstGeom>
          <a:solidFill>
            <a:srgbClr val="86BC25"/>
          </a:solidFill>
          <a:ln/>
        </p:spPr>
      </p:sp>
      <p:sp>
        <p:nvSpPr>
          <p:cNvPr id="6" name="Shape 4"/>
          <p:cNvSpPr/>
          <p:nvPr/>
        </p:nvSpPr>
        <p:spPr>
          <a:xfrm>
            <a:off x="952500" y="2711768"/>
            <a:ext cx="5308521" cy="6336982"/>
          </a:xfrm>
          <a:prstGeom prst="rect">
            <a:avLst/>
          </a:prstGeom>
          <a:ln w="7620">
            <a:solidFill>
              <a:srgbClr val="E5E7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207770" y="2928938"/>
            <a:ext cx="4941920" cy="1828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975" b="1" kern="0" spc="156" dirty="0">
                <a:solidFill>
                  <a:srgbClr val="475569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EXHIBIT 11A</a:t>
            </a:r>
            <a:endParaRPr lang="en-US" sz="975" dirty="0"/>
          </a:p>
        </p:txBody>
      </p:sp>
      <p:sp>
        <p:nvSpPr>
          <p:cNvPr id="8" name="Text 6"/>
          <p:cNvSpPr/>
          <p:nvPr/>
        </p:nvSpPr>
        <p:spPr>
          <a:xfrm>
            <a:off x="1207770" y="3073718"/>
            <a:ext cx="4941920" cy="259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F172A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BESS investment NPV @ 10% WACC</a:t>
            </a:r>
            <a:endParaRPr lang="en-US" sz="1500" dirty="0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07770" y="3370897"/>
            <a:ext cx="4797981" cy="4799648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1207770" y="8141970"/>
            <a:ext cx="4797981" cy="9525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11" name="Text 8"/>
          <p:cNvSpPr/>
          <p:nvPr/>
        </p:nvSpPr>
        <p:spPr>
          <a:xfrm>
            <a:off x="1207770" y="8282940"/>
            <a:ext cx="4941920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550" b="1" dirty="0">
                <a:solidFill>
                  <a:srgbClr val="0F5B4C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+₹11.7k Cr</a:t>
            </a:r>
            <a:endParaRPr lang="en-US" sz="2550" dirty="0"/>
          </a:p>
        </p:txBody>
      </p:sp>
      <p:sp>
        <p:nvSpPr>
          <p:cNvPr id="12" name="Text 9"/>
          <p:cNvSpPr/>
          <p:nvPr/>
        </p:nvSpPr>
        <p:spPr>
          <a:xfrm>
            <a:off x="1207770" y="8663940"/>
            <a:ext cx="4941920" cy="2057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125" dirty="0">
                <a:solidFill>
                  <a:srgbClr val="475569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NPV positive · payback 7.1 years</a:t>
            </a:r>
            <a:endParaRPr lang="en-US" sz="1125" dirty="0"/>
          </a:p>
        </p:txBody>
      </p:sp>
      <p:sp>
        <p:nvSpPr>
          <p:cNvPr id="13" name="Shape 10"/>
          <p:cNvSpPr/>
          <p:nvPr/>
        </p:nvSpPr>
        <p:spPr>
          <a:xfrm>
            <a:off x="6489621" y="2711768"/>
            <a:ext cx="5308640" cy="6336982"/>
          </a:xfrm>
          <a:prstGeom prst="rect">
            <a:avLst/>
          </a:prstGeom>
          <a:ln w="7620">
            <a:solidFill>
              <a:srgbClr val="E5E7EB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744891" y="2928938"/>
            <a:ext cx="4942043" cy="1828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975" b="1" kern="0" spc="156" dirty="0">
                <a:solidFill>
                  <a:srgbClr val="475569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EXHIBIT 11B</a:t>
            </a:r>
            <a:endParaRPr lang="en-US" sz="975" dirty="0"/>
          </a:p>
        </p:txBody>
      </p:sp>
      <p:sp>
        <p:nvSpPr>
          <p:cNvPr id="15" name="Text 12"/>
          <p:cNvSpPr/>
          <p:nvPr/>
        </p:nvSpPr>
        <p:spPr>
          <a:xfrm>
            <a:off x="6744891" y="3073718"/>
            <a:ext cx="4942043" cy="259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F172A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Coal: market vs. social cost (₹/MWh)</a:t>
            </a:r>
            <a:endParaRPr lang="en-US" sz="1500" dirty="0"/>
          </a:p>
        </p:txBody>
      </p:sp>
      <p:pic>
        <p:nvPicPr>
          <p:cNvPr id="1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44891" y="3370897"/>
            <a:ext cx="4798100" cy="4780598"/>
          </a:xfrm>
          <a:prstGeom prst="rect">
            <a:avLst/>
          </a:prstGeom>
        </p:spPr>
      </p:pic>
      <p:sp>
        <p:nvSpPr>
          <p:cNvPr id="17" name="Shape 13"/>
          <p:cNvSpPr/>
          <p:nvPr/>
        </p:nvSpPr>
        <p:spPr>
          <a:xfrm>
            <a:off x="6744891" y="8141970"/>
            <a:ext cx="4798100" cy="9525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18" name="Text 14"/>
          <p:cNvSpPr/>
          <p:nvPr/>
        </p:nvSpPr>
        <p:spPr>
          <a:xfrm>
            <a:off x="6744891" y="8282940"/>
            <a:ext cx="4942043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550" b="1" dirty="0">
                <a:solidFill>
                  <a:srgbClr val="0F5B4C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₹572/MWh</a:t>
            </a:r>
            <a:endParaRPr lang="en-US" sz="2550" dirty="0"/>
          </a:p>
        </p:txBody>
      </p:sp>
      <p:sp>
        <p:nvSpPr>
          <p:cNvPr id="19" name="Text 15"/>
          <p:cNvSpPr/>
          <p:nvPr/>
        </p:nvSpPr>
        <p:spPr>
          <a:xfrm>
            <a:off x="6744891" y="8663940"/>
            <a:ext cx="4942043" cy="2057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125" dirty="0">
                <a:solidFill>
                  <a:srgbClr val="475569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Optimal carbon tax · ~₹80,000 Cr/yr revenue</a:t>
            </a:r>
            <a:endParaRPr lang="en-US" sz="1125" dirty="0"/>
          </a:p>
        </p:txBody>
      </p:sp>
      <p:sp>
        <p:nvSpPr>
          <p:cNvPr id="20" name="Shape 16"/>
          <p:cNvSpPr/>
          <p:nvPr/>
        </p:nvSpPr>
        <p:spPr>
          <a:xfrm>
            <a:off x="12026860" y="2711768"/>
            <a:ext cx="5308640" cy="6336982"/>
          </a:xfrm>
          <a:prstGeom prst="rect">
            <a:avLst/>
          </a:prstGeom>
          <a:ln w="7620">
            <a:solidFill>
              <a:srgbClr val="E5E7EB"/>
            </a:solidFill>
            <a:prstDash val="solid"/>
          </a:ln>
        </p:spPr>
      </p:sp>
      <p:sp>
        <p:nvSpPr>
          <p:cNvPr id="21" name="Text 17"/>
          <p:cNvSpPr/>
          <p:nvPr/>
        </p:nvSpPr>
        <p:spPr>
          <a:xfrm>
            <a:off x="12282131" y="2928938"/>
            <a:ext cx="4942043" cy="1828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975" b="1" kern="0" spc="156" dirty="0">
                <a:solidFill>
                  <a:srgbClr val="475569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EXHIBIT 11C</a:t>
            </a:r>
            <a:endParaRPr lang="en-US" sz="975" dirty="0"/>
          </a:p>
        </p:txBody>
      </p:sp>
      <p:sp>
        <p:nvSpPr>
          <p:cNvPr id="22" name="Text 18"/>
          <p:cNvSpPr/>
          <p:nvPr/>
        </p:nvSpPr>
        <p:spPr>
          <a:xfrm>
            <a:off x="12282131" y="3073718"/>
            <a:ext cx="4942043" cy="259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F172A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Solar LCOE vs. cumulative capacity (Wright's law)</a:t>
            </a:r>
            <a:endParaRPr lang="en-US" sz="1500" dirty="0"/>
          </a:p>
        </p:txBody>
      </p:sp>
      <p:pic>
        <p:nvPicPr>
          <p:cNvPr id="2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282131" y="3370896"/>
            <a:ext cx="4798100" cy="4799649"/>
          </a:xfrm>
          <a:prstGeom prst="rect">
            <a:avLst/>
          </a:prstGeom>
        </p:spPr>
      </p:pic>
      <p:sp>
        <p:nvSpPr>
          <p:cNvPr id="24" name="Shape 19"/>
          <p:cNvSpPr/>
          <p:nvPr/>
        </p:nvSpPr>
        <p:spPr>
          <a:xfrm>
            <a:off x="12282131" y="8141970"/>
            <a:ext cx="4798100" cy="9525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25" name="Text 20"/>
          <p:cNvSpPr/>
          <p:nvPr/>
        </p:nvSpPr>
        <p:spPr>
          <a:xfrm>
            <a:off x="12282131" y="8282940"/>
            <a:ext cx="4942043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550" b="1" dirty="0">
                <a:solidFill>
                  <a:srgbClr val="0F5B4C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₹1.5/kWh</a:t>
            </a:r>
            <a:endParaRPr lang="en-US" sz="2550" dirty="0"/>
          </a:p>
        </p:txBody>
      </p:sp>
      <p:sp>
        <p:nvSpPr>
          <p:cNvPr id="26" name="Text 21"/>
          <p:cNvSpPr/>
          <p:nvPr/>
        </p:nvSpPr>
        <p:spPr>
          <a:xfrm>
            <a:off x="12282131" y="8663940"/>
            <a:ext cx="4942043" cy="2057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125" dirty="0">
                <a:solidFill>
                  <a:srgbClr val="475569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Solar LCOE at 400 GW · 28% learning rate</a:t>
            </a:r>
            <a:endParaRPr lang="en-US" sz="1125" dirty="0"/>
          </a:p>
        </p:txBody>
      </p:sp>
      <p:sp>
        <p:nvSpPr>
          <p:cNvPr id="27" name="Shape 22"/>
          <p:cNvSpPr/>
          <p:nvPr/>
        </p:nvSpPr>
        <p:spPr>
          <a:xfrm>
            <a:off x="952500" y="9627870"/>
            <a:ext cx="16383000" cy="31623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8" name="Shape 23"/>
          <p:cNvSpPr/>
          <p:nvPr/>
        </p:nvSpPr>
        <p:spPr>
          <a:xfrm>
            <a:off x="952500" y="9627870"/>
            <a:ext cx="16383000" cy="9525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29" name="Text 24"/>
          <p:cNvSpPr/>
          <p:nvPr/>
        </p:nvSpPr>
        <p:spPr>
          <a:xfrm>
            <a:off x="952500" y="9772650"/>
            <a:ext cx="2388156" cy="2057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lnSpcReduction="10000"/>
          </a:bodyPr>
          <a:lstStyle/>
          <a:p>
            <a:pPr marL="0" indent="0" algn="l">
              <a:buNone/>
            </a:pPr>
            <a:r>
              <a:rPr lang="en-US" sz="1125" b="1" kern="0" spc="90" dirty="0">
                <a:solidFill>
                  <a:srgbClr val="0F5B4C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STRATEGY &amp; OPERATIONS</a:t>
            </a:r>
            <a:endParaRPr lang="en-US" sz="1125" dirty="0"/>
          </a:p>
        </p:txBody>
      </p:sp>
      <p:sp>
        <p:nvSpPr>
          <p:cNvPr id="30" name="Text 25"/>
          <p:cNvSpPr/>
          <p:nvPr/>
        </p:nvSpPr>
        <p:spPr>
          <a:xfrm>
            <a:off x="6719411" y="9768840"/>
            <a:ext cx="6895976" cy="2133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200" kern="0" spc="48" dirty="0">
                <a:solidFill>
                  <a:srgbClr val="94A3B8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Source: BESS CBA model · CICERO emissions intensity · IRENA learning rate benchmarks</a:t>
            </a:r>
            <a:endParaRPr lang="en-US" sz="1200" dirty="0"/>
          </a:p>
        </p:txBody>
      </p:sp>
      <p:sp>
        <p:nvSpPr>
          <p:cNvPr id="31" name="Text 26"/>
          <p:cNvSpPr/>
          <p:nvPr/>
        </p:nvSpPr>
        <p:spPr>
          <a:xfrm>
            <a:off x="16869370" y="9768840"/>
            <a:ext cx="542330" cy="2133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475569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14 </a:t>
            </a:r>
            <a:r>
              <a:rPr lang="en-US" sz="1200" dirty="0">
                <a:solidFill>
                  <a:srgbClr val="94A3B8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/ 20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685800"/>
            <a:ext cx="16874490" cy="2362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350" b="1" kern="0" spc="216" dirty="0">
                <a:solidFill>
                  <a:srgbClr val="0F5B4C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05 · ECONOMICS MULTI-PERIOD LP BUILD PLAN</a:t>
            </a:r>
            <a:endParaRPr lang="en-US" sz="1350" dirty="0"/>
          </a:p>
        </p:txBody>
      </p:sp>
      <p:sp>
        <p:nvSpPr>
          <p:cNvPr id="3" name="Text 1"/>
          <p:cNvSpPr/>
          <p:nvPr/>
        </p:nvSpPr>
        <p:spPr>
          <a:xfrm>
            <a:off x="952500" y="1055370"/>
            <a:ext cx="14716125" cy="12725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4500" b="1" kern="0" spc="-90" dirty="0">
                <a:solidFill>
                  <a:srgbClr val="0F172A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A six-year, ₹3.65 lakh Cr build plan that respects budget and ramp constraints</a:t>
            </a:r>
            <a:endParaRPr lang="en-US" sz="4500" dirty="0"/>
          </a:p>
        </p:txBody>
      </p:sp>
      <p:sp>
        <p:nvSpPr>
          <p:cNvPr id="4" name="Text 2"/>
          <p:cNvSpPr/>
          <p:nvPr/>
        </p:nvSpPr>
        <p:spPr>
          <a:xfrm>
            <a:off x="952500" y="2423160"/>
            <a:ext cx="14716125" cy="3724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950" dirty="0">
                <a:solidFill>
                  <a:srgbClr val="475569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Optimisation minimises NPV cost subject to demand, an annual budget ceiling of ₹80,000 Cr, and engineering ramp limits.</a:t>
            </a:r>
            <a:endParaRPr lang="en-US" sz="1950" dirty="0"/>
          </a:p>
        </p:txBody>
      </p:sp>
      <p:sp>
        <p:nvSpPr>
          <p:cNvPr id="5" name="Shape 3"/>
          <p:cNvSpPr/>
          <p:nvPr/>
        </p:nvSpPr>
        <p:spPr>
          <a:xfrm>
            <a:off x="952500" y="3024188"/>
            <a:ext cx="609600" cy="38100"/>
          </a:xfrm>
          <a:prstGeom prst="roundRect">
            <a:avLst>
              <a:gd name="adj" fmla="val 50000"/>
            </a:avLst>
          </a:prstGeom>
          <a:solidFill>
            <a:srgbClr val="86BC25"/>
          </a:solidFill>
          <a:ln/>
        </p:spPr>
      </p:sp>
      <p:sp>
        <p:nvSpPr>
          <p:cNvPr id="6" name="Shape 4"/>
          <p:cNvSpPr/>
          <p:nvPr/>
        </p:nvSpPr>
        <p:spPr>
          <a:xfrm>
            <a:off x="952500" y="3328988"/>
            <a:ext cx="1110139" cy="502920"/>
          </a:xfrm>
          <a:prstGeom prst="rect">
            <a:avLst/>
          </a:prstGeom>
          <a:solidFill>
            <a:srgbClr val="0F5B4C"/>
          </a:solidFill>
          <a:ln/>
        </p:spPr>
      </p:sp>
      <p:sp>
        <p:nvSpPr>
          <p:cNvPr id="7" name="Text 5"/>
          <p:cNvSpPr/>
          <p:nvPr/>
        </p:nvSpPr>
        <p:spPr>
          <a:xfrm>
            <a:off x="1123950" y="3481388"/>
            <a:ext cx="843439" cy="2362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lnSpcReduction="10000"/>
          </a:bodyPr>
          <a:lstStyle/>
          <a:p>
            <a:pPr marL="0" indent="0" algn="l">
              <a:buNone/>
            </a:pPr>
            <a:r>
              <a:rPr lang="en-US" sz="1350" b="1" kern="0" spc="68" dirty="0">
                <a:solidFill>
                  <a:srgbClr val="FFFFFF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YEAR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2062639" y="3328988"/>
            <a:ext cx="1664256" cy="502920"/>
          </a:xfrm>
          <a:prstGeom prst="rect">
            <a:avLst/>
          </a:prstGeom>
          <a:solidFill>
            <a:srgbClr val="0F5B4C"/>
          </a:solidFill>
          <a:ln/>
        </p:spPr>
      </p:sp>
      <p:sp>
        <p:nvSpPr>
          <p:cNvPr id="9" name="Text 7"/>
          <p:cNvSpPr/>
          <p:nvPr/>
        </p:nvSpPr>
        <p:spPr>
          <a:xfrm>
            <a:off x="2157889" y="3481388"/>
            <a:ext cx="1397556" cy="2362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lnSpcReduction="10000"/>
          </a:bodyPr>
          <a:lstStyle/>
          <a:p>
            <a:pPr marL="0" indent="0" algn="r">
              <a:buNone/>
            </a:pPr>
            <a:r>
              <a:rPr lang="en-US" sz="1350" b="1" kern="0" spc="68" dirty="0">
                <a:solidFill>
                  <a:srgbClr val="FFFFFF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SOLAR (GW)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3726894" y="3328988"/>
            <a:ext cx="1494473" cy="502920"/>
          </a:xfrm>
          <a:prstGeom prst="rect">
            <a:avLst/>
          </a:prstGeom>
          <a:solidFill>
            <a:srgbClr val="0F5B4C"/>
          </a:solidFill>
          <a:ln/>
        </p:spPr>
      </p:sp>
      <p:sp>
        <p:nvSpPr>
          <p:cNvPr id="11" name="Text 9"/>
          <p:cNvSpPr/>
          <p:nvPr/>
        </p:nvSpPr>
        <p:spPr>
          <a:xfrm>
            <a:off x="3822144" y="3481388"/>
            <a:ext cx="1227773" cy="2362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lnSpcReduction="10000"/>
          </a:bodyPr>
          <a:lstStyle/>
          <a:p>
            <a:pPr marL="0" indent="0" algn="r">
              <a:buNone/>
            </a:pPr>
            <a:r>
              <a:rPr lang="en-US" sz="1350" b="1" kern="0" spc="68" dirty="0">
                <a:solidFill>
                  <a:srgbClr val="FFFFFF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WIND (GW)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5221367" y="3328988"/>
            <a:ext cx="2114550" cy="502920"/>
          </a:xfrm>
          <a:prstGeom prst="rect">
            <a:avLst/>
          </a:prstGeom>
          <a:solidFill>
            <a:srgbClr val="0F5B4C"/>
          </a:solidFill>
          <a:ln/>
        </p:spPr>
      </p:sp>
      <p:sp>
        <p:nvSpPr>
          <p:cNvPr id="13" name="Text 11"/>
          <p:cNvSpPr/>
          <p:nvPr/>
        </p:nvSpPr>
        <p:spPr>
          <a:xfrm>
            <a:off x="5316617" y="3481388"/>
            <a:ext cx="1847850" cy="2362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lnSpcReduction="10000"/>
          </a:bodyPr>
          <a:lstStyle/>
          <a:p>
            <a:pPr marL="0" indent="0" algn="r">
              <a:buNone/>
            </a:pPr>
            <a:r>
              <a:rPr lang="en-US" sz="1350" b="1" kern="0" spc="68" dirty="0">
                <a:solidFill>
                  <a:srgbClr val="FFFFFF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BESS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7335917" y="3328988"/>
            <a:ext cx="1779865" cy="502920"/>
          </a:xfrm>
          <a:prstGeom prst="rect">
            <a:avLst/>
          </a:prstGeom>
          <a:solidFill>
            <a:srgbClr val="0F5B4C"/>
          </a:solidFill>
          <a:ln/>
        </p:spPr>
      </p:sp>
      <p:sp>
        <p:nvSpPr>
          <p:cNvPr id="15" name="Text 13"/>
          <p:cNvSpPr/>
          <p:nvPr/>
        </p:nvSpPr>
        <p:spPr>
          <a:xfrm>
            <a:off x="7431167" y="3481388"/>
            <a:ext cx="1513165" cy="2362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lnSpcReduction="10000"/>
          </a:bodyPr>
          <a:lstStyle/>
          <a:p>
            <a:pPr marL="0" indent="0" algn="r">
              <a:buNone/>
            </a:pPr>
            <a:r>
              <a:rPr lang="en-US" sz="1350" b="1" kern="0" spc="68" dirty="0">
                <a:solidFill>
                  <a:srgbClr val="FFFFFF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CAPEX (₹ CR)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9115783" y="3328988"/>
            <a:ext cx="1971913" cy="502920"/>
          </a:xfrm>
          <a:prstGeom prst="rect">
            <a:avLst/>
          </a:prstGeom>
          <a:solidFill>
            <a:srgbClr val="0F5B4C"/>
          </a:solidFill>
          <a:ln/>
        </p:spPr>
      </p:sp>
      <p:sp>
        <p:nvSpPr>
          <p:cNvPr id="17" name="Text 15"/>
          <p:cNvSpPr/>
          <p:nvPr/>
        </p:nvSpPr>
        <p:spPr>
          <a:xfrm>
            <a:off x="9211033" y="3481388"/>
            <a:ext cx="1705213" cy="2362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lnSpcReduction="10000"/>
          </a:bodyPr>
          <a:lstStyle/>
          <a:p>
            <a:pPr marL="0" indent="0" algn="r">
              <a:buNone/>
            </a:pPr>
            <a:r>
              <a:rPr lang="en-US" sz="1350" b="1" kern="0" spc="68" dirty="0">
                <a:solidFill>
                  <a:srgbClr val="FFFFFF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CUMUL. SOLAR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952500" y="3831908"/>
            <a:ext cx="1110139" cy="544830"/>
          </a:xfrm>
          <a:prstGeom prst="rect">
            <a:avLst/>
          </a:prstGeom>
          <a:solidFill>
            <a:srgbClr val="FAFBFB"/>
          </a:solidFill>
          <a:ln/>
        </p:spPr>
      </p:sp>
      <p:sp>
        <p:nvSpPr>
          <p:cNvPr id="19" name="Shape 17"/>
          <p:cNvSpPr/>
          <p:nvPr/>
        </p:nvSpPr>
        <p:spPr>
          <a:xfrm>
            <a:off x="952500" y="4369118"/>
            <a:ext cx="1110139" cy="9525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20" name="Text 18"/>
          <p:cNvSpPr/>
          <p:nvPr/>
        </p:nvSpPr>
        <p:spPr>
          <a:xfrm>
            <a:off x="1123950" y="3984308"/>
            <a:ext cx="843439" cy="2705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lnSpcReduction="10000"/>
          </a:bodyPr>
          <a:lstStyle/>
          <a:p>
            <a:pPr marL="0" indent="0" algn="l">
              <a:buNone/>
            </a:pPr>
            <a:r>
              <a:rPr lang="en-US" sz="1575" dirty="0">
                <a:solidFill>
                  <a:srgbClr val="1F2937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2025</a:t>
            </a:r>
            <a:endParaRPr lang="en-US" sz="1575" dirty="0"/>
          </a:p>
        </p:txBody>
      </p:sp>
      <p:sp>
        <p:nvSpPr>
          <p:cNvPr id="21" name="Shape 19"/>
          <p:cNvSpPr/>
          <p:nvPr/>
        </p:nvSpPr>
        <p:spPr>
          <a:xfrm>
            <a:off x="2062639" y="3831908"/>
            <a:ext cx="1664256" cy="544830"/>
          </a:xfrm>
          <a:prstGeom prst="rect">
            <a:avLst/>
          </a:prstGeom>
          <a:solidFill>
            <a:srgbClr val="FAFBFB"/>
          </a:solidFill>
          <a:ln/>
        </p:spPr>
      </p:sp>
      <p:sp>
        <p:nvSpPr>
          <p:cNvPr id="22" name="Shape 20"/>
          <p:cNvSpPr/>
          <p:nvPr/>
        </p:nvSpPr>
        <p:spPr>
          <a:xfrm>
            <a:off x="2062639" y="4369118"/>
            <a:ext cx="1664256" cy="9525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23" name="Text 21"/>
          <p:cNvSpPr/>
          <p:nvPr/>
        </p:nvSpPr>
        <p:spPr>
          <a:xfrm>
            <a:off x="2157889" y="3984308"/>
            <a:ext cx="1397556" cy="2705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lnSpcReduction="10000"/>
          </a:bodyPr>
          <a:lstStyle/>
          <a:p>
            <a:pPr marL="0" indent="0" algn="r">
              <a:buNone/>
            </a:pPr>
            <a:r>
              <a:rPr lang="en-US" sz="1575" dirty="0">
                <a:solidFill>
                  <a:srgbClr val="1F2937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28</a:t>
            </a:r>
            <a:endParaRPr lang="en-US" sz="1575" dirty="0"/>
          </a:p>
        </p:txBody>
      </p:sp>
      <p:sp>
        <p:nvSpPr>
          <p:cNvPr id="24" name="Shape 22"/>
          <p:cNvSpPr/>
          <p:nvPr/>
        </p:nvSpPr>
        <p:spPr>
          <a:xfrm>
            <a:off x="3726894" y="3831908"/>
            <a:ext cx="1494473" cy="544830"/>
          </a:xfrm>
          <a:prstGeom prst="rect">
            <a:avLst/>
          </a:prstGeom>
          <a:solidFill>
            <a:srgbClr val="FAFBFB"/>
          </a:solidFill>
          <a:ln/>
        </p:spPr>
      </p:sp>
      <p:sp>
        <p:nvSpPr>
          <p:cNvPr id="25" name="Shape 23"/>
          <p:cNvSpPr/>
          <p:nvPr/>
        </p:nvSpPr>
        <p:spPr>
          <a:xfrm>
            <a:off x="3726894" y="4369118"/>
            <a:ext cx="1494473" cy="9525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26" name="Text 24"/>
          <p:cNvSpPr/>
          <p:nvPr/>
        </p:nvSpPr>
        <p:spPr>
          <a:xfrm>
            <a:off x="3822144" y="3984308"/>
            <a:ext cx="1227773" cy="2705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lnSpcReduction="10000"/>
          </a:bodyPr>
          <a:lstStyle/>
          <a:p>
            <a:pPr marL="0" indent="0" algn="r">
              <a:buNone/>
            </a:pPr>
            <a:r>
              <a:rPr lang="en-US" sz="1575" dirty="0">
                <a:solidFill>
                  <a:srgbClr val="1F2937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8</a:t>
            </a:r>
            <a:endParaRPr lang="en-US" sz="1575" dirty="0"/>
          </a:p>
        </p:txBody>
      </p:sp>
      <p:sp>
        <p:nvSpPr>
          <p:cNvPr id="27" name="Shape 25"/>
          <p:cNvSpPr/>
          <p:nvPr/>
        </p:nvSpPr>
        <p:spPr>
          <a:xfrm>
            <a:off x="5221367" y="3831908"/>
            <a:ext cx="2114550" cy="544830"/>
          </a:xfrm>
          <a:prstGeom prst="rect">
            <a:avLst/>
          </a:prstGeom>
          <a:solidFill>
            <a:srgbClr val="FAFBFB"/>
          </a:solidFill>
          <a:ln/>
        </p:spPr>
      </p:sp>
      <p:sp>
        <p:nvSpPr>
          <p:cNvPr id="28" name="Shape 26"/>
          <p:cNvSpPr/>
          <p:nvPr/>
        </p:nvSpPr>
        <p:spPr>
          <a:xfrm>
            <a:off x="5221367" y="4369118"/>
            <a:ext cx="2114550" cy="9525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29" name="Text 27"/>
          <p:cNvSpPr/>
          <p:nvPr/>
        </p:nvSpPr>
        <p:spPr>
          <a:xfrm>
            <a:off x="5316617" y="3984308"/>
            <a:ext cx="1847850" cy="2705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lnSpcReduction="10000"/>
          </a:bodyPr>
          <a:lstStyle/>
          <a:p>
            <a:pPr marL="0" indent="0" algn="r">
              <a:buNone/>
            </a:pPr>
            <a:r>
              <a:rPr lang="en-US" sz="1575" dirty="0">
                <a:solidFill>
                  <a:srgbClr val="1F2937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2 GW · 8 GWh</a:t>
            </a:r>
            <a:endParaRPr lang="en-US" sz="1575" dirty="0"/>
          </a:p>
        </p:txBody>
      </p:sp>
      <p:sp>
        <p:nvSpPr>
          <p:cNvPr id="30" name="Shape 28"/>
          <p:cNvSpPr/>
          <p:nvPr/>
        </p:nvSpPr>
        <p:spPr>
          <a:xfrm>
            <a:off x="7335917" y="3831908"/>
            <a:ext cx="1779865" cy="544830"/>
          </a:xfrm>
          <a:prstGeom prst="rect">
            <a:avLst/>
          </a:prstGeom>
          <a:solidFill>
            <a:srgbClr val="FAFBFB"/>
          </a:solidFill>
          <a:ln/>
        </p:spPr>
      </p:sp>
      <p:sp>
        <p:nvSpPr>
          <p:cNvPr id="31" name="Shape 29"/>
          <p:cNvSpPr/>
          <p:nvPr/>
        </p:nvSpPr>
        <p:spPr>
          <a:xfrm>
            <a:off x="7335917" y="4369118"/>
            <a:ext cx="1779865" cy="9525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32" name="Text 30"/>
          <p:cNvSpPr/>
          <p:nvPr/>
        </p:nvSpPr>
        <p:spPr>
          <a:xfrm>
            <a:off x="7431167" y="3984308"/>
            <a:ext cx="1513165" cy="2705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lnSpcReduction="10000"/>
          </a:bodyPr>
          <a:lstStyle/>
          <a:p>
            <a:pPr marL="0" indent="0" algn="r">
              <a:buNone/>
            </a:pPr>
            <a:r>
              <a:rPr lang="en-US" sz="1575" dirty="0">
                <a:solidFill>
                  <a:srgbClr val="1F2937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42,000</a:t>
            </a:r>
            <a:endParaRPr lang="en-US" sz="1575" dirty="0"/>
          </a:p>
        </p:txBody>
      </p:sp>
      <p:sp>
        <p:nvSpPr>
          <p:cNvPr id="33" name="Shape 31"/>
          <p:cNvSpPr/>
          <p:nvPr/>
        </p:nvSpPr>
        <p:spPr>
          <a:xfrm>
            <a:off x="9115783" y="3831908"/>
            <a:ext cx="1971913" cy="544830"/>
          </a:xfrm>
          <a:prstGeom prst="rect">
            <a:avLst/>
          </a:prstGeom>
          <a:solidFill>
            <a:srgbClr val="FAFBFB"/>
          </a:solidFill>
          <a:ln/>
        </p:spPr>
      </p:sp>
      <p:sp>
        <p:nvSpPr>
          <p:cNvPr id="34" name="Shape 32"/>
          <p:cNvSpPr/>
          <p:nvPr/>
        </p:nvSpPr>
        <p:spPr>
          <a:xfrm>
            <a:off x="9115783" y="4369118"/>
            <a:ext cx="1971913" cy="9525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35" name="Text 33"/>
          <p:cNvSpPr/>
          <p:nvPr/>
        </p:nvSpPr>
        <p:spPr>
          <a:xfrm>
            <a:off x="9211033" y="3984308"/>
            <a:ext cx="1705213" cy="2705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lnSpcReduction="10000"/>
          </a:bodyPr>
          <a:lstStyle/>
          <a:p>
            <a:pPr marL="0" indent="0" algn="r">
              <a:buNone/>
            </a:pPr>
            <a:r>
              <a:rPr lang="en-US" sz="1575" dirty="0">
                <a:solidFill>
                  <a:srgbClr val="1F2937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178 GW</a:t>
            </a:r>
            <a:endParaRPr lang="en-US" sz="1575" dirty="0"/>
          </a:p>
        </p:txBody>
      </p:sp>
      <p:sp>
        <p:nvSpPr>
          <p:cNvPr id="36" name="Shape 34"/>
          <p:cNvSpPr/>
          <p:nvPr/>
        </p:nvSpPr>
        <p:spPr>
          <a:xfrm>
            <a:off x="952500" y="4917758"/>
            <a:ext cx="1110139" cy="9525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37" name="Text 35"/>
          <p:cNvSpPr/>
          <p:nvPr/>
        </p:nvSpPr>
        <p:spPr>
          <a:xfrm>
            <a:off x="1123950" y="4529138"/>
            <a:ext cx="843439" cy="2743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lnSpcReduction="10000"/>
          </a:bodyPr>
          <a:lstStyle/>
          <a:p>
            <a:pPr marL="0" indent="0" algn="l">
              <a:buNone/>
            </a:pPr>
            <a:r>
              <a:rPr lang="en-US" sz="1575" dirty="0">
                <a:solidFill>
                  <a:srgbClr val="1F2937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2026</a:t>
            </a:r>
            <a:endParaRPr lang="en-US" sz="1575" dirty="0"/>
          </a:p>
        </p:txBody>
      </p:sp>
      <p:sp>
        <p:nvSpPr>
          <p:cNvPr id="38" name="Shape 36"/>
          <p:cNvSpPr/>
          <p:nvPr/>
        </p:nvSpPr>
        <p:spPr>
          <a:xfrm>
            <a:off x="2062639" y="4917758"/>
            <a:ext cx="1664256" cy="9525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39" name="Text 37"/>
          <p:cNvSpPr/>
          <p:nvPr/>
        </p:nvSpPr>
        <p:spPr>
          <a:xfrm>
            <a:off x="2157889" y="4529138"/>
            <a:ext cx="1397556" cy="2743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lnSpcReduction="10000"/>
          </a:bodyPr>
          <a:lstStyle/>
          <a:p>
            <a:pPr marL="0" indent="0" algn="r">
              <a:buNone/>
            </a:pPr>
            <a:r>
              <a:rPr lang="en-US" sz="1575" dirty="0">
                <a:solidFill>
                  <a:srgbClr val="1F2937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32</a:t>
            </a:r>
            <a:endParaRPr lang="en-US" sz="1575" dirty="0"/>
          </a:p>
        </p:txBody>
      </p:sp>
      <p:sp>
        <p:nvSpPr>
          <p:cNvPr id="40" name="Shape 38"/>
          <p:cNvSpPr/>
          <p:nvPr/>
        </p:nvSpPr>
        <p:spPr>
          <a:xfrm>
            <a:off x="3726894" y="4917758"/>
            <a:ext cx="1494473" cy="9525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41" name="Text 39"/>
          <p:cNvSpPr/>
          <p:nvPr/>
        </p:nvSpPr>
        <p:spPr>
          <a:xfrm>
            <a:off x="3822144" y="4529138"/>
            <a:ext cx="1227773" cy="2743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lnSpcReduction="10000"/>
          </a:bodyPr>
          <a:lstStyle/>
          <a:p>
            <a:pPr marL="0" indent="0" algn="r">
              <a:buNone/>
            </a:pPr>
            <a:r>
              <a:rPr lang="en-US" sz="1575" dirty="0">
                <a:solidFill>
                  <a:srgbClr val="1F2937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9</a:t>
            </a:r>
            <a:endParaRPr lang="en-US" sz="1575" dirty="0"/>
          </a:p>
        </p:txBody>
      </p:sp>
      <p:sp>
        <p:nvSpPr>
          <p:cNvPr id="42" name="Shape 40"/>
          <p:cNvSpPr/>
          <p:nvPr/>
        </p:nvSpPr>
        <p:spPr>
          <a:xfrm>
            <a:off x="5221367" y="4917758"/>
            <a:ext cx="2114550" cy="9525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43" name="Text 41"/>
          <p:cNvSpPr/>
          <p:nvPr/>
        </p:nvSpPr>
        <p:spPr>
          <a:xfrm>
            <a:off x="5316617" y="4529138"/>
            <a:ext cx="1847850" cy="2743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lnSpcReduction="10000"/>
          </a:bodyPr>
          <a:lstStyle/>
          <a:p>
            <a:pPr marL="0" indent="0" algn="r">
              <a:buNone/>
            </a:pPr>
            <a:r>
              <a:rPr lang="en-US" sz="1575" dirty="0">
                <a:solidFill>
                  <a:srgbClr val="1F2937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3 GW · 12 GWh</a:t>
            </a:r>
            <a:endParaRPr lang="en-US" sz="1575" dirty="0"/>
          </a:p>
        </p:txBody>
      </p:sp>
      <p:sp>
        <p:nvSpPr>
          <p:cNvPr id="44" name="Shape 42"/>
          <p:cNvSpPr/>
          <p:nvPr/>
        </p:nvSpPr>
        <p:spPr>
          <a:xfrm>
            <a:off x="7335917" y="4917758"/>
            <a:ext cx="1779865" cy="9525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45" name="Text 43"/>
          <p:cNvSpPr/>
          <p:nvPr/>
        </p:nvSpPr>
        <p:spPr>
          <a:xfrm>
            <a:off x="7431167" y="4529138"/>
            <a:ext cx="1513165" cy="2743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lnSpcReduction="10000"/>
          </a:bodyPr>
          <a:lstStyle/>
          <a:p>
            <a:pPr marL="0" indent="0" algn="r">
              <a:buNone/>
            </a:pPr>
            <a:r>
              <a:rPr lang="en-US" sz="1575" dirty="0">
                <a:solidFill>
                  <a:srgbClr val="1F2937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51,000</a:t>
            </a:r>
            <a:endParaRPr lang="en-US" sz="1575" dirty="0"/>
          </a:p>
        </p:txBody>
      </p:sp>
      <p:sp>
        <p:nvSpPr>
          <p:cNvPr id="46" name="Shape 44"/>
          <p:cNvSpPr/>
          <p:nvPr/>
        </p:nvSpPr>
        <p:spPr>
          <a:xfrm>
            <a:off x="9115783" y="4917758"/>
            <a:ext cx="1971913" cy="9525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47" name="Text 45"/>
          <p:cNvSpPr/>
          <p:nvPr/>
        </p:nvSpPr>
        <p:spPr>
          <a:xfrm>
            <a:off x="9211033" y="4529138"/>
            <a:ext cx="1705213" cy="2743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lnSpcReduction="10000"/>
          </a:bodyPr>
          <a:lstStyle/>
          <a:p>
            <a:pPr marL="0" indent="0" algn="r">
              <a:buNone/>
            </a:pPr>
            <a:r>
              <a:rPr lang="en-US" sz="1575" dirty="0">
                <a:solidFill>
                  <a:srgbClr val="1F2937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210 GW</a:t>
            </a:r>
            <a:endParaRPr lang="en-US" sz="1575" dirty="0"/>
          </a:p>
        </p:txBody>
      </p:sp>
      <p:sp>
        <p:nvSpPr>
          <p:cNvPr id="48" name="Shape 46"/>
          <p:cNvSpPr/>
          <p:nvPr/>
        </p:nvSpPr>
        <p:spPr>
          <a:xfrm>
            <a:off x="952500" y="4925378"/>
            <a:ext cx="1110139" cy="548640"/>
          </a:xfrm>
          <a:prstGeom prst="rect">
            <a:avLst/>
          </a:prstGeom>
          <a:solidFill>
            <a:srgbClr val="FAFBFB"/>
          </a:solidFill>
          <a:ln/>
        </p:spPr>
      </p:sp>
      <p:sp>
        <p:nvSpPr>
          <p:cNvPr id="49" name="Shape 47"/>
          <p:cNvSpPr/>
          <p:nvPr/>
        </p:nvSpPr>
        <p:spPr>
          <a:xfrm>
            <a:off x="952500" y="5466398"/>
            <a:ext cx="1110139" cy="9525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50" name="Text 48"/>
          <p:cNvSpPr/>
          <p:nvPr/>
        </p:nvSpPr>
        <p:spPr>
          <a:xfrm>
            <a:off x="1123950" y="5077778"/>
            <a:ext cx="843439" cy="2743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lnSpcReduction="10000"/>
          </a:bodyPr>
          <a:lstStyle/>
          <a:p>
            <a:pPr marL="0" indent="0" algn="l">
              <a:buNone/>
            </a:pPr>
            <a:r>
              <a:rPr lang="en-US" sz="1575" dirty="0">
                <a:solidFill>
                  <a:srgbClr val="1F2937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2027</a:t>
            </a:r>
            <a:endParaRPr lang="en-US" sz="1575" dirty="0"/>
          </a:p>
        </p:txBody>
      </p:sp>
      <p:sp>
        <p:nvSpPr>
          <p:cNvPr id="51" name="Shape 49"/>
          <p:cNvSpPr/>
          <p:nvPr/>
        </p:nvSpPr>
        <p:spPr>
          <a:xfrm>
            <a:off x="2062639" y="4925378"/>
            <a:ext cx="1664256" cy="548640"/>
          </a:xfrm>
          <a:prstGeom prst="rect">
            <a:avLst/>
          </a:prstGeom>
          <a:solidFill>
            <a:srgbClr val="FAFBFB"/>
          </a:solidFill>
          <a:ln/>
        </p:spPr>
      </p:sp>
      <p:sp>
        <p:nvSpPr>
          <p:cNvPr id="52" name="Shape 50"/>
          <p:cNvSpPr/>
          <p:nvPr/>
        </p:nvSpPr>
        <p:spPr>
          <a:xfrm>
            <a:off x="2062639" y="5466398"/>
            <a:ext cx="1664256" cy="9525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53" name="Text 51"/>
          <p:cNvSpPr/>
          <p:nvPr/>
        </p:nvSpPr>
        <p:spPr>
          <a:xfrm>
            <a:off x="2157889" y="5077778"/>
            <a:ext cx="1397556" cy="2743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lnSpcReduction="10000"/>
          </a:bodyPr>
          <a:lstStyle/>
          <a:p>
            <a:pPr marL="0" indent="0" algn="r">
              <a:buNone/>
            </a:pPr>
            <a:r>
              <a:rPr lang="en-US" sz="1575" dirty="0">
                <a:solidFill>
                  <a:srgbClr val="1F2937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38</a:t>
            </a:r>
            <a:endParaRPr lang="en-US" sz="1575" dirty="0"/>
          </a:p>
        </p:txBody>
      </p:sp>
      <p:sp>
        <p:nvSpPr>
          <p:cNvPr id="54" name="Shape 52"/>
          <p:cNvSpPr/>
          <p:nvPr/>
        </p:nvSpPr>
        <p:spPr>
          <a:xfrm>
            <a:off x="3726894" y="4925378"/>
            <a:ext cx="1494473" cy="548640"/>
          </a:xfrm>
          <a:prstGeom prst="rect">
            <a:avLst/>
          </a:prstGeom>
          <a:solidFill>
            <a:srgbClr val="FAFBFB"/>
          </a:solidFill>
          <a:ln/>
        </p:spPr>
      </p:sp>
      <p:sp>
        <p:nvSpPr>
          <p:cNvPr id="55" name="Shape 53"/>
          <p:cNvSpPr/>
          <p:nvPr/>
        </p:nvSpPr>
        <p:spPr>
          <a:xfrm>
            <a:off x="3726894" y="5466398"/>
            <a:ext cx="1494473" cy="9525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56" name="Text 54"/>
          <p:cNvSpPr/>
          <p:nvPr/>
        </p:nvSpPr>
        <p:spPr>
          <a:xfrm>
            <a:off x="3822144" y="5077778"/>
            <a:ext cx="1227773" cy="2743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lnSpcReduction="10000"/>
          </a:bodyPr>
          <a:lstStyle/>
          <a:p>
            <a:pPr marL="0" indent="0" algn="r">
              <a:buNone/>
            </a:pPr>
            <a:r>
              <a:rPr lang="en-US" sz="1575" dirty="0">
                <a:solidFill>
                  <a:srgbClr val="1F2937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10</a:t>
            </a:r>
            <a:endParaRPr lang="en-US" sz="1575" dirty="0"/>
          </a:p>
        </p:txBody>
      </p:sp>
      <p:sp>
        <p:nvSpPr>
          <p:cNvPr id="57" name="Shape 55"/>
          <p:cNvSpPr/>
          <p:nvPr/>
        </p:nvSpPr>
        <p:spPr>
          <a:xfrm>
            <a:off x="5221367" y="4925378"/>
            <a:ext cx="2114550" cy="548640"/>
          </a:xfrm>
          <a:prstGeom prst="rect">
            <a:avLst/>
          </a:prstGeom>
          <a:solidFill>
            <a:srgbClr val="FAFBFB"/>
          </a:solidFill>
          <a:ln/>
        </p:spPr>
      </p:sp>
      <p:sp>
        <p:nvSpPr>
          <p:cNvPr id="58" name="Shape 56"/>
          <p:cNvSpPr/>
          <p:nvPr/>
        </p:nvSpPr>
        <p:spPr>
          <a:xfrm>
            <a:off x="5221367" y="5466398"/>
            <a:ext cx="2114550" cy="9525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59" name="Text 57"/>
          <p:cNvSpPr/>
          <p:nvPr/>
        </p:nvSpPr>
        <p:spPr>
          <a:xfrm>
            <a:off x="5316617" y="5077778"/>
            <a:ext cx="1847850" cy="2743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lnSpcReduction="10000"/>
          </a:bodyPr>
          <a:lstStyle/>
          <a:p>
            <a:pPr marL="0" indent="0" algn="r">
              <a:buNone/>
            </a:pPr>
            <a:r>
              <a:rPr lang="en-US" sz="1575" dirty="0">
                <a:solidFill>
                  <a:srgbClr val="1F2937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4 GW · 16 GWh</a:t>
            </a:r>
            <a:endParaRPr lang="en-US" sz="1575" dirty="0"/>
          </a:p>
        </p:txBody>
      </p:sp>
      <p:sp>
        <p:nvSpPr>
          <p:cNvPr id="60" name="Shape 58"/>
          <p:cNvSpPr/>
          <p:nvPr/>
        </p:nvSpPr>
        <p:spPr>
          <a:xfrm>
            <a:off x="7335917" y="4925378"/>
            <a:ext cx="1779865" cy="548640"/>
          </a:xfrm>
          <a:prstGeom prst="rect">
            <a:avLst/>
          </a:prstGeom>
          <a:solidFill>
            <a:srgbClr val="FAFBFB"/>
          </a:solidFill>
          <a:ln/>
        </p:spPr>
      </p:sp>
      <p:sp>
        <p:nvSpPr>
          <p:cNvPr id="61" name="Shape 59"/>
          <p:cNvSpPr/>
          <p:nvPr/>
        </p:nvSpPr>
        <p:spPr>
          <a:xfrm>
            <a:off x="7335917" y="5466398"/>
            <a:ext cx="1779865" cy="9525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62" name="Text 60"/>
          <p:cNvSpPr/>
          <p:nvPr/>
        </p:nvSpPr>
        <p:spPr>
          <a:xfrm>
            <a:off x="7431167" y="5077778"/>
            <a:ext cx="1513165" cy="2743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lnSpcReduction="10000"/>
          </a:bodyPr>
          <a:lstStyle/>
          <a:p>
            <a:pPr marL="0" indent="0" algn="r">
              <a:buNone/>
            </a:pPr>
            <a:r>
              <a:rPr lang="en-US" sz="1575" dirty="0">
                <a:solidFill>
                  <a:srgbClr val="1F2937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62,000</a:t>
            </a:r>
            <a:endParaRPr lang="en-US" sz="1575" dirty="0"/>
          </a:p>
        </p:txBody>
      </p:sp>
      <p:sp>
        <p:nvSpPr>
          <p:cNvPr id="63" name="Shape 61"/>
          <p:cNvSpPr/>
          <p:nvPr/>
        </p:nvSpPr>
        <p:spPr>
          <a:xfrm>
            <a:off x="9115783" y="4925378"/>
            <a:ext cx="1971913" cy="548640"/>
          </a:xfrm>
          <a:prstGeom prst="rect">
            <a:avLst/>
          </a:prstGeom>
          <a:solidFill>
            <a:srgbClr val="FAFBFB"/>
          </a:solidFill>
          <a:ln/>
        </p:spPr>
      </p:sp>
      <p:sp>
        <p:nvSpPr>
          <p:cNvPr id="64" name="Shape 62"/>
          <p:cNvSpPr/>
          <p:nvPr/>
        </p:nvSpPr>
        <p:spPr>
          <a:xfrm>
            <a:off x="9115783" y="5466398"/>
            <a:ext cx="1971913" cy="9525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65" name="Text 63"/>
          <p:cNvSpPr/>
          <p:nvPr/>
        </p:nvSpPr>
        <p:spPr>
          <a:xfrm>
            <a:off x="9211033" y="5077778"/>
            <a:ext cx="1705213" cy="2743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lnSpcReduction="10000"/>
          </a:bodyPr>
          <a:lstStyle/>
          <a:p>
            <a:pPr marL="0" indent="0" algn="r">
              <a:buNone/>
            </a:pPr>
            <a:r>
              <a:rPr lang="en-US" sz="1575" dirty="0">
                <a:solidFill>
                  <a:srgbClr val="1F2937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248 GW</a:t>
            </a:r>
            <a:endParaRPr lang="en-US" sz="1575" dirty="0"/>
          </a:p>
        </p:txBody>
      </p:sp>
      <p:sp>
        <p:nvSpPr>
          <p:cNvPr id="66" name="Shape 64"/>
          <p:cNvSpPr/>
          <p:nvPr/>
        </p:nvSpPr>
        <p:spPr>
          <a:xfrm>
            <a:off x="952500" y="6015038"/>
            <a:ext cx="1110139" cy="9525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67" name="Text 65"/>
          <p:cNvSpPr/>
          <p:nvPr/>
        </p:nvSpPr>
        <p:spPr>
          <a:xfrm>
            <a:off x="1123950" y="5626418"/>
            <a:ext cx="843439" cy="2743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lnSpcReduction="10000"/>
          </a:bodyPr>
          <a:lstStyle/>
          <a:p>
            <a:pPr marL="0" indent="0" algn="l">
              <a:buNone/>
            </a:pPr>
            <a:r>
              <a:rPr lang="en-US" sz="1575" dirty="0">
                <a:solidFill>
                  <a:srgbClr val="1F2937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2028</a:t>
            </a:r>
            <a:endParaRPr lang="en-US" sz="1575" dirty="0"/>
          </a:p>
        </p:txBody>
      </p:sp>
      <p:sp>
        <p:nvSpPr>
          <p:cNvPr id="68" name="Shape 66"/>
          <p:cNvSpPr/>
          <p:nvPr/>
        </p:nvSpPr>
        <p:spPr>
          <a:xfrm>
            <a:off x="2062639" y="6015038"/>
            <a:ext cx="1664256" cy="9525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69" name="Text 67"/>
          <p:cNvSpPr/>
          <p:nvPr/>
        </p:nvSpPr>
        <p:spPr>
          <a:xfrm>
            <a:off x="2157889" y="5626418"/>
            <a:ext cx="1397556" cy="2743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lnSpcReduction="10000"/>
          </a:bodyPr>
          <a:lstStyle/>
          <a:p>
            <a:pPr marL="0" indent="0" algn="r">
              <a:buNone/>
            </a:pPr>
            <a:r>
              <a:rPr lang="en-US" sz="1575" dirty="0">
                <a:solidFill>
                  <a:srgbClr val="1F2937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40</a:t>
            </a:r>
            <a:endParaRPr lang="en-US" sz="1575" dirty="0"/>
          </a:p>
        </p:txBody>
      </p:sp>
      <p:sp>
        <p:nvSpPr>
          <p:cNvPr id="70" name="Shape 68"/>
          <p:cNvSpPr/>
          <p:nvPr/>
        </p:nvSpPr>
        <p:spPr>
          <a:xfrm>
            <a:off x="3726894" y="6015038"/>
            <a:ext cx="1494473" cy="9525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71" name="Text 69"/>
          <p:cNvSpPr/>
          <p:nvPr/>
        </p:nvSpPr>
        <p:spPr>
          <a:xfrm>
            <a:off x="3822144" y="5626418"/>
            <a:ext cx="1227773" cy="2743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lnSpcReduction="10000"/>
          </a:bodyPr>
          <a:lstStyle/>
          <a:p>
            <a:pPr marL="0" indent="0" algn="r">
              <a:buNone/>
            </a:pPr>
            <a:r>
              <a:rPr lang="en-US" sz="1575" dirty="0">
                <a:solidFill>
                  <a:srgbClr val="1F2937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11</a:t>
            </a:r>
            <a:endParaRPr lang="en-US" sz="1575" dirty="0"/>
          </a:p>
        </p:txBody>
      </p:sp>
      <p:sp>
        <p:nvSpPr>
          <p:cNvPr id="72" name="Shape 70"/>
          <p:cNvSpPr/>
          <p:nvPr/>
        </p:nvSpPr>
        <p:spPr>
          <a:xfrm>
            <a:off x="5221367" y="6015038"/>
            <a:ext cx="2114550" cy="9525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73" name="Text 71"/>
          <p:cNvSpPr/>
          <p:nvPr/>
        </p:nvSpPr>
        <p:spPr>
          <a:xfrm>
            <a:off x="5316617" y="5626418"/>
            <a:ext cx="1847850" cy="2743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lnSpcReduction="10000"/>
          </a:bodyPr>
          <a:lstStyle/>
          <a:p>
            <a:pPr marL="0" indent="0" algn="r">
              <a:buNone/>
            </a:pPr>
            <a:r>
              <a:rPr lang="en-US" sz="1575" dirty="0">
                <a:solidFill>
                  <a:srgbClr val="1F2937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5 GW · 20 GWh</a:t>
            </a:r>
            <a:endParaRPr lang="en-US" sz="1575" dirty="0"/>
          </a:p>
        </p:txBody>
      </p:sp>
      <p:sp>
        <p:nvSpPr>
          <p:cNvPr id="74" name="Shape 72"/>
          <p:cNvSpPr/>
          <p:nvPr/>
        </p:nvSpPr>
        <p:spPr>
          <a:xfrm>
            <a:off x="7335917" y="6015038"/>
            <a:ext cx="1779865" cy="9525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75" name="Text 73"/>
          <p:cNvSpPr/>
          <p:nvPr/>
        </p:nvSpPr>
        <p:spPr>
          <a:xfrm>
            <a:off x="7431167" y="5626418"/>
            <a:ext cx="1513165" cy="2743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lnSpcReduction="10000"/>
          </a:bodyPr>
          <a:lstStyle/>
          <a:p>
            <a:pPr marL="0" indent="0" algn="r">
              <a:buNone/>
            </a:pPr>
            <a:r>
              <a:rPr lang="en-US" sz="1575" dirty="0">
                <a:solidFill>
                  <a:srgbClr val="1F2937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68,000</a:t>
            </a:r>
            <a:endParaRPr lang="en-US" sz="1575" dirty="0"/>
          </a:p>
        </p:txBody>
      </p:sp>
      <p:sp>
        <p:nvSpPr>
          <p:cNvPr id="76" name="Shape 74"/>
          <p:cNvSpPr/>
          <p:nvPr/>
        </p:nvSpPr>
        <p:spPr>
          <a:xfrm>
            <a:off x="9115783" y="6015038"/>
            <a:ext cx="1971913" cy="9525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77" name="Text 75"/>
          <p:cNvSpPr/>
          <p:nvPr/>
        </p:nvSpPr>
        <p:spPr>
          <a:xfrm>
            <a:off x="9211033" y="5626418"/>
            <a:ext cx="1705213" cy="2743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lnSpcReduction="10000"/>
          </a:bodyPr>
          <a:lstStyle/>
          <a:p>
            <a:pPr marL="0" indent="0" algn="r">
              <a:buNone/>
            </a:pPr>
            <a:r>
              <a:rPr lang="en-US" sz="1575" dirty="0">
                <a:solidFill>
                  <a:srgbClr val="1F2937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288 GW</a:t>
            </a:r>
            <a:endParaRPr lang="en-US" sz="1575" dirty="0"/>
          </a:p>
        </p:txBody>
      </p:sp>
      <p:sp>
        <p:nvSpPr>
          <p:cNvPr id="78" name="Shape 76"/>
          <p:cNvSpPr/>
          <p:nvPr/>
        </p:nvSpPr>
        <p:spPr>
          <a:xfrm>
            <a:off x="952500" y="6022657"/>
            <a:ext cx="1110139" cy="548640"/>
          </a:xfrm>
          <a:prstGeom prst="rect">
            <a:avLst/>
          </a:prstGeom>
          <a:solidFill>
            <a:srgbClr val="FAFBFB"/>
          </a:solidFill>
          <a:ln/>
        </p:spPr>
      </p:sp>
      <p:sp>
        <p:nvSpPr>
          <p:cNvPr id="79" name="Shape 77"/>
          <p:cNvSpPr/>
          <p:nvPr/>
        </p:nvSpPr>
        <p:spPr>
          <a:xfrm>
            <a:off x="952500" y="6563677"/>
            <a:ext cx="1110139" cy="9525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80" name="Text 78"/>
          <p:cNvSpPr/>
          <p:nvPr/>
        </p:nvSpPr>
        <p:spPr>
          <a:xfrm>
            <a:off x="1123950" y="6175057"/>
            <a:ext cx="843439" cy="2743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lnSpcReduction="10000"/>
          </a:bodyPr>
          <a:lstStyle/>
          <a:p>
            <a:pPr marL="0" indent="0" algn="l">
              <a:buNone/>
            </a:pPr>
            <a:r>
              <a:rPr lang="en-US" sz="1575" dirty="0">
                <a:solidFill>
                  <a:srgbClr val="1F2937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2029</a:t>
            </a:r>
            <a:endParaRPr lang="en-US" sz="1575" dirty="0"/>
          </a:p>
        </p:txBody>
      </p:sp>
      <p:sp>
        <p:nvSpPr>
          <p:cNvPr id="81" name="Shape 79"/>
          <p:cNvSpPr/>
          <p:nvPr/>
        </p:nvSpPr>
        <p:spPr>
          <a:xfrm>
            <a:off x="2062639" y="6022657"/>
            <a:ext cx="1664256" cy="548640"/>
          </a:xfrm>
          <a:prstGeom prst="rect">
            <a:avLst/>
          </a:prstGeom>
          <a:solidFill>
            <a:srgbClr val="FAFBFB"/>
          </a:solidFill>
          <a:ln/>
        </p:spPr>
      </p:sp>
      <p:sp>
        <p:nvSpPr>
          <p:cNvPr id="82" name="Shape 80"/>
          <p:cNvSpPr/>
          <p:nvPr/>
        </p:nvSpPr>
        <p:spPr>
          <a:xfrm>
            <a:off x="2062639" y="6563677"/>
            <a:ext cx="1664256" cy="9525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83" name="Text 81"/>
          <p:cNvSpPr/>
          <p:nvPr/>
        </p:nvSpPr>
        <p:spPr>
          <a:xfrm>
            <a:off x="2157889" y="6175057"/>
            <a:ext cx="1397556" cy="2743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lnSpcReduction="10000"/>
          </a:bodyPr>
          <a:lstStyle/>
          <a:p>
            <a:pPr marL="0" indent="0" algn="r">
              <a:buNone/>
            </a:pPr>
            <a:r>
              <a:rPr lang="en-US" sz="1575" dirty="0">
                <a:solidFill>
                  <a:srgbClr val="1F2937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40</a:t>
            </a:r>
            <a:endParaRPr lang="en-US" sz="1575" dirty="0"/>
          </a:p>
        </p:txBody>
      </p:sp>
      <p:sp>
        <p:nvSpPr>
          <p:cNvPr id="84" name="Shape 82"/>
          <p:cNvSpPr/>
          <p:nvPr/>
        </p:nvSpPr>
        <p:spPr>
          <a:xfrm>
            <a:off x="3726894" y="6022657"/>
            <a:ext cx="1494473" cy="548640"/>
          </a:xfrm>
          <a:prstGeom prst="rect">
            <a:avLst/>
          </a:prstGeom>
          <a:solidFill>
            <a:srgbClr val="FAFBFB"/>
          </a:solidFill>
          <a:ln/>
        </p:spPr>
      </p:sp>
      <p:sp>
        <p:nvSpPr>
          <p:cNvPr id="85" name="Shape 83"/>
          <p:cNvSpPr/>
          <p:nvPr/>
        </p:nvSpPr>
        <p:spPr>
          <a:xfrm>
            <a:off x="3726894" y="6563677"/>
            <a:ext cx="1494473" cy="9525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86" name="Text 84"/>
          <p:cNvSpPr/>
          <p:nvPr/>
        </p:nvSpPr>
        <p:spPr>
          <a:xfrm>
            <a:off x="3822144" y="6175057"/>
            <a:ext cx="1227773" cy="2743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lnSpcReduction="10000"/>
          </a:bodyPr>
          <a:lstStyle/>
          <a:p>
            <a:pPr marL="0" indent="0" algn="r">
              <a:buNone/>
            </a:pPr>
            <a:r>
              <a:rPr lang="en-US" sz="1575" dirty="0">
                <a:solidFill>
                  <a:srgbClr val="1F2937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12</a:t>
            </a:r>
            <a:endParaRPr lang="en-US" sz="1575" dirty="0"/>
          </a:p>
        </p:txBody>
      </p:sp>
      <p:sp>
        <p:nvSpPr>
          <p:cNvPr id="87" name="Shape 85"/>
          <p:cNvSpPr/>
          <p:nvPr/>
        </p:nvSpPr>
        <p:spPr>
          <a:xfrm>
            <a:off x="5221367" y="6022657"/>
            <a:ext cx="2114550" cy="548640"/>
          </a:xfrm>
          <a:prstGeom prst="rect">
            <a:avLst/>
          </a:prstGeom>
          <a:solidFill>
            <a:srgbClr val="FAFBFB"/>
          </a:solidFill>
          <a:ln/>
        </p:spPr>
      </p:sp>
      <p:sp>
        <p:nvSpPr>
          <p:cNvPr id="88" name="Shape 86"/>
          <p:cNvSpPr/>
          <p:nvPr/>
        </p:nvSpPr>
        <p:spPr>
          <a:xfrm>
            <a:off x="5221367" y="6563677"/>
            <a:ext cx="2114550" cy="9525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89" name="Text 87"/>
          <p:cNvSpPr/>
          <p:nvPr/>
        </p:nvSpPr>
        <p:spPr>
          <a:xfrm>
            <a:off x="5316617" y="6175057"/>
            <a:ext cx="1847850" cy="2743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lnSpcReduction="10000"/>
          </a:bodyPr>
          <a:lstStyle/>
          <a:p>
            <a:pPr marL="0" indent="0" algn="r">
              <a:buNone/>
            </a:pPr>
            <a:r>
              <a:rPr lang="en-US" sz="1575" dirty="0">
                <a:solidFill>
                  <a:srgbClr val="1F2937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5 GW · 20 GWh</a:t>
            </a:r>
            <a:endParaRPr lang="en-US" sz="1575" dirty="0"/>
          </a:p>
        </p:txBody>
      </p:sp>
      <p:sp>
        <p:nvSpPr>
          <p:cNvPr id="90" name="Shape 88"/>
          <p:cNvSpPr/>
          <p:nvPr/>
        </p:nvSpPr>
        <p:spPr>
          <a:xfrm>
            <a:off x="7335917" y="6022657"/>
            <a:ext cx="1779865" cy="548640"/>
          </a:xfrm>
          <a:prstGeom prst="rect">
            <a:avLst/>
          </a:prstGeom>
          <a:solidFill>
            <a:srgbClr val="FAFBFB"/>
          </a:solidFill>
          <a:ln/>
        </p:spPr>
      </p:sp>
      <p:sp>
        <p:nvSpPr>
          <p:cNvPr id="91" name="Shape 89"/>
          <p:cNvSpPr/>
          <p:nvPr/>
        </p:nvSpPr>
        <p:spPr>
          <a:xfrm>
            <a:off x="7335917" y="6563677"/>
            <a:ext cx="1779865" cy="9525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92" name="Text 90"/>
          <p:cNvSpPr/>
          <p:nvPr/>
        </p:nvSpPr>
        <p:spPr>
          <a:xfrm>
            <a:off x="7431167" y="6175057"/>
            <a:ext cx="1513165" cy="2743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lnSpcReduction="10000"/>
          </a:bodyPr>
          <a:lstStyle/>
          <a:p>
            <a:pPr marL="0" indent="0" algn="r">
              <a:buNone/>
            </a:pPr>
            <a:r>
              <a:rPr lang="en-US" sz="1575" dirty="0">
                <a:solidFill>
                  <a:srgbClr val="1F2937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70,000</a:t>
            </a:r>
            <a:endParaRPr lang="en-US" sz="1575" dirty="0"/>
          </a:p>
        </p:txBody>
      </p:sp>
      <p:sp>
        <p:nvSpPr>
          <p:cNvPr id="93" name="Shape 91"/>
          <p:cNvSpPr/>
          <p:nvPr/>
        </p:nvSpPr>
        <p:spPr>
          <a:xfrm>
            <a:off x="9115783" y="6022657"/>
            <a:ext cx="1971913" cy="548640"/>
          </a:xfrm>
          <a:prstGeom prst="rect">
            <a:avLst/>
          </a:prstGeom>
          <a:solidFill>
            <a:srgbClr val="FAFBFB"/>
          </a:solidFill>
          <a:ln/>
        </p:spPr>
      </p:sp>
      <p:sp>
        <p:nvSpPr>
          <p:cNvPr id="94" name="Shape 92"/>
          <p:cNvSpPr/>
          <p:nvPr/>
        </p:nvSpPr>
        <p:spPr>
          <a:xfrm>
            <a:off x="9115783" y="6563677"/>
            <a:ext cx="1971913" cy="9525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95" name="Text 93"/>
          <p:cNvSpPr/>
          <p:nvPr/>
        </p:nvSpPr>
        <p:spPr>
          <a:xfrm>
            <a:off x="9211033" y="6175057"/>
            <a:ext cx="1705213" cy="2743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lnSpcReduction="10000"/>
          </a:bodyPr>
          <a:lstStyle/>
          <a:p>
            <a:pPr marL="0" indent="0" algn="r">
              <a:buNone/>
            </a:pPr>
            <a:r>
              <a:rPr lang="en-US" sz="1575" dirty="0">
                <a:solidFill>
                  <a:srgbClr val="1F2937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328 GW</a:t>
            </a:r>
            <a:endParaRPr lang="en-US" sz="1575" dirty="0"/>
          </a:p>
        </p:txBody>
      </p:sp>
      <p:sp>
        <p:nvSpPr>
          <p:cNvPr id="96" name="Shape 94"/>
          <p:cNvSpPr/>
          <p:nvPr/>
        </p:nvSpPr>
        <p:spPr>
          <a:xfrm>
            <a:off x="952500" y="7116128"/>
            <a:ext cx="1110139" cy="9525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97" name="Text 95"/>
          <p:cNvSpPr/>
          <p:nvPr/>
        </p:nvSpPr>
        <p:spPr>
          <a:xfrm>
            <a:off x="1123950" y="6723698"/>
            <a:ext cx="843439" cy="2781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lnSpcReduction="10000"/>
          </a:bodyPr>
          <a:lstStyle/>
          <a:p>
            <a:pPr marL="0" indent="0" algn="l">
              <a:buNone/>
            </a:pPr>
            <a:r>
              <a:rPr lang="en-US" sz="1575" dirty="0">
                <a:solidFill>
                  <a:srgbClr val="1F2937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2030</a:t>
            </a:r>
            <a:endParaRPr lang="en-US" sz="1575" dirty="0"/>
          </a:p>
        </p:txBody>
      </p:sp>
      <p:sp>
        <p:nvSpPr>
          <p:cNvPr id="98" name="Shape 96"/>
          <p:cNvSpPr/>
          <p:nvPr/>
        </p:nvSpPr>
        <p:spPr>
          <a:xfrm>
            <a:off x="2062639" y="7116128"/>
            <a:ext cx="1664256" cy="9525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99" name="Text 97"/>
          <p:cNvSpPr/>
          <p:nvPr/>
        </p:nvSpPr>
        <p:spPr>
          <a:xfrm>
            <a:off x="2157889" y="6723698"/>
            <a:ext cx="1397556" cy="2781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lnSpcReduction="10000"/>
          </a:bodyPr>
          <a:lstStyle/>
          <a:p>
            <a:pPr marL="0" indent="0" algn="r">
              <a:buNone/>
            </a:pPr>
            <a:r>
              <a:rPr lang="en-US" sz="1575" dirty="0">
                <a:solidFill>
                  <a:srgbClr val="1F2937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40</a:t>
            </a:r>
            <a:endParaRPr lang="en-US" sz="1575" dirty="0"/>
          </a:p>
        </p:txBody>
      </p:sp>
      <p:sp>
        <p:nvSpPr>
          <p:cNvPr id="100" name="Shape 98"/>
          <p:cNvSpPr/>
          <p:nvPr/>
        </p:nvSpPr>
        <p:spPr>
          <a:xfrm>
            <a:off x="3726894" y="7116128"/>
            <a:ext cx="1494473" cy="9525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101" name="Text 99"/>
          <p:cNvSpPr/>
          <p:nvPr/>
        </p:nvSpPr>
        <p:spPr>
          <a:xfrm>
            <a:off x="3822144" y="6723698"/>
            <a:ext cx="1227773" cy="2781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lnSpcReduction="10000"/>
          </a:bodyPr>
          <a:lstStyle/>
          <a:p>
            <a:pPr marL="0" indent="0" algn="r">
              <a:buNone/>
            </a:pPr>
            <a:r>
              <a:rPr lang="en-US" sz="1575" dirty="0">
                <a:solidFill>
                  <a:srgbClr val="1F2937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12</a:t>
            </a:r>
            <a:endParaRPr lang="en-US" sz="1575" dirty="0"/>
          </a:p>
        </p:txBody>
      </p:sp>
      <p:sp>
        <p:nvSpPr>
          <p:cNvPr id="102" name="Shape 100"/>
          <p:cNvSpPr/>
          <p:nvPr/>
        </p:nvSpPr>
        <p:spPr>
          <a:xfrm>
            <a:off x="5221367" y="7116128"/>
            <a:ext cx="2114550" cy="9525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103" name="Text 101"/>
          <p:cNvSpPr/>
          <p:nvPr/>
        </p:nvSpPr>
        <p:spPr>
          <a:xfrm>
            <a:off x="5316617" y="6723698"/>
            <a:ext cx="1847850" cy="2781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lnSpcReduction="10000"/>
          </a:bodyPr>
          <a:lstStyle/>
          <a:p>
            <a:pPr marL="0" indent="0" algn="r">
              <a:buNone/>
            </a:pPr>
            <a:r>
              <a:rPr lang="en-US" sz="1575" dirty="0">
                <a:solidFill>
                  <a:srgbClr val="1F2937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5 GW · 20 GWh</a:t>
            </a:r>
            <a:endParaRPr lang="en-US" sz="1575" dirty="0"/>
          </a:p>
        </p:txBody>
      </p:sp>
      <p:sp>
        <p:nvSpPr>
          <p:cNvPr id="104" name="Shape 102"/>
          <p:cNvSpPr/>
          <p:nvPr/>
        </p:nvSpPr>
        <p:spPr>
          <a:xfrm>
            <a:off x="7335917" y="7116128"/>
            <a:ext cx="1779865" cy="9525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105" name="Text 103"/>
          <p:cNvSpPr/>
          <p:nvPr/>
        </p:nvSpPr>
        <p:spPr>
          <a:xfrm>
            <a:off x="7431167" y="6723698"/>
            <a:ext cx="1513165" cy="2781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lnSpcReduction="10000"/>
          </a:bodyPr>
          <a:lstStyle/>
          <a:p>
            <a:pPr marL="0" indent="0" algn="r">
              <a:buNone/>
            </a:pPr>
            <a:r>
              <a:rPr lang="en-US" sz="1575" dirty="0">
                <a:solidFill>
                  <a:srgbClr val="1F2937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72,000</a:t>
            </a:r>
            <a:endParaRPr lang="en-US" sz="1575" dirty="0"/>
          </a:p>
        </p:txBody>
      </p:sp>
      <p:sp>
        <p:nvSpPr>
          <p:cNvPr id="106" name="Shape 104"/>
          <p:cNvSpPr/>
          <p:nvPr/>
        </p:nvSpPr>
        <p:spPr>
          <a:xfrm>
            <a:off x="9115783" y="7116128"/>
            <a:ext cx="1971913" cy="9525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107" name="Text 105"/>
          <p:cNvSpPr/>
          <p:nvPr/>
        </p:nvSpPr>
        <p:spPr>
          <a:xfrm>
            <a:off x="9211033" y="6723698"/>
            <a:ext cx="1705213" cy="2781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lnSpcReduction="10000"/>
          </a:bodyPr>
          <a:lstStyle/>
          <a:p>
            <a:pPr marL="0" indent="0" algn="r">
              <a:buNone/>
            </a:pPr>
            <a:r>
              <a:rPr lang="en-US" sz="1575" dirty="0">
                <a:solidFill>
                  <a:srgbClr val="1F2937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368 GW</a:t>
            </a:r>
            <a:endParaRPr lang="en-US" sz="1575" dirty="0"/>
          </a:p>
        </p:txBody>
      </p:sp>
      <p:sp>
        <p:nvSpPr>
          <p:cNvPr id="108" name="Shape 106"/>
          <p:cNvSpPr/>
          <p:nvPr/>
        </p:nvSpPr>
        <p:spPr>
          <a:xfrm>
            <a:off x="952500" y="7123748"/>
            <a:ext cx="1110139" cy="552450"/>
          </a:xfrm>
          <a:prstGeom prst="rect">
            <a:avLst/>
          </a:prstGeom>
          <a:solidFill>
            <a:srgbClr val="E8F1ED"/>
          </a:solidFill>
          <a:ln/>
        </p:spPr>
      </p:sp>
      <p:sp>
        <p:nvSpPr>
          <p:cNvPr id="109" name="Shape 107"/>
          <p:cNvSpPr/>
          <p:nvPr/>
        </p:nvSpPr>
        <p:spPr>
          <a:xfrm>
            <a:off x="952500" y="7668578"/>
            <a:ext cx="1110139" cy="9525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110" name="Shape 108"/>
          <p:cNvSpPr/>
          <p:nvPr/>
        </p:nvSpPr>
        <p:spPr>
          <a:xfrm>
            <a:off x="952500" y="7123748"/>
            <a:ext cx="1110139" cy="15240"/>
          </a:xfrm>
          <a:prstGeom prst="rect">
            <a:avLst/>
          </a:prstGeom>
          <a:solidFill>
            <a:srgbClr val="0F5B4C"/>
          </a:solidFill>
          <a:ln/>
        </p:spPr>
      </p:sp>
      <p:sp>
        <p:nvSpPr>
          <p:cNvPr id="111" name="Text 109"/>
          <p:cNvSpPr/>
          <p:nvPr/>
        </p:nvSpPr>
        <p:spPr>
          <a:xfrm>
            <a:off x="1123950" y="7291388"/>
            <a:ext cx="843439" cy="2628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575" b="1" dirty="0">
                <a:solidFill>
                  <a:srgbClr val="0A4439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TOTAL</a:t>
            </a:r>
            <a:endParaRPr lang="en-US" sz="1575" dirty="0"/>
          </a:p>
        </p:txBody>
      </p:sp>
      <p:sp>
        <p:nvSpPr>
          <p:cNvPr id="112" name="Shape 110"/>
          <p:cNvSpPr/>
          <p:nvPr/>
        </p:nvSpPr>
        <p:spPr>
          <a:xfrm>
            <a:off x="2062639" y="7123748"/>
            <a:ext cx="1664256" cy="552450"/>
          </a:xfrm>
          <a:prstGeom prst="rect">
            <a:avLst/>
          </a:prstGeom>
          <a:solidFill>
            <a:srgbClr val="E8F1ED"/>
          </a:solidFill>
          <a:ln/>
        </p:spPr>
      </p:sp>
      <p:sp>
        <p:nvSpPr>
          <p:cNvPr id="113" name="Shape 111"/>
          <p:cNvSpPr/>
          <p:nvPr/>
        </p:nvSpPr>
        <p:spPr>
          <a:xfrm>
            <a:off x="2062639" y="7668578"/>
            <a:ext cx="1664256" cy="9525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114" name="Shape 112"/>
          <p:cNvSpPr/>
          <p:nvPr/>
        </p:nvSpPr>
        <p:spPr>
          <a:xfrm>
            <a:off x="2062639" y="7123748"/>
            <a:ext cx="1664256" cy="15240"/>
          </a:xfrm>
          <a:prstGeom prst="rect">
            <a:avLst/>
          </a:prstGeom>
          <a:solidFill>
            <a:srgbClr val="0F5B4C"/>
          </a:solidFill>
          <a:ln/>
        </p:spPr>
      </p:sp>
      <p:sp>
        <p:nvSpPr>
          <p:cNvPr id="115" name="Text 113"/>
          <p:cNvSpPr/>
          <p:nvPr/>
        </p:nvSpPr>
        <p:spPr>
          <a:xfrm>
            <a:off x="2157889" y="7291388"/>
            <a:ext cx="1397556" cy="2628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92500" lnSpcReduction="10000"/>
          </a:bodyPr>
          <a:lstStyle/>
          <a:p>
            <a:pPr marL="0" indent="0" algn="r">
              <a:buNone/>
            </a:pPr>
            <a:r>
              <a:rPr lang="en-US" sz="1575" b="1" dirty="0">
                <a:solidFill>
                  <a:srgbClr val="0A4439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218</a:t>
            </a:r>
            <a:endParaRPr lang="en-US" sz="1575" dirty="0"/>
          </a:p>
        </p:txBody>
      </p:sp>
      <p:sp>
        <p:nvSpPr>
          <p:cNvPr id="116" name="Shape 114"/>
          <p:cNvSpPr/>
          <p:nvPr/>
        </p:nvSpPr>
        <p:spPr>
          <a:xfrm>
            <a:off x="3726894" y="7123748"/>
            <a:ext cx="1494473" cy="552450"/>
          </a:xfrm>
          <a:prstGeom prst="rect">
            <a:avLst/>
          </a:prstGeom>
          <a:solidFill>
            <a:srgbClr val="E8F1ED"/>
          </a:solidFill>
          <a:ln/>
        </p:spPr>
      </p:sp>
      <p:sp>
        <p:nvSpPr>
          <p:cNvPr id="117" name="Shape 115"/>
          <p:cNvSpPr/>
          <p:nvPr/>
        </p:nvSpPr>
        <p:spPr>
          <a:xfrm>
            <a:off x="3726894" y="7668578"/>
            <a:ext cx="1494473" cy="9525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118" name="Shape 116"/>
          <p:cNvSpPr/>
          <p:nvPr/>
        </p:nvSpPr>
        <p:spPr>
          <a:xfrm>
            <a:off x="3726894" y="7123748"/>
            <a:ext cx="1494473" cy="15240"/>
          </a:xfrm>
          <a:prstGeom prst="rect">
            <a:avLst/>
          </a:prstGeom>
          <a:solidFill>
            <a:srgbClr val="0F5B4C"/>
          </a:solidFill>
          <a:ln/>
        </p:spPr>
      </p:sp>
      <p:sp>
        <p:nvSpPr>
          <p:cNvPr id="119" name="Text 117"/>
          <p:cNvSpPr/>
          <p:nvPr/>
        </p:nvSpPr>
        <p:spPr>
          <a:xfrm>
            <a:off x="3822144" y="7291388"/>
            <a:ext cx="1227773" cy="2628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92500" lnSpcReduction="10000"/>
          </a:bodyPr>
          <a:lstStyle/>
          <a:p>
            <a:pPr marL="0" indent="0" algn="r">
              <a:buNone/>
            </a:pPr>
            <a:r>
              <a:rPr lang="en-US" sz="1575" b="1" dirty="0">
                <a:solidFill>
                  <a:srgbClr val="0A4439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62</a:t>
            </a:r>
            <a:endParaRPr lang="en-US" sz="1575" dirty="0"/>
          </a:p>
        </p:txBody>
      </p:sp>
      <p:sp>
        <p:nvSpPr>
          <p:cNvPr id="120" name="Shape 118"/>
          <p:cNvSpPr/>
          <p:nvPr/>
        </p:nvSpPr>
        <p:spPr>
          <a:xfrm>
            <a:off x="5221367" y="7123748"/>
            <a:ext cx="2114550" cy="552450"/>
          </a:xfrm>
          <a:prstGeom prst="rect">
            <a:avLst/>
          </a:prstGeom>
          <a:solidFill>
            <a:srgbClr val="E8F1ED"/>
          </a:solidFill>
          <a:ln/>
        </p:spPr>
      </p:sp>
      <p:sp>
        <p:nvSpPr>
          <p:cNvPr id="121" name="Shape 119"/>
          <p:cNvSpPr/>
          <p:nvPr/>
        </p:nvSpPr>
        <p:spPr>
          <a:xfrm>
            <a:off x="5221367" y="7668578"/>
            <a:ext cx="2114550" cy="9525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122" name="Shape 120"/>
          <p:cNvSpPr/>
          <p:nvPr/>
        </p:nvSpPr>
        <p:spPr>
          <a:xfrm>
            <a:off x="5221367" y="7123748"/>
            <a:ext cx="2114550" cy="15240"/>
          </a:xfrm>
          <a:prstGeom prst="rect">
            <a:avLst/>
          </a:prstGeom>
          <a:solidFill>
            <a:srgbClr val="0F5B4C"/>
          </a:solidFill>
          <a:ln/>
        </p:spPr>
      </p:sp>
      <p:sp>
        <p:nvSpPr>
          <p:cNvPr id="123" name="Text 121"/>
          <p:cNvSpPr/>
          <p:nvPr/>
        </p:nvSpPr>
        <p:spPr>
          <a:xfrm>
            <a:off x="5316617" y="7291388"/>
            <a:ext cx="1847850" cy="2628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92500" lnSpcReduction="10000"/>
          </a:bodyPr>
          <a:lstStyle/>
          <a:p>
            <a:pPr marL="0" indent="0" algn="r">
              <a:buNone/>
            </a:pPr>
            <a:r>
              <a:rPr lang="en-US" sz="1575" b="1" dirty="0">
                <a:solidFill>
                  <a:srgbClr val="0A4439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24 GW · 96 GWh</a:t>
            </a:r>
            <a:endParaRPr lang="en-US" sz="1575" dirty="0"/>
          </a:p>
        </p:txBody>
      </p:sp>
      <p:sp>
        <p:nvSpPr>
          <p:cNvPr id="124" name="Shape 122"/>
          <p:cNvSpPr/>
          <p:nvPr/>
        </p:nvSpPr>
        <p:spPr>
          <a:xfrm>
            <a:off x="7335917" y="7123748"/>
            <a:ext cx="1779865" cy="552450"/>
          </a:xfrm>
          <a:prstGeom prst="rect">
            <a:avLst/>
          </a:prstGeom>
          <a:solidFill>
            <a:srgbClr val="E8F1ED"/>
          </a:solidFill>
          <a:ln/>
        </p:spPr>
      </p:sp>
      <p:sp>
        <p:nvSpPr>
          <p:cNvPr id="125" name="Shape 123"/>
          <p:cNvSpPr/>
          <p:nvPr/>
        </p:nvSpPr>
        <p:spPr>
          <a:xfrm>
            <a:off x="7335917" y="7668578"/>
            <a:ext cx="1779865" cy="9525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126" name="Shape 124"/>
          <p:cNvSpPr/>
          <p:nvPr/>
        </p:nvSpPr>
        <p:spPr>
          <a:xfrm>
            <a:off x="7335917" y="7123748"/>
            <a:ext cx="1779865" cy="15240"/>
          </a:xfrm>
          <a:prstGeom prst="rect">
            <a:avLst/>
          </a:prstGeom>
          <a:solidFill>
            <a:srgbClr val="0F5B4C"/>
          </a:solidFill>
          <a:ln/>
        </p:spPr>
      </p:sp>
      <p:sp>
        <p:nvSpPr>
          <p:cNvPr id="127" name="Text 125"/>
          <p:cNvSpPr/>
          <p:nvPr/>
        </p:nvSpPr>
        <p:spPr>
          <a:xfrm>
            <a:off x="7431167" y="7291388"/>
            <a:ext cx="1513165" cy="2628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92500" lnSpcReduction="10000"/>
          </a:bodyPr>
          <a:lstStyle/>
          <a:p>
            <a:pPr marL="0" indent="0" algn="r">
              <a:buNone/>
            </a:pPr>
            <a:r>
              <a:rPr lang="en-US" sz="1575" b="1" dirty="0">
                <a:solidFill>
                  <a:srgbClr val="0A4439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3,65,000</a:t>
            </a:r>
            <a:endParaRPr lang="en-US" sz="1575" dirty="0"/>
          </a:p>
        </p:txBody>
      </p:sp>
      <p:sp>
        <p:nvSpPr>
          <p:cNvPr id="128" name="Shape 126"/>
          <p:cNvSpPr/>
          <p:nvPr/>
        </p:nvSpPr>
        <p:spPr>
          <a:xfrm>
            <a:off x="9115783" y="7123748"/>
            <a:ext cx="1971913" cy="552450"/>
          </a:xfrm>
          <a:prstGeom prst="rect">
            <a:avLst/>
          </a:prstGeom>
          <a:solidFill>
            <a:srgbClr val="E8F1ED"/>
          </a:solidFill>
          <a:ln/>
        </p:spPr>
      </p:sp>
      <p:sp>
        <p:nvSpPr>
          <p:cNvPr id="129" name="Shape 127"/>
          <p:cNvSpPr/>
          <p:nvPr/>
        </p:nvSpPr>
        <p:spPr>
          <a:xfrm>
            <a:off x="9115783" y="7668578"/>
            <a:ext cx="1971913" cy="9525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130" name="Shape 128"/>
          <p:cNvSpPr/>
          <p:nvPr/>
        </p:nvSpPr>
        <p:spPr>
          <a:xfrm>
            <a:off x="9115783" y="7123748"/>
            <a:ext cx="1971913" cy="15240"/>
          </a:xfrm>
          <a:prstGeom prst="rect">
            <a:avLst/>
          </a:prstGeom>
          <a:solidFill>
            <a:srgbClr val="0F5B4C"/>
          </a:solidFill>
          <a:ln/>
        </p:spPr>
      </p:sp>
      <p:sp>
        <p:nvSpPr>
          <p:cNvPr id="131" name="Text 129"/>
          <p:cNvSpPr/>
          <p:nvPr/>
        </p:nvSpPr>
        <p:spPr>
          <a:xfrm>
            <a:off x="9211033" y="7291388"/>
            <a:ext cx="1705213" cy="2628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92500" lnSpcReduction="10000"/>
          </a:bodyPr>
          <a:lstStyle/>
          <a:p>
            <a:pPr marL="0" indent="0" algn="r">
              <a:buNone/>
            </a:pPr>
            <a:r>
              <a:rPr lang="en-US" sz="1575" b="1" dirty="0">
                <a:solidFill>
                  <a:srgbClr val="0A4439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368 GW</a:t>
            </a:r>
            <a:endParaRPr lang="en-US" sz="1575" dirty="0"/>
          </a:p>
        </p:txBody>
      </p:sp>
      <p:sp>
        <p:nvSpPr>
          <p:cNvPr id="132" name="Text 130"/>
          <p:cNvSpPr/>
          <p:nvPr/>
        </p:nvSpPr>
        <p:spPr>
          <a:xfrm>
            <a:off x="952500" y="7851457"/>
            <a:ext cx="10439251" cy="2133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475569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Budget ceiling of ₹80,000 Cr/yr is never breached. Solar costs decline 5–7% per year per Wright's law and are incorporated into the LP objective.</a:t>
            </a:r>
            <a:endParaRPr lang="en-US" sz="1200" dirty="0"/>
          </a:p>
        </p:txBody>
      </p:sp>
      <p:sp>
        <p:nvSpPr>
          <p:cNvPr id="133" name="Shape 131"/>
          <p:cNvSpPr/>
          <p:nvPr/>
        </p:nvSpPr>
        <p:spPr>
          <a:xfrm>
            <a:off x="11373445" y="3328988"/>
            <a:ext cx="5962055" cy="4534852"/>
          </a:xfrm>
          <a:prstGeom prst="rect">
            <a:avLst/>
          </a:prstGeom>
          <a:ln w="7620">
            <a:solidFill>
              <a:srgbClr val="E5E7EB"/>
            </a:solidFill>
            <a:prstDash val="solid"/>
          </a:ln>
        </p:spPr>
      </p:sp>
      <p:sp>
        <p:nvSpPr>
          <p:cNvPr id="134" name="Text 132"/>
          <p:cNvSpPr/>
          <p:nvPr/>
        </p:nvSpPr>
        <p:spPr>
          <a:xfrm>
            <a:off x="11628716" y="3546158"/>
            <a:ext cx="5615060" cy="1828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975" b="1" kern="0" spc="156" dirty="0">
                <a:solidFill>
                  <a:srgbClr val="475569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EXHIBIT 12</a:t>
            </a:r>
            <a:endParaRPr lang="en-US" sz="975" dirty="0"/>
          </a:p>
        </p:txBody>
      </p:sp>
      <p:sp>
        <p:nvSpPr>
          <p:cNvPr id="135" name="Text 133"/>
          <p:cNvSpPr/>
          <p:nvPr/>
        </p:nvSpPr>
        <p:spPr>
          <a:xfrm>
            <a:off x="11628716" y="3690937"/>
            <a:ext cx="5615060" cy="2514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425" b="1" dirty="0">
                <a:solidFill>
                  <a:srgbClr val="0F172A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Annual capex vs. budget ceiling</a:t>
            </a:r>
            <a:endParaRPr lang="en-US" sz="1425" dirty="0"/>
          </a:p>
        </p:txBody>
      </p:sp>
      <p:pic>
        <p:nvPicPr>
          <p:cNvPr id="13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628716" y="3904296"/>
            <a:ext cx="5451515" cy="3754755"/>
          </a:xfrm>
          <a:prstGeom prst="rect">
            <a:avLst/>
          </a:prstGeom>
        </p:spPr>
      </p:pic>
      <p:sp>
        <p:nvSpPr>
          <p:cNvPr id="137" name="Shape 134"/>
          <p:cNvSpPr/>
          <p:nvPr/>
        </p:nvSpPr>
        <p:spPr>
          <a:xfrm>
            <a:off x="11373445" y="8273328"/>
            <a:ext cx="5962055" cy="952500"/>
          </a:xfrm>
          <a:prstGeom prst="rect">
            <a:avLst/>
          </a:prstGeom>
          <a:solidFill>
            <a:srgbClr val="F8FAF7"/>
          </a:solidFill>
          <a:ln/>
        </p:spPr>
      </p:sp>
      <p:sp>
        <p:nvSpPr>
          <p:cNvPr id="138" name="Shape 135"/>
          <p:cNvSpPr/>
          <p:nvPr/>
        </p:nvSpPr>
        <p:spPr>
          <a:xfrm>
            <a:off x="11420799" y="8273328"/>
            <a:ext cx="38100" cy="952500"/>
          </a:xfrm>
          <a:prstGeom prst="rect">
            <a:avLst/>
          </a:prstGeom>
          <a:solidFill>
            <a:srgbClr val="86BC25"/>
          </a:solidFill>
          <a:ln/>
        </p:spPr>
      </p:sp>
      <p:sp>
        <p:nvSpPr>
          <p:cNvPr id="139" name="Text 136"/>
          <p:cNvSpPr/>
          <p:nvPr/>
        </p:nvSpPr>
        <p:spPr>
          <a:xfrm>
            <a:off x="11628716" y="8674071"/>
            <a:ext cx="925830" cy="1981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050" b="1" kern="0" spc="189" dirty="0">
                <a:solidFill>
                  <a:srgbClr val="0F5B4C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OUTCOME</a:t>
            </a:r>
            <a:endParaRPr lang="en-US" sz="1050" dirty="0"/>
          </a:p>
        </p:txBody>
      </p:sp>
      <p:sp>
        <p:nvSpPr>
          <p:cNvPr id="140" name="Text 137"/>
          <p:cNvSpPr/>
          <p:nvPr/>
        </p:nvSpPr>
        <p:spPr>
          <a:xfrm>
            <a:off x="12604075" y="8469716"/>
            <a:ext cx="4441695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500" dirty="0">
                <a:solidFill>
                  <a:srgbClr val="0F172A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368 GW solar by 2030 with peak demand met at lowest NPV cost — within budget every year.</a:t>
            </a:r>
            <a:endParaRPr lang="en-US" sz="1500" dirty="0"/>
          </a:p>
        </p:txBody>
      </p:sp>
      <p:sp>
        <p:nvSpPr>
          <p:cNvPr id="141" name="Shape 138"/>
          <p:cNvSpPr/>
          <p:nvPr/>
        </p:nvSpPr>
        <p:spPr>
          <a:xfrm>
            <a:off x="952500" y="9627870"/>
            <a:ext cx="16383000" cy="31623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42" name="Shape 139"/>
          <p:cNvSpPr/>
          <p:nvPr/>
        </p:nvSpPr>
        <p:spPr>
          <a:xfrm>
            <a:off x="952500" y="9627870"/>
            <a:ext cx="16383000" cy="9525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143" name="Text 140"/>
          <p:cNvSpPr/>
          <p:nvPr/>
        </p:nvSpPr>
        <p:spPr>
          <a:xfrm>
            <a:off x="952500" y="9772650"/>
            <a:ext cx="2388156" cy="2057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lnSpcReduction="10000"/>
          </a:bodyPr>
          <a:lstStyle/>
          <a:p>
            <a:pPr marL="0" indent="0" algn="l">
              <a:buNone/>
            </a:pPr>
            <a:r>
              <a:rPr lang="en-US" sz="1125" b="1" kern="0" spc="90" dirty="0">
                <a:solidFill>
                  <a:srgbClr val="0F5B4C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STRATEGY &amp; OPERATIONS</a:t>
            </a:r>
            <a:endParaRPr lang="en-US" sz="1125" dirty="0"/>
          </a:p>
        </p:txBody>
      </p:sp>
      <p:sp>
        <p:nvSpPr>
          <p:cNvPr id="144" name="Text 141"/>
          <p:cNvSpPr/>
          <p:nvPr/>
        </p:nvSpPr>
        <p:spPr>
          <a:xfrm>
            <a:off x="7123390" y="9768840"/>
            <a:ext cx="6063779" cy="2133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200" kern="0" spc="48" dirty="0">
                <a:solidFill>
                  <a:srgbClr val="94A3B8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Multi-period LP · objective = min NPV(cost) · constraints: demand, budget, ramp</a:t>
            </a:r>
            <a:endParaRPr lang="en-US" sz="1200" dirty="0"/>
          </a:p>
        </p:txBody>
      </p:sp>
      <p:sp>
        <p:nvSpPr>
          <p:cNvPr id="145" name="Text 142"/>
          <p:cNvSpPr/>
          <p:nvPr/>
        </p:nvSpPr>
        <p:spPr>
          <a:xfrm>
            <a:off x="16869370" y="9768840"/>
            <a:ext cx="542330" cy="2133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475569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15 </a:t>
            </a:r>
            <a:r>
              <a:rPr lang="en-US" sz="1200" dirty="0">
                <a:solidFill>
                  <a:srgbClr val="94A3B8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/ 20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685800"/>
            <a:ext cx="16874490" cy="2362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350" b="1" kern="0" spc="216" dirty="0">
                <a:solidFill>
                  <a:srgbClr val="0F5B4C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06 · RECOMMENDATIONS CLUSTER-DIFFERENTIATED POLICY</a:t>
            </a:r>
            <a:endParaRPr lang="en-US" sz="1350" dirty="0"/>
          </a:p>
        </p:txBody>
      </p:sp>
      <p:sp>
        <p:nvSpPr>
          <p:cNvPr id="3" name="Text 1"/>
          <p:cNvSpPr/>
          <p:nvPr/>
        </p:nvSpPr>
        <p:spPr>
          <a:xfrm>
            <a:off x="952500" y="1055370"/>
            <a:ext cx="14716125" cy="6553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4500" b="1" kern="0" spc="-90" dirty="0">
                <a:solidFill>
                  <a:srgbClr val="0F172A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Four clusters require four different policy playbooks</a:t>
            </a:r>
            <a:endParaRPr lang="en-US" sz="4500" dirty="0"/>
          </a:p>
        </p:txBody>
      </p:sp>
      <p:sp>
        <p:nvSpPr>
          <p:cNvPr id="4" name="Text 2"/>
          <p:cNvSpPr/>
          <p:nvPr/>
        </p:nvSpPr>
        <p:spPr>
          <a:xfrm>
            <a:off x="952500" y="1805940"/>
            <a:ext cx="14716125" cy="3724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950" dirty="0">
                <a:solidFill>
                  <a:srgbClr val="475569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A single national policy misses Rs 40,000+ Crore per year in efficiency gains. Levers must match cluster needs.</a:t>
            </a:r>
            <a:endParaRPr lang="en-US" sz="1950" dirty="0"/>
          </a:p>
        </p:txBody>
      </p:sp>
      <p:sp>
        <p:nvSpPr>
          <p:cNvPr id="5" name="Shape 3"/>
          <p:cNvSpPr/>
          <p:nvPr/>
        </p:nvSpPr>
        <p:spPr>
          <a:xfrm>
            <a:off x="952500" y="2406967"/>
            <a:ext cx="609600" cy="38100"/>
          </a:xfrm>
          <a:prstGeom prst="roundRect">
            <a:avLst>
              <a:gd name="adj" fmla="val 50000"/>
            </a:avLst>
          </a:prstGeom>
          <a:solidFill>
            <a:srgbClr val="86BC25"/>
          </a:solidFill>
          <a:ln/>
        </p:spPr>
      </p:sp>
      <p:sp>
        <p:nvSpPr>
          <p:cNvPr id="6" name="Shape 4"/>
          <p:cNvSpPr/>
          <p:nvPr/>
        </p:nvSpPr>
        <p:spPr>
          <a:xfrm>
            <a:off x="952500" y="5758339"/>
            <a:ext cx="8077200" cy="9525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7" name="Shape 5"/>
          <p:cNvSpPr/>
          <p:nvPr/>
        </p:nvSpPr>
        <p:spPr>
          <a:xfrm>
            <a:off x="952500" y="2711768"/>
            <a:ext cx="8077200" cy="45720"/>
          </a:xfrm>
          <a:prstGeom prst="rect">
            <a:avLst/>
          </a:prstGeom>
          <a:solidFill>
            <a:srgbClr val="86BC25"/>
          </a:solidFill>
          <a:ln/>
        </p:spPr>
      </p:sp>
      <p:sp>
        <p:nvSpPr>
          <p:cNvPr id="8" name="Shape 6"/>
          <p:cNvSpPr/>
          <p:nvPr/>
        </p:nvSpPr>
        <p:spPr>
          <a:xfrm>
            <a:off x="952500" y="2711768"/>
            <a:ext cx="9525" cy="3054191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9" name="Shape 7"/>
          <p:cNvSpPr/>
          <p:nvPr/>
        </p:nvSpPr>
        <p:spPr>
          <a:xfrm>
            <a:off x="9022080" y="2711768"/>
            <a:ext cx="9525" cy="3054191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10" name="Text 8"/>
          <p:cNvSpPr/>
          <p:nvPr/>
        </p:nvSpPr>
        <p:spPr>
          <a:xfrm>
            <a:off x="1207770" y="2967038"/>
            <a:ext cx="1701998" cy="2971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0F172A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RE Champions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6395681" y="3050858"/>
            <a:ext cx="2454950" cy="1981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050" kern="0" spc="126" dirty="0">
                <a:solidFill>
                  <a:srgbClr val="475569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Rajasthan · Gujarat · Karnataka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1284923" y="3359468"/>
            <a:ext cx="7565708" cy="8153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113347" indent="-113347" algn="l">
              <a:lnSpc>
                <a:spcPct val="160000"/>
              </a:lnSpc>
              <a:buSzPct val="100000"/>
              <a:buChar char="•"/>
              <a:tabLst>
                <a:tab pos="113347" algn="l"/>
              </a:tabLst>
            </a:pPr>
            <a:r>
              <a:rPr lang="en-US" sz="1275" dirty="0">
                <a:solidFill>
                  <a:srgbClr val="1F2937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HVDC inter-state lines — ₹45,000 Cr (self-funded by wheeling revenue)</a:t>
            </a:r>
            <a:endParaRPr lang="en-US" sz="1275" dirty="0"/>
          </a:p>
          <a:p>
            <a:pPr marL="113347" indent="-113347" algn="l">
              <a:lnSpc>
                <a:spcPct val="160000"/>
              </a:lnSpc>
              <a:buSzPct val="100000"/>
              <a:buChar char="•"/>
              <a:tabLst>
                <a:tab pos="113347" algn="l"/>
              </a:tabLst>
            </a:pPr>
            <a:r>
              <a:rPr lang="en-US" sz="1275" dirty="0">
                <a:solidFill>
                  <a:srgbClr val="1F2937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BESS co-location mandate for any new solar &gt; 500 MW</a:t>
            </a:r>
            <a:endParaRPr lang="en-US" sz="1275" dirty="0"/>
          </a:p>
          <a:p>
            <a:pPr marL="113347" indent="-113347" algn="l">
              <a:lnSpc>
                <a:spcPct val="160000"/>
              </a:lnSpc>
              <a:buSzPct val="100000"/>
              <a:buChar char="•"/>
              <a:tabLst>
                <a:tab pos="113347" algn="l"/>
              </a:tabLst>
            </a:pPr>
            <a:r>
              <a:rPr lang="en-US" sz="1275" dirty="0">
                <a:solidFill>
                  <a:srgbClr val="1F2937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Waive wheeling charges for 5 years to stimulate inter-state RE trade</a:t>
            </a:r>
            <a:endParaRPr lang="en-US" sz="1275" dirty="0"/>
          </a:p>
        </p:txBody>
      </p:sp>
      <p:sp>
        <p:nvSpPr>
          <p:cNvPr id="13" name="Shape 11"/>
          <p:cNvSpPr/>
          <p:nvPr/>
        </p:nvSpPr>
        <p:spPr>
          <a:xfrm>
            <a:off x="1207770" y="4270058"/>
            <a:ext cx="7566660" cy="358140"/>
          </a:xfrm>
          <a:prstGeom prst="rect">
            <a:avLst/>
          </a:prstGeom>
          <a:solidFill>
            <a:srgbClr val="F8FAF7"/>
          </a:solidFill>
          <a:ln/>
        </p:spPr>
      </p:sp>
      <p:sp>
        <p:nvSpPr>
          <p:cNvPr id="14" name="Shape 12"/>
          <p:cNvSpPr/>
          <p:nvPr/>
        </p:nvSpPr>
        <p:spPr>
          <a:xfrm>
            <a:off x="1207770" y="4270058"/>
            <a:ext cx="22860" cy="358140"/>
          </a:xfrm>
          <a:prstGeom prst="rect">
            <a:avLst/>
          </a:prstGeom>
          <a:solidFill>
            <a:srgbClr val="86BC25"/>
          </a:solidFill>
          <a:ln/>
        </p:spPr>
      </p:sp>
      <p:sp>
        <p:nvSpPr>
          <p:cNvPr id="15" name="Text 13"/>
          <p:cNvSpPr/>
          <p:nvPr/>
        </p:nvSpPr>
        <p:spPr>
          <a:xfrm>
            <a:off x="1363980" y="4365308"/>
            <a:ext cx="7504100" cy="2057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125" b="1" dirty="0">
                <a:solidFill>
                  <a:srgbClr val="0F5B4C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KPI 2028 </a:t>
            </a:r>
            <a:r>
              <a:rPr lang="en-US" sz="1125" dirty="0">
                <a:solidFill>
                  <a:srgbClr val="1F2937"/>
                </a:solidFill>
                <a:highlight>
                  <a:srgbClr val="F8FAF7"/>
                </a:highlight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Export 50 BU/yr to demand states</a:t>
            </a:r>
            <a:endParaRPr lang="en-US" sz="1125" dirty="0"/>
          </a:p>
        </p:txBody>
      </p:sp>
      <p:sp>
        <p:nvSpPr>
          <p:cNvPr id="16" name="Shape 14"/>
          <p:cNvSpPr/>
          <p:nvPr/>
        </p:nvSpPr>
        <p:spPr>
          <a:xfrm>
            <a:off x="9258300" y="5758339"/>
            <a:ext cx="8077200" cy="9525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17" name="Shape 15"/>
          <p:cNvSpPr/>
          <p:nvPr/>
        </p:nvSpPr>
        <p:spPr>
          <a:xfrm>
            <a:off x="9258300" y="2711768"/>
            <a:ext cx="8077200" cy="45720"/>
          </a:xfrm>
          <a:prstGeom prst="rect">
            <a:avLst/>
          </a:prstGeom>
          <a:solidFill>
            <a:srgbClr val="0F5B4C"/>
          </a:solidFill>
          <a:ln/>
        </p:spPr>
      </p:sp>
      <p:sp>
        <p:nvSpPr>
          <p:cNvPr id="18" name="Shape 16"/>
          <p:cNvSpPr/>
          <p:nvPr/>
        </p:nvSpPr>
        <p:spPr>
          <a:xfrm>
            <a:off x="9258300" y="2711768"/>
            <a:ext cx="9525" cy="3054191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19" name="Shape 17"/>
          <p:cNvSpPr/>
          <p:nvPr/>
        </p:nvSpPr>
        <p:spPr>
          <a:xfrm>
            <a:off x="17327880" y="2711768"/>
            <a:ext cx="9525" cy="3054191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20" name="Text 18"/>
          <p:cNvSpPr/>
          <p:nvPr/>
        </p:nvSpPr>
        <p:spPr>
          <a:xfrm>
            <a:off x="9513570" y="2967038"/>
            <a:ext cx="2108835" cy="2971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0F172A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Transition Leaders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14962941" y="3050858"/>
            <a:ext cx="2193488" cy="1981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050" kern="0" spc="126" dirty="0">
                <a:solidFill>
                  <a:srgbClr val="475569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Tamil Nadu · AP · Telangana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9590722" y="3359468"/>
            <a:ext cx="7565708" cy="8153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113347" indent="-113347" algn="l">
              <a:lnSpc>
                <a:spcPct val="160000"/>
              </a:lnSpc>
              <a:buSzPct val="100000"/>
              <a:buChar char="•"/>
              <a:tabLst>
                <a:tab pos="113347" algn="l"/>
              </a:tabLst>
            </a:pPr>
            <a:r>
              <a:rPr lang="en-US" sz="1275" dirty="0">
                <a:solidFill>
                  <a:srgbClr val="1F2937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Offshore wind fast-track (TN coastline: 30+ GW potential)</a:t>
            </a:r>
            <a:endParaRPr lang="en-US" sz="1275" dirty="0"/>
          </a:p>
          <a:p>
            <a:pPr marL="113347" indent="-113347" algn="l">
              <a:lnSpc>
                <a:spcPct val="160000"/>
              </a:lnSpc>
              <a:buSzPct val="100000"/>
              <a:buChar char="•"/>
              <a:tabLst>
                <a:tab pos="113347" algn="l"/>
              </a:tabLst>
            </a:pPr>
            <a:r>
              <a:rPr lang="en-US" sz="1275" dirty="0">
                <a:solidFill>
                  <a:srgbClr val="1F2937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Priority allocation from national grid upgrade fund</a:t>
            </a:r>
            <a:endParaRPr lang="en-US" sz="1275" dirty="0"/>
          </a:p>
          <a:p>
            <a:pPr marL="113347" indent="-113347" algn="l">
              <a:lnSpc>
                <a:spcPct val="160000"/>
              </a:lnSpc>
              <a:buSzPct val="100000"/>
              <a:buChar char="•"/>
              <a:tabLst>
                <a:tab pos="113347" algn="l"/>
              </a:tabLst>
            </a:pPr>
            <a:r>
              <a:rPr lang="en-US" sz="1275" dirty="0">
                <a:solidFill>
                  <a:srgbClr val="1F2937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Demand response programmes to flatten the peak curve</a:t>
            </a:r>
            <a:endParaRPr lang="en-US" sz="1275" dirty="0"/>
          </a:p>
        </p:txBody>
      </p:sp>
      <p:sp>
        <p:nvSpPr>
          <p:cNvPr id="23" name="Shape 21"/>
          <p:cNvSpPr/>
          <p:nvPr/>
        </p:nvSpPr>
        <p:spPr>
          <a:xfrm>
            <a:off x="9513570" y="4270058"/>
            <a:ext cx="7566660" cy="358140"/>
          </a:xfrm>
          <a:prstGeom prst="rect">
            <a:avLst/>
          </a:prstGeom>
          <a:solidFill>
            <a:srgbClr val="F8FAF7"/>
          </a:solidFill>
          <a:ln/>
        </p:spPr>
      </p:sp>
      <p:sp>
        <p:nvSpPr>
          <p:cNvPr id="24" name="Shape 22"/>
          <p:cNvSpPr/>
          <p:nvPr/>
        </p:nvSpPr>
        <p:spPr>
          <a:xfrm>
            <a:off x="9513570" y="4270058"/>
            <a:ext cx="22860" cy="358140"/>
          </a:xfrm>
          <a:prstGeom prst="rect">
            <a:avLst/>
          </a:prstGeom>
          <a:solidFill>
            <a:srgbClr val="86BC25"/>
          </a:solidFill>
          <a:ln/>
        </p:spPr>
      </p:sp>
      <p:sp>
        <p:nvSpPr>
          <p:cNvPr id="25" name="Text 23"/>
          <p:cNvSpPr/>
          <p:nvPr/>
        </p:nvSpPr>
        <p:spPr>
          <a:xfrm>
            <a:off x="9669780" y="4365308"/>
            <a:ext cx="7504100" cy="2057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125" b="1" dirty="0">
                <a:solidFill>
                  <a:srgbClr val="0F5B4C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KPI 2028 </a:t>
            </a:r>
            <a:r>
              <a:rPr lang="en-US" sz="1125" dirty="0">
                <a:solidFill>
                  <a:srgbClr val="1F2937"/>
                </a:solidFill>
                <a:highlight>
                  <a:srgbClr val="F8FAF7"/>
                </a:highlight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+15 GW RE and +8 GWh BESS</a:t>
            </a:r>
            <a:endParaRPr lang="en-US" sz="1125" dirty="0"/>
          </a:p>
        </p:txBody>
      </p:sp>
      <p:sp>
        <p:nvSpPr>
          <p:cNvPr id="26" name="Shape 24"/>
          <p:cNvSpPr/>
          <p:nvPr/>
        </p:nvSpPr>
        <p:spPr>
          <a:xfrm>
            <a:off x="952500" y="9041130"/>
            <a:ext cx="8077200" cy="9525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27" name="Shape 25"/>
          <p:cNvSpPr/>
          <p:nvPr/>
        </p:nvSpPr>
        <p:spPr>
          <a:xfrm>
            <a:off x="952500" y="5994559"/>
            <a:ext cx="8077200" cy="45720"/>
          </a:xfrm>
          <a:prstGeom prst="rect">
            <a:avLst/>
          </a:prstGeom>
          <a:solidFill>
            <a:srgbClr val="1F2937"/>
          </a:solidFill>
          <a:ln/>
        </p:spPr>
      </p:sp>
      <p:sp>
        <p:nvSpPr>
          <p:cNvPr id="28" name="Shape 26"/>
          <p:cNvSpPr/>
          <p:nvPr/>
        </p:nvSpPr>
        <p:spPr>
          <a:xfrm>
            <a:off x="952500" y="5994559"/>
            <a:ext cx="9525" cy="3054191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29" name="Shape 27"/>
          <p:cNvSpPr/>
          <p:nvPr/>
        </p:nvSpPr>
        <p:spPr>
          <a:xfrm>
            <a:off x="9022080" y="5994559"/>
            <a:ext cx="9525" cy="3054191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30" name="Text 28"/>
          <p:cNvSpPr/>
          <p:nvPr/>
        </p:nvSpPr>
        <p:spPr>
          <a:xfrm>
            <a:off x="1207770" y="6249829"/>
            <a:ext cx="1816298" cy="2971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0F172A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Coal Dependent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5725716" y="6333649"/>
            <a:ext cx="3140176" cy="1981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050" kern="0" spc="126" dirty="0">
                <a:solidFill>
                  <a:srgbClr val="475569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UP · Maharashtra · MP · Jharkhand · WB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1284923" y="6642259"/>
            <a:ext cx="7565708" cy="8153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113347" indent="-113347" algn="l">
              <a:lnSpc>
                <a:spcPct val="160000"/>
              </a:lnSpc>
              <a:buSzPct val="100000"/>
              <a:buChar char="•"/>
              <a:tabLst>
                <a:tab pos="113347" algn="l"/>
              </a:tabLst>
            </a:pPr>
            <a:r>
              <a:rPr lang="en-US" sz="1275" dirty="0">
                <a:solidFill>
                  <a:srgbClr val="1F2937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Mandatory BESS installation alongside any new RE permit</a:t>
            </a:r>
            <a:endParaRPr lang="en-US" sz="1275" dirty="0"/>
          </a:p>
          <a:p>
            <a:pPr marL="113347" indent="-113347" algn="l">
              <a:lnSpc>
                <a:spcPct val="160000"/>
              </a:lnSpc>
              <a:buSzPct val="100000"/>
              <a:buChar char="•"/>
              <a:tabLst>
                <a:tab pos="113347" algn="l"/>
              </a:tabLst>
            </a:pPr>
            <a:r>
              <a:rPr lang="en-US" sz="1275" dirty="0">
                <a:solidFill>
                  <a:srgbClr val="1F2937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Coal PLF floor: 55% → 45% by 2027 (smooth transition)</a:t>
            </a:r>
            <a:endParaRPr lang="en-US" sz="1275" dirty="0"/>
          </a:p>
          <a:p>
            <a:pPr marL="113347" indent="-113347" algn="l">
              <a:lnSpc>
                <a:spcPct val="160000"/>
              </a:lnSpc>
              <a:buSzPct val="100000"/>
              <a:buChar char="•"/>
              <a:tabLst>
                <a:tab pos="113347" algn="l"/>
              </a:tabLst>
            </a:pPr>
            <a:r>
              <a:rPr lang="en-US" sz="1275" dirty="0">
                <a:solidFill>
                  <a:srgbClr val="1F2937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Concessional green loans for DISCOMs procuring RE</a:t>
            </a:r>
            <a:endParaRPr lang="en-US" sz="1275" dirty="0"/>
          </a:p>
        </p:txBody>
      </p:sp>
      <p:sp>
        <p:nvSpPr>
          <p:cNvPr id="33" name="Shape 31"/>
          <p:cNvSpPr/>
          <p:nvPr/>
        </p:nvSpPr>
        <p:spPr>
          <a:xfrm>
            <a:off x="1207770" y="7552849"/>
            <a:ext cx="7566660" cy="358140"/>
          </a:xfrm>
          <a:prstGeom prst="rect">
            <a:avLst/>
          </a:prstGeom>
          <a:solidFill>
            <a:srgbClr val="F8FAF7"/>
          </a:solidFill>
          <a:ln/>
        </p:spPr>
      </p:sp>
      <p:sp>
        <p:nvSpPr>
          <p:cNvPr id="34" name="Shape 32"/>
          <p:cNvSpPr/>
          <p:nvPr/>
        </p:nvSpPr>
        <p:spPr>
          <a:xfrm>
            <a:off x="1207770" y="7552849"/>
            <a:ext cx="22860" cy="358140"/>
          </a:xfrm>
          <a:prstGeom prst="rect">
            <a:avLst/>
          </a:prstGeom>
          <a:solidFill>
            <a:srgbClr val="86BC25"/>
          </a:solidFill>
          <a:ln/>
        </p:spPr>
      </p:sp>
      <p:sp>
        <p:nvSpPr>
          <p:cNvPr id="35" name="Text 33"/>
          <p:cNvSpPr/>
          <p:nvPr/>
        </p:nvSpPr>
        <p:spPr>
          <a:xfrm>
            <a:off x="1363980" y="7648099"/>
            <a:ext cx="7504100" cy="2057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125" b="1" dirty="0">
                <a:solidFill>
                  <a:srgbClr val="0F5B4C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KPI 2030 </a:t>
            </a:r>
            <a:r>
              <a:rPr lang="en-US" sz="1125" dirty="0">
                <a:solidFill>
                  <a:srgbClr val="1F2937"/>
                </a:solidFill>
                <a:highlight>
                  <a:srgbClr val="F8FAF7"/>
                </a:highlight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RES share 20% → 40%</a:t>
            </a:r>
            <a:endParaRPr lang="en-US" sz="1125" dirty="0"/>
          </a:p>
        </p:txBody>
      </p:sp>
      <p:sp>
        <p:nvSpPr>
          <p:cNvPr id="36" name="Shape 34"/>
          <p:cNvSpPr/>
          <p:nvPr/>
        </p:nvSpPr>
        <p:spPr>
          <a:xfrm>
            <a:off x="9258300" y="9041130"/>
            <a:ext cx="8077200" cy="9525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37" name="Shape 35"/>
          <p:cNvSpPr/>
          <p:nvPr/>
        </p:nvSpPr>
        <p:spPr>
          <a:xfrm>
            <a:off x="9258300" y="5994559"/>
            <a:ext cx="8077200" cy="4572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8" name="Shape 36"/>
          <p:cNvSpPr/>
          <p:nvPr/>
        </p:nvSpPr>
        <p:spPr>
          <a:xfrm>
            <a:off x="9258300" y="5994559"/>
            <a:ext cx="9525" cy="3054191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39" name="Shape 37"/>
          <p:cNvSpPr/>
          <p:nvPr/>
        </p:nvSpPr>
        <p:spPr>
          <a:xfrm>
            <a:off x="17327880" y="5994559"/>
            <a:ext cx="9525" cy="3054191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40" name="Text 38"/>
          <p:cNvSpPr/>
          <p:nvPr/>
        </p:nvSpPr>
        <p:spPr>
          <a:xfrm>
            <a:off x="9513570" y="6249829"/>
            <a:ext cx="1753314" cy="2971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0F172A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Energy Starved</a:t>
            </a:r>
            <a:endParaRPr lang="en-US" sz="1800" dirty="0"/>
          </a:p>
        </p:txBody>
      </p:sp>
      <p:sp>
        <p:nvSpPr>
          <p:cNvPr id="41" name="Text 39"/>
          <p:cNvSpPr/>
          <p:nvPr/>
        </p:nvSpPr>
        <p:spPr>
          <a:xfrm>
            <a:off x="14556106" y="6333649"/>
            <a:ext cx="2600325" cy="1981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050" kern="0" spc="126" dirty="0">
                <a:solidFill>
                  <a:srgbClr val="475569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Bihar · HP · Northeast (6+ states)</a:t>
            </a:r>
            <a:endParaRPr lang="en-US" sz="1050" dirty="0"/>
          </a:p>
        </p:txBody>
      </p:sp>
      <p:sp>
        <p:nvSpPr>
          <p:cNvPr id="42" name="Text 40"/>
          <p:cNvSpPr/>
          <p:nvPr/>
        </p:nvSpPr>
        <p:spPr>
          <a:xfrm>
            <a:off x="9590722" y="6642259"/>
            <a:ext cx="7565708" cy="8153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113347" indent="-113347" algn="l">
              <a:lnSpc>
                <a:spcPct val="160000"/>
              </a:lnSpc>
              <a:buSzPct val="100000"/>
              <a:buChar char="•"/>
              <a:tabLst>
                <a:tab pos="113347" algn="l"/>
              </a:tabLst>
            </a:pPr>
            <a:r>
              <a:rPr lang="en-US" sz="1275" dirty="0">
                <a:solidFill>
                  <a:srgbClr val="1F2937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Viability Gap Funding for unviable small solar projects</a:t>
            </a:r>
            <a:endParaRPr lang="en-US" sz="1275" dirty="0"/>
          </a:p>
          <a:p>
            <a:pPr marL="113347" indent="-113347" algn="l">
              <a:lnSpc>
                <a:spcPct val="160000"/>
              </a:lnSpc>
              <a:buSzPct val="100000"/>
              <a:buChar char="•"/>
              <a:tabLst>
                <a:tab pos="113347" algn="l"/>
              </a:tabLst>
            </a:pPr>
            <a:r>
              <a:rPr lang="en-US" sz="1275" dirty="0">
                <a:solidFill>
                  <a:srgbClr val="1F2937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Community solar microgrids for rural areas</a:t>
            </a:r>
            <a:endParaRPr lang="en-US" sz="1275" dirty="0"/>
          </a:p>
          <a:p>
            <a:pPr marL="113347" indent="-113347" algn="l">
              <a:lnSpc>
                <a:spcPct val="160000"/>
              </a:lnSpc>
              <a:buSzPct val="100000"/>
              <a:buChar char="•"/>
              <a:tabLst>
                <a:tab pos="113347" algn="l"/>
              </a:tabLst>
            </a:pPr>
            <a:r>
              <a:rPr lang="en-US" sz="1275" dirty="0">
                <a:solidFill>
                  <a:srgbClr val="1F2937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Energy access subsidy linked to RE generation</a:t>
            </a:r>
            <a:endParaRPr lang="en-US" sz="1275" dirty="0"/>
          </a:p>
        </p:txBody>
      </p:sp>
      <p:sp>
        <p:nvSpPr>
          <p:cNvPr id="43" name="Shape 41"/>
          <p:cNvSpPr/>
          <p:nvPr/>
        </p:nvSpPr>
        <p:spPr>
          <a:xfrm>
            <a:off x="9513570" y="7552849"/>
            <a:ext cx="7566660" cy="358140"/>
          </a:xfrm>
          <a:prstGeom prst="rect">
            <a:avLst/>
          </a:prstGeom>
          <a:solidFill>
            <a:srgbClr val="F8FAF7"/>
          </a:solidFill>
          <a:ln/>
        </p:spPr>
      </p:sp>
      <p:sp>
        <p:nvSpPr>
          <p:cNvPr id="44" name="Shape 42"/>
          <p:cNvSpPr/>
          <p:nvPr/>
        </p:nvSpPr>
        <p:spPr>
          <a:xfrm>
            <a:off x="9513570" y="7552849"/>
            <a:ext cx="22860" cy="358140"/>
          </a:xfrm>
          <a:prstGeom prst="rect">
            <a:avLst/>
          </a:prstGeom>
          <a:solidFill>
            <a:srgbClr val="86BC25"/>
          </a:solidFill>
          <a:ln/>
        </p:spPr>
      </p:sp>
      <p:sp>
        <p:nvSpPr>
          <p:cNvPr id="45" name="Text 43"/>
          <p:cNvSpPr/>
          <p:nvPr/>
        </p:nvSpPr>
        <p:spPr>
          <a:xfrm>
            <a:off x="9669780" y="7648099"/>
            <a:ext cx="7504100" cy="2057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125" b="1" dirty="0">
                <a:solidFill>
                  <a:srgbClr val="0F5B4C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KPI 2027 </a:t>
            </a:r>
            <a:r>
              <a:rPr lang="en-US" sz="1125" dirty="0">
                <a:solidFill>
                  <a:srgbClr val="1F2937"/>
                </a:solidFill>
                <a:highlight>
                  <a:srgbClr val="F8FAF7"/>
                </a:highlight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Eliminate energy deficit</a:t>
            </a:r>
            <a:endParaRPr lang="en-US" sz="1125" dirty="0"/>
          </a:p>
        </p:txBody>
      </p:sp>
      <p:sp>
        <p:nvSpPr>
          <p:cNvPr id="46" name="Shape 44"/>
          <p:cNvSpPr/>
          <p:nvPr/>
        </p:nvSpPr>
        <p:spPr>
          <a:xfrm>
            <a:off x="952500" y="9627870"/>
            <a:ext cx="16383000" cy="31623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7" name="Shape 45"/>
          <p:cNvSpPr/>
          <p:nvPr/>
        </p:nvSpPr>
        <p:spPr>
          <a:xfrm>
            <a:off x="952500" y="9627870"/>
            <a:ext cx="16383000" cy="9525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48" name="Text 46"/>
          <p:cNvSpPr/>
          <p:nvPr/>
        </p:nvSpPr>
        <p:spPr>
          <a:xfrm>
            <a:off x="952500" y="9772650"/>
            <a:ext cx="2388156" cy="2057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lnSpcReduction="10000"/>
          </a:bodyPr>
          <a:lstStyle/>
          <a:p>
            <a:pPr marL="0" indent="0" algn="l">
              <a:buNone/>
            </a:pPr>
            <a:r>
              <a:rPr lang="en-US" sz="1125" b="1" kern="0" spc="90" dirty="0">
                <a:solidFill>
                  <a:srgbClr val="0F5B4C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STRATEGY &amp; OPERATIONS</a:t>
            </a:r>
            <a:endParaRPr lang="en-US" sz="1125" dirty="0"/>
          </a:p>
        </p:txBody>
      </p:sp>
      <p:sp>
        <p:nvSpPr>
          <p:cNvPr id="49" name="Text 47"/>
          <p:cNvSpPr/>
          <p:nvPr/>
        </p:nvSpPr>
        <p:spPr>
          <a:xfrm>
            <a:off x="7231142" y="9768840"/>
            <a:ext cx="5841688" cy="2133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200" kern="0" spc="48" dirty="0">
                <a:solidFill>
                  <a:srgbClr val="94A3B8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Source: K-Means cluster output · CEA state policy register · authors' analysis</a:t>
            </a:r>
            <a:endParaRPr lang="en-US" sz="1200" dirty="0"/>
          </a:p>
        </p:txBody>
      </p:sp>
      <p:sp>
        <p:nvSpPr>
          <p:cNvPr id="50" name="Text 48"/>
          <p:cNvSpPr/>
          <p:nvPr/>
        </p:nvSpPr>
        <p:spPr>
          <a:xfrm>
            <a:off x="16869370" y="9768840"/>
            <a:ext cx="542330" cy="2133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475569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16 </a:t>
            </a:r>
            <a:r>
              <a:rPr lang="en-US" sz="1200" dirty="0">
                <a:solidFill>
                  <a:srgbClr val="94A3B8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/ 20</a:t>
            </a:r>
            <a:endParaRPr lang="en-US" sz="1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685800"/>
            <a:ext cx="16874490" cy="2362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350" b="1" kern="0" spc="216" dirty="0">
                <a:solidFill>
                  <a:srgbClr val="0F5B4C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06 · RECOMMENDATIONS FIVE PRIORITIES RANKED BY IMPACT × FEASIBILITY</a:t>
            </a:r>
            <a:endParaRPr lang="en-US" sz="1350" dirty="0"/>
          </a:p>
        </p:txBody>
      </p:sp>
      <p:sp>
        <p:nvSpPr>
          <p:cNvPr id="3" name="Text 1"/>
          <p:cNvSpPr/>
          <p:nvPr/>
        </p:nvSpPr>
        <p:spPr>
          <a:xfrm>
            <a:off x="952500" y="1055370"/>
            <a:ext cx="14716125" cy="6553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4500" b="1" kern="0" spc="-90" dirty="0">
                <a:solidFill>
                  <a:srgbClr val="0F172A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Five actions, each costed, owned, and time-bound</a:t>
            </a:r>
            <a:endParaRPr lang="en-US" sz="4500" dirty="0"/>
          </a:p>
        </p:txBody>
      </p:sp>
      <p:sp>
        <p:nvSpPr>
          <p:cNvPr id="4" name="Text 2"/>
          <p:cNvSpPr/>
          <p:nvPr/>
        </p:nvSpPr>
        <p:spPr>
          <a:xfrm>
            <a:off x="952500" y="1805940"/>
            <a:ext cx="14716125" cy="3724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950" dirty="0">
                <a:solidFill>
                  <a:srgbClr val="475569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Together they cut coal at the 8 PM peak by ~65% and unlock ~Rs 1.5 lakh Cr/year of efficiency value.</a:t>
            </a:r>
            <a:endParaRPr lang="en-US" sz="1950" dirty="0"/>
          </a:p>
        </p:txBody>
      </p:sp>
      <p:sp>
        <p:nvSpPr>
          <p:cNvPr id="5" name="Shape 3"/>
          <p:cNvSpPr/>
          <p:nvPr/>
        </p:nvSpPr>
        <p:spPr>
          <a:xfrm>
            <a:off x="952500" y="2406967"/>
            <a:ext cx="609600" cy="38100"/>
          </a:xfrm>
          <a:prstGeom prst="roundRect">
            <a:avLst>
              <a:gd name="adj" fmla="val 50000"/>
            </a:avLst>
          </a:prstGeom>
          <a:solidFill>
            <a:srgbClr val="86BC25"/>
          </a:solidFill>
          <a:ln/>
        </p:spPr>
      </p:sp>
      <p:sp>
        <p:nvSpPr>
          <p:cNvPr id="6" name="Shape 4"/>
          <p:cNvSpPr/>
          <p:nvPr/>
        </p:nvSpPr>
        <p:spPr>
          <a:xfrm>
            <a:off x="952500" y="2711768"/>
            <a:ext cx="16383000" cy="752475"/>
          </a:xfrm>
          <a:prstGeom prst="rect">
            <a:avLst/>
          </a:prstGeom>
          <a:ln w="7620">
            <a:solidFill>
              <a:srgbClr val="E5E7E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69670" y="2967990"/>
            <a:ext cx="952500" cy="240030"/>
          </a:xfrm>
          <a:prstGeom prst="roundRect">
            <a:avLst>
              <a:gd name="adj" fmla="val 7937"/>
            </a:avLst>
          </a:prstGeom>
          <a:solidFill>
            <a:srgbClr val="FEE2E2"/>
          </a:solidFill>
          <a:ln/>
        </p:spPr>
      </p:sp>
      <p:sp>
        <p:nvSpPr>
          <p:cNvPr id="8" name="Text 6"/>
          <p:cNvSpPr/>
          <p:nvPr/>
        </p:nvSpPr>
        <p:spPr>
          <a:xfrm>
            <a:off x="1264920" y="3015615"/>
            <a:ext cx="838200" cy="1828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975" b="1" kern="0" spc="156" dirty="0">
                <a:solidFill>
                  <a:srgbClr val="991B1B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P1 · HIGH</a:t>
            </a:r>
            <a:endParaRPr lang="en-US" sz="975" dirty="0"/>
          </a:p>
        </p:txBody>
      </p:sp>
      <p:sp>
        <p:nvSpPr>
          <p:cNvPr id="9" name="Text 7"/>
          <p:cNvSpPr/>
          <p:nvPr/>
        </p:nvSpPr>
        <p:spPr>
          <a:xfrm>
            <a:off x="2293620" y="2871788"/>
            <a:ext cx="8460791" cy="2743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575" b="1" dirty="0">
                <a:solidFill>
                  <a:srgbClr val="0F172A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Mandate 300 GWh BESS by 2030</a:t>
            </a:r>
            <a:endParaRPr lang="en-US" sz="1575" dirty="0"/>
          </a:p>
        </p:txBody>
      </p:sp>
      <p:sp>
        <p:nvSpPr>
          <p:cNvPr id="10" name="Text 8"/>
          <p:cNvSpPr/>
          <p:nvPr/>
        </p:nvSpPr>
        <p:spPr>
          <a:xfrm>
            <a:off x="2293620" y="3136583"/>
            <a:ext cx="8460791" cy="2057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125" dirty="0">
                <a:solidFill>
                  <a:srgbClr val="475569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VGF · competitive BESS tenders · DISCOM must-buy</a:t>
            </a:r>
            <a:endParaRPr lang="en-US" sz="1125" dirty="0"/>
          </a:p>
        </p:txBody>
      </p:sp>
      <p:sp>
        <p:nvSpPr>
          <p:cNvPr id="11" name="Text 9"/>
          <p:cNvSpPr/>
          <p:nvPr/>
        </p:nvSpPr>
        <p:spPr>
          <a:xfrm>
            <a:off x="10679431" y="2920365"/>
            <a:ext cx="2171700" cy="3733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125" b="1" dirty="0">
                <a:solidFill>
                  <a:srgbClr val="0F5B4C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Impact: </a:t>
            </a:r>
            <a:r>
              <a:rPr lang="en-US" sz="1125" dirty="0">
                <a:solidFill>
                  <a:srgbClr val="1F2937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NPV +₹11.7k Cr · cuts coal at peak 65%</a:t>
            </a:r>
            <a:endParaRPr lang="en-US" sz="1125" dirty="0"/>
          </a:p>
        </p:txBody>
      </p:sp>
      <p:sp>
        <p:nvSpPr>
          <p:cNvPr id="12" name="Text 10"/>
          <p:cNvSpPr/>
          <p:nvPr/>
        </p:nvSpPr>
        <p:spPr>
          <a:xfrm>
            <a:off x="12946381" y="2920365"/>
            <a:ext cx="2171700" cy="3733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125" b="1" dirty="0">
                <a:solidFill>
                  <a:srgbClr val="0F5B4C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Cost: </a:t>
            </a:r>
            <a:r>
              <a:rPr lang="en-US" sz="1125" dirty="0">
                <a:solidFill>
                  <a:srgbClr val="1F2937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₹12,000 Cr capex (carbon tax revenue)</a:t>
            </a:r>
            <a:endParaRPr lang="en-US" sz="1125" dirty="0"/>
          </a:p>
        </p:txBody>
      </p:sp>
      <p:sp>
        <p:nvSpPr>
          <p:cNvPr id="13" name="Text 11"/>
          <p:cNvSpPr/>
          <p:nvPr/>
        </p:nvSpPr>
        <p:spPr>
          <a:xfrm>
            <a:off x="15213331" y="2920365"/>
            <a:ext cx="1981200" cy="3733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125" b="1" dirty="0">
                <a:solidFill>
                  <a:srgbClr val="0F5B4C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Owner: </a:t>
            </a:r>
            <a:r>
              <a:rPr lang="en-US" sz="1125" dirty="0">
                <a:solidFill>
                  <a:srgbClr val="1F2937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MNRE + MoP · FY26 tender</a:t>
            </a:r>
            <a:endParaRPr lang="en-US" sz="1125" dirty="0"/>
          </a:p>
        </p:txBody>
      </p:sp>
      <p:sp>
        <p:nvSpPr>
          <p:cNvPr id="14" name="Shape 12"/>
          <p:cNvSpPr/>
          <p:nvPr/>
        </p:nvSpPr>
        <p:spPr>
          <a:xfrm>
            <a:off x="952500" y="3597593"/>
            <a:ext cx="16383000" cy="752475"/>
          </a:xfrm>
          <a:prstGeom prst="rect">
            <a:avLst/>
          </a:prstGeom>
          <a:ln w="7620">
            <a:solidFill>
              <a:srgbClr val="E5E7E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169670" y="3853815"/>
            <a:ext cx="952500" cy="240030"/>
          </a:xfrm>
          <a:prstGeom prst="roundRect">
            <a:avLst>
              <a:gd name="adj" fmla="val 7937"/>
            </a:avLst>
          </a:prstGeom>
          <a:solidFill>
            <a:srgbClr val="FEE2E2"/>
          </a:solidFill>
          <a:ln/>
        </p:spPr>
      </p:sp>
      <p:sp>
        <p:nvSpPr>
          <p:cNvPr id="16" name="Text 14"/>
          <p:cNvSpPr/>
          <p:nvPr/>
        </p:nvSpPr>
        <p:spPr>
          <a:xfrm>
            <a:off x="1264920" y="3901440"/>
            <a:ext cx="838200" cy="1828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975" b="1" kern="0" spc="156" dirty="0">
                <a:solidFill>
                  <a:srgbClr val="991B1B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P2 · HIGH</a:t>
            </a:r>
            <a:endParaRPr lang="en-US" sz="975" dirty="0"/>
          </a:p>
        </p:txBody>
      </p:sp>
      <p:sp>
        <p:nvSpPr>
          <p:cNvPr id="17" name="Text 15"/>
          <p:cNvSpPr/>
          <p:nvPr/>
        </p:nvSpPr>
        <p:spPr>
          <a:xfrm>
            <a:off x="2293620" y="3757613"/>
            <a:ext cx="8460791" cy="2743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575" b="1" dirty="0">
                <a:solidFill>
                  <a:srgbClr val="0F172A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Fast-track inter-state HVDC grid</a:t>
            </a:r>
            <a:endParaRPr lang="en-US" sz="1575" dirty="0"/>
          </a:p>
        </p:txBody>
      </p:sp>
      <p:sp>
        <p:nvSpPr>
          <p:cNvPr id="18" name="Text 16"/>
          <p:cNvSpPr/>
          <p:nvPr/>
        </p:nvSpPr>
        <p:spPr>
          <a:xfrm>
            <a:off x="2293620" y="4022408"/>
            <a:ext cx="8460791" cy="2057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125" dirty="0">
                <a:solidFill>
                  <a:srgbClr val="475569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Green Energy Corridors Phase 3 · PowerGrid · TBCB bids</a:t>
            </a:r>
            <a:endParaRPr lang="en-US" sz="1125" dirty="0"/>
          </a:p>
        </p:txBody>
      </p:sp>
      <p:sp>
        <p:nvSpPr>
          <p:cNvPr id="19" name="Text 17"/>
          <p:cNvSpPr/>
          <p:nvPr/>
        </p:nvSpPr>
        <p:spPr>
          <a:xfrm>
            <a:off x="10679431" y="3806190"/>
            <a:ext cx="2171700" cy="3733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125" b="1" dirty="0">
                <a:solidFill>
                  <a:srgbClr val="0F5B4C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Impact: </a:t>
            </a:r>
            <a:r>
              <a:rPr lang="en-US" sz="1125" dirty="0">
                <a:solidFill>
                  <a:srgbClr val="1F2937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Unlock ₹60k Cr/yr Rajasthan RE</a:t>
            </a:r>
            <a:endParaRPr lang="en-US" sz="1125" dirty="0"/>
          </a:p>
        </p:txBody>
      </p:sp>
      <p:sp>
        <p:nvSpPr>
          <p:cNvPr id="20" name="Text 18"/>
          <p:cNvSpPr/>
          <p:nvPr/>
        </p:nvSpPr>
        <p:spPr>
          <a:xfrm>
            <a:off x="12946381" y="3806190"/>
            <a:ext cx="2171700" cy="3733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125" b="1" dirty="0">
                <a:solidFill>
                  <a:srgbClr val="0F5B4C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Cost: </a:t>
            </a:r>
            <a:r>
              <a:rPr lang="en-US" sz="1125" dirty="0">
                <a:solidFill>
                  <a:srgbClr val="1F2937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₹45,000 Cr / 5 yrs (self-funded)</a:t>
            </a:r>
            <a:endParaRPr lang="en-US" sz="1125" dirty="0"/>
          </a:p>
        </p:txBody>
      </p:sp>
      <p:sp>
        <p:nvSpPr>
          <p:cNvPr id="21" name="Text 19"/>
          <p:cNvSpPr/>
          <p:nvPr/>
        </p:nvSpPr>
        <p:spPr>
          <a:xfrm>
            <a:off x="15213331" y="3806190"/>
            <a:ext cx="1981200" cy="3733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125" b="1" dirty="0">
                <a:solidFill>
                  <a:srgbClr val="0F5B4C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Owner: </a:t>
            </a:r>
            <a:r>
              <a:rPr lang="en-US" sz="1125" dirty="0">
                <a:solidFill>
                  <a:srgbClr val="1F2937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MoP / PowerGrid · Q2 FY26</a:t>
            </a:r>
            <a:endParaRPr lang="en-US" sz="1125" dirty="0"/>
          </a:p>
        </p:txBody>
      </p:sp>
      <p:sp>
        <p:nvSpPr>
          <p:cNvPr id="22" name="Shape 20"/>
          <p:cNvSpPr/>
          <p:nvPr/>
        </p:nvSpPr>
        <p:spPr>
          <a:xfrm>
            <a:off x="952500" y="4483418"/>
            <a:ext cx="16383000" cy="752475"/>
          </a:xfrm>
          <a:prstGeom prst="rect">
            <a:avLst/>
          </a:prstGeom>
          <a:ln w="7620">
            <a:solidFill>
              <a:srgbClr val="E5E7EB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169670" y="4739640"/>
            <a:ext cx="952500" cy="240030"/>
          </a:xfrm>
          <a:prstGeom prst="roundRect">
            <a:avLst>
              <a:gd name="adj" fmla="val 7937"/>
            </a:avLst>
          </a:prstGeom>
          <a:solidFill>
            <a:srgbClr val="FEF3C7"/>
          </a:solidFill>
          <a:ln/>
        </p:spPr>
      </p:sp>
      <p:sp>
        <p:nvSpPr>
          <p:cNvPr id="24" name="Text 22"/>
          <p:cNvSpPr/>
          <p:nvPr/>
        </p:nvSpPr>
        <p:spPr>
          <a:xfrm>
            <a:off x="1264920" y="4787265"/>
            <a:ext cx="838200" cy="1828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975" b="1" kern="0" spc="156" dirty="0">
                <a:solidFill>
                  <a:srgbClr val="92400E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P3 · MED</a:t>
            </a:r>
            <a:endParaRPr lang="en-US" sz="975" dirty="0"/>
          </a:p>
        </p:txBody>
      </p:sp>
      <p:sp>
        <p:nvSpPr>
          <p:cNvPr id="25" name="Text 23"/>
          <p:cNvSpPr/>
          <p:nvPr/>
        </p:nvSpPr>
        <p:spPr>
          <a:xfrm>
            <a:off x="2293620" y="4643438"/>
            <a:ext cx="8460791" cy="2743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575" b="1" dirty="0">
                <a:solidFill>
                  <a:srgbClr val="0F172A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Pigouvian carbon tax: ₹572/MWh on coal</a:t>
            </a:r>
            <a:endParaRPr lang="en-US" sz="1575" dirty="0"/>
          </a:p>
        </p:txBody>
      </p:sp>
      <p:sp>
        <p:nvSpPr>
          <p:cNvPr id="26" name="Text 24"/>
          <p:cNvSpPr/>
          <p:nvPr/>
        </p:nvSpPr>
        <p:spPr>
          <a:xfrm>
            <a:off x="2293620" y="4908232"/>
            <a:ext cx="8460791" cy="2057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125" dirty="0">
                <a:solidFill>
                  <a:srgbClr val="475569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Environment cess · revenue → Green Transition Fund</a:t>
            </a:r>
            <a:endParaRPr lang="en-US" sz="1125" dirty="0"/>
          </a:p>
        </p:txBody>
      </p:sp>
      <p:sp>
        <p:nvSpPr>
          <p:cNvPr id="27" name="Text 25"/>
          <p:cNvSpPr/>
          <p:nvPr/>
        </p:nvSpPr>
        <p:spPr>
          <a:xfrm>
            <a:off x="10679431" y="4692015"/>
            <a:ext cx="2171700" cy="3733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125" b="1" dirty="0">
                <a:solidFill>
                  <a:srgbClr val="0F5B4C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Impact: </a:t>
            </a:r>
            <a:r>
              <a:rPr lang="en-US" sz="1125" dirty="0">
                <a:solidFill>
                  <a:srgbClr val="1F2937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₹80k Cr/yr revenue · corrects mispricing</a:t>
            </a:r>
            <a:endParaRPr lang="en-US" sz="1125" dirty="0"/>
          </a:p>
        </p:txBody>
      </p:sp>
      <p:sp>
        <p:nvSpPr>
          <p:cNvPr id="28" name="Text 26"/>
          <p:cNvSpPr/>
          <p:nvPr/>
        </p:nvSpPr>
        <p:spPr>
          <a:xfrm>
            <a:off x="12946381" y="4775835"/>
            <a:ext cx="2171700" cy="2057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125" b="1" dirty="0">
                <a:solidFill>
                  <a:srgbClr val="0F5B4C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Cost: </a:t>
            </a:r>
            <a:r>
              <a:rPr lang="en-US" sz="1125" dirty="0">
                <a:solidFill>
                  <a:srgbClr val="1F2937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Revenue-positive Day 1</a:t>
            </a:r>
            <a:endParaRPr lang="en-US" sz="1125" dirty="0"/>
          </a:p>
        </p:txBody>
      </p:sp>
      <p:sp>
        <p:nvSpPr>
          <p:cNvPr id="29" name="Text 27"/>
          <p:cNvSpPr/>
          <p:nvPr/>
        </p:nvSpPr>
        <p:spPr>
          <a:xfrm>
            <a:off x="15213331" y="4692015"/>
            <a:ext cx="1981200" cy="3733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25" b="1" dirty="0">
                <a:solidFill>
                  <a:srgbClr val="0F5B4C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Owner: </a:t>
            </a:r>
            <a:r>
              <a:rPr lang="en-US" sz="1125" dirty="0">
                <a:solidFill>
                  <a:srgbClr val="1F2937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MoF · Budget 2026–27</a:t>
            </a:r>
            <a:endParaRPr lang="en-US" sz="1125" dirty="0"/>
          </a:p>
        </p:txBody>
      </p:sp>
      <p:sp>
        <p:nvSpPr>
          <p:cNvPr id="30" name="Shape 28"/>
          <p:cNvSpPr/>
          <p:nvPr/>
        </p:nvSpPr>
        <p:spPr>
          <a:xfrm>
            <a:off x="952500" y="5369243"/>
            <a:ext cx="16383000" cy="752475"/>
          </a:xfrm>
          <a:prstGeom prst="rect">
            <a:avLst/>
          </a:prstGeom>
          <a:ln w="7620">
            <a:solidFill>
              <a:srgbClr val="E5E7EB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1169670" y="5625465"/>
            <a:ext cx="952500" cy="240030"/>
          </a:xfrm>
          <a:prstGeom prst="roundRect">
            <a:avLst>
              <a:gd name="adj" fmla="val 7937"/>
            </a:avLst>
          </a:prstGeom>
          <a:solidFill>
            <a:srgbClr val="FEF3C7"/>
          </a:solidFill>
          <a:ln/>
        </p:spPr>
      </p:sp>
      <p:sp>
        <p:nvSpPr>
          <p:cNvPr id="32" name="Text 30"/>
          <p:cNvSpPr/>
          <p:nvPr/>
        </p:nvSpPr>
        <p:spPr>
          <a:xfrm>
            <a:off x="1264920" y="5673090"/>
            <a:ext cx="838200" cy="1828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975" b="1" kern="0" spc="156" dirty="0">
                <a:solidFill>
                  <a:srgbClr val="92400E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P4 · MED</a:t>
            </a:r>
            <a:endParaRPr lang="en-US" sz="975" dirty="0"/>
          </a:p>
        </p:txBody>
      </p:sp>
      <p:sp>
        <p:nvSpPr>
          <p:cNvPr id="33" name="Text 31"/>
          <p:cNvSpPr/>
          <p:nvPr/>
        </p:nvSpPr>
        <p:spPr>
          <a:xfrm>
            <a:off x="2293620" y="5529263"/>
            <a:ext cx="8460791" cy="2743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575" b="1" dirty="0">
                <a:solidFill>
                  <a:srgbClr val="0F172A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Accelerate solar to 400 GW by 2028</a:t>
            </a:r>
            <a:endParaRPr lang="en-US" sz="1575" dirty="0"/>
          </a:p>
        </p:txBody>
      </p:sp>
      <p:sp>
        <p:nvSpPr>
          <p:cNvPr id="34" name="Text 32"/>
          <p:cNvSpPr/>
          <p:nvPr/>
        </p:nvSpPr>
        <p:spPr>
          <a:xfrm>
            <a:off x="2293620" y="5794057"/>
            <a:ext cx="8460791" cy="2057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125" dirty="0">
                <a:solidFill>
                  <a:srgbClr val="475569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PM-KUSUM · Rooftop Solar 2.0 · PLI manufacturing</a:t>
            </a:r>
            <a:endParaRPr lang="en-US" sz="1125" dirty="0"/>
          </a:p>
        </p:txBody>
      </p:sp>
      <p:sp>
        <p:nvSpPr>
          <p:cNvPr id="35" name="Text 33"/>
          <p:cNvSpPr/>
          <p:nvPr/>
        </p:nvSpPr>
        <p:spPr>
          <a:xfrm>
            <a:off x="10679431" y="5661660"/>
            <a:ext cx="2171700" cy="2057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125" b="1" dirty="0">
                <a:solidFill>
                  <a:srgbClr val="0F5B4C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Impact: </a:t>
            </a:r>
            <a:r>
              <a:rPr lang="en-US" sz="1125" dirty="0">
                <a:solidFill>
                  <a:srgbClr val="1F2937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LCOE → ₹1.8/kWh</a:t>
            </a:r>
            <a:endParaRPr lang="en-US" sz="1125" dirty="0"/>
          </a:p>
        </p:txBody>
      </p:sp>
      <p:sp>
        <p:nvSpPr>
          <p:cNvPr id="36" name="Text 34"/>
          <p:cNvSpPr/>
          <p:nvPr/>
        </p:nvSpPr>
        <p:spPr>
          <a:xfrm>
            <a:off x="12946381" y="5577840"/>
            <a:ext cx="2171700" cy="3733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125" b="1" dirty="0">
                <a:solidFill>
                  <a:srgbClr val="0F5B4C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Cost: </a:t>
            </a:r>
            <a:r>
              <a:rPr lang="en-US" sz="1125" dirty="0">
                <a:solidFill>
                  <a:srgbClr val="1F2937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₹30k Cr → ₹80k Cr/yr LCOE savings</a:t>
            </a:r>
            <a:endParaRPr lang="en-US" sz="1125" dirty="0"/>
          </a:p>
        </p:txBody>
      </p:sp>
      <p:sp>
        <p:nvSpPr>
          <p:cNvPr id="37" name="Text 35"/>
          <p:cNvSpPr/>
          <p:nvPr/>
        </p:nvSpPr>
        <p:spPr>
          <a:xfrm>
            <a:off x="15213331" y="5661660"/>
            <a:ext cx="1981200" cy="2057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125" b="1" dirty="0">
                <a:solidFill>
                  <a:srgbClr val="0F5B4C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Owner: </a:t>
            </a:r>
            <a:r>
              <a:rPr lang="en-US" sz="1125" dirty="0">
                <a:solidFill>
                  <a:srgbClr val="1F2937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MNRE · NEP revision</a:t>
            </a:r>
            <a:endParaRPr lang="en-US" sz="1125" dirty="0"/>
          </a:p>
        </p:txBody>
      </p:sp>
      <p:sp>
        <p:nvSpPr>
          <p:cNvPr id="38" name="Shape 36"/>
          <p:cNvSpPr/>
          <p:nvPr/>
        </p:nvSpPr>
        <p:spPr>
          <a:xfrm>
            <a:off x="952500" y="6255068"/>
            <a:ext cx="16383000" cy="752475"/>
          </a:xfrm>
          <a:prstGeom prst="rect">
            <a:avLst/>
          </a:prstGeom>
          <a:ln w="7620">
            <a:solidFill>
              <a:srgbClr val="E5E7EB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1169670" y="6511290"/>
            <a:ext cx="952500" cy="240030"/>
          </a:xfrm>
          <a:prstGeom prst="roundRect">
            <a:avLst>
              <a:gd name="adj" fmla="val 7937"/>
            </a:avLst>
          </a:prstGeom>
          <a:solidFill>
            <a:srgbClr val="DCFCE7"/>
          </a:solidFill>
          <a:ln/>
        </p:spPr>
      </p:sp>
      <p:sp>
        <p:nvSpPr>
          <p:cNvPr id="40" name="Text 38"/>
          <p:cNvSpPr/>
          <p:nvPr/>
        </p:nvSpPr>
        <p:spPr>
          <a:xfrm>
            <a:off x="1264920" y="6558915"/>
            <a:ext cx="838200" cy="1828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975" b="1" kern="0" spc="156" dirty="0">
                <a:solidFill>
                  <a:srgbClr val="14532D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P5 · LOW</a:t>
            </a:r>
            <a:endParaRPr lang="en-US" sz="975" dirty="0"/>
          </a:p>
        </p:txBody>
      </p:sp>
      <p:sp>
        <p:nvSpPr>
          <p:cNvPr id="41" name="Text 39"/>
          <p:cNvSpPr/>
          <p:nvPr/>
        </p:nvSpPr>
        <p:spPr>
          <a:xfrm>
            <a:off x="2293620" y="6415088"/>
            <a:ext cx="8460791" cy="2743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575" b="1" dirty="0">
                <a:solidFill>
                  <a:srgbClr val="0F172A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Enforce EOQ coal inventory norms</a:t>
            </a:r>
            <a:endParaRPr lang="en-US" sz="1575" dirty="0"/>
          </a:p>
        </p:txBody>
      </p:sp>
      <p:sp>
        <p:nvSpPr>
          <p:cNvPr id="42" name="Text 40"/>
          <p:cNvSpPr/>
          <p:nvPr/>
        </p:nvSpPr>
        <p:spPr>
          <a:xfrm>
            <a:off x="2293620" y="6679882"/>
            <a:ext cx="8460791" cy="2057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125" dirty="0">
                <a:solidFill>
                  <a:srgbClr val="475569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NPP real-time ROP alerts · penalty under normative days</a:t>
            </a:r>
            <a:endParaRPr lang="en-US" sz="1125" dirty="0"/>
          </a:p>
        </p:txBody>
      </p:sp>
      <p:sp>
        <p:nvSpPr>
          <p:cNvPr id="43" name="Text 41"/>
          <p:cNvSpPr/>
          <p:nvPr/>
        </p:nvSpPr>
        <p:spPr>
          <a:xfrm>
            <a:off x="10679431" y="6463665"/>
            <a:ext cx="2171700" cy="3733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125" b="1" dirty="0">
                <a:solidFill>
                  <a:srgbClr val="0F5B4C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Impact: </a:t>
            </a:r>
            <a:r>
              <a:rPr lang="en-US" sz="1125" dirty="0">
                <a:solidFill>
                  <a:srgbClr val="1F2937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Prevents Oct'21 repeat (₹30k Cr/yr GDP loss)</a:t>
            </a:r>
            <a:endParaRPr lang="en-US" sz="1125" dirty="0"/>
          </a:p>
        </p:txBody>
      </p:sp>
      <p:sp>
        <p:nvSpPr>
          <p:cNvPr id="44" name="Text 42"/>
          <p:cNvSpPr/>
          <p:nvPr/>
        </p:nvSpPr>
        <p:spPr>
          <a:xfrm>
            <a:off x="12946381" y="6547485"/>
            <a:ext cx="2171700" cy="2057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125" b="1" dirty="0">
                <a:solidFill>
                  <a:srgbClr val="0F5B4C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Cost: </a:t>
            </a:r>
            <a:r>
              <a:rPr lang="en-US" sz="1125" dirty="0">
                <a:solidFill>
                  <a:srgbClr val="1F2937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₹500 Cr implementation</a:t>
            </a:r>
            <a:endParaRPr lang="en-US" sz="1125" dirty="0"/>
          </a:p>
        </p:txBody>
      </p:sp>
      <p:sp>
        <p:nvSpPr>
          <p:cNvPr id="45" name="Text 43"/>
          <p:cNvSpPr/>
          <p:nvPr/>
        </p:nvSpPr>
        <p:spPr>
          <a:xfrm>
            <a:off x="15213331" y="6463665"/>
            <a:ext cx="1981200" cy="3733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25" b="1" dirty="0">
                <a:solidFill>
                  <a:srgbClr val="0F5B4C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Owner: </a:t>
            </a:r>
            <a:r>
              <a:rPr lang="en-US" sz="1125" dirty="0">
                <a:solidFill>
                  <a:srgbClr val="1F2937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CEA / MoP · 6 months</a:t>
            </a:r>
            <a:endParaRPr lang="en-US" sz="1125" dirty="0"/>
          </a:p>
        </p:txBody>
      </p:sp>
      <p:sp>
        <p:nvSpPr>
          <p:cNvPr id="46" name="Shape 44"/>
          <p:cNvSpPr/>
          <p:nvPr/>
        </p:nvSpPr>
        <p:spPr>
          <a:xfrm>
            <a:off x="952500" y="9627870"/>
            <a:ext cx="16383000" cy="31623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7" name="Shape 45"/>
          <p:cNvSpPr/>
          <p:nvPr/>
        </p:nvSpPr>
        <p:spPr>
          <a:xfrm>
            <a:off x="952500" y="9627870"/>
            <a:ext cx="16383000" cy="9525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48" name="Text 46"/>
          <p:cNvSpPr/>
          <p:nvPr/>
        </p:nvSpPr>
        <p:spPr>
          <a:xfrm>
            <a:off x="952500" y="9772650"/>
            <a:ext cx="2388156" cy="2057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lnSpcReduction="10000"/>
          </a:bodyPr>
          <a:lstStyle/>
          <a:p>
            <a:pPr marL="0" indent="0" algn="l">
              <a:buNone/>
            </a:pPr>
            <a:r>
              <a:rPr lang="en-US" sz="1125" b="1" kern="0" spc="90" dirty="0">
                <a:solidFill>
                  <a:srgbClr val="0F5B4C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STRATEGY &amp; OPERATIONS</a:t>
            </a:r>
            <a:endParaRPr lang="en-US" sz="1125" dirty="0"/>
          </a:p>
        </p:txBody>
      </p:sp>
      <p:sp>
        <p:nvSpPr>
          <p:cNvPr id="49" name="Text 47"/>
          <p:cNvSpPr/>
          <p:nvPr/>
        </p:nvSpPr>
        <p:spPr>
          <a:xfrm>
            <a:off x="7457242" y="9768840"/>
            <a:ext cx="5376046" cy="2133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200" kern="0" spc="48" dirty="0">
                <a:solidFill>
                  <a:srgbClr val="94A3B8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Source: BESS CBA · Pigouvian model · Wright's law · authors' analysis</a:t>
            </a:r>
            <a:endParaRPr lang="en-US" sz="1200" dirty="0"/>
          </a:p>
        </p:txBody>
      </p:sp>
      <p:sp>
        <p:nvSpPr>
          <p:cNvPr id="50" name="Text 48"/>
          <p:cNvSpPr/>
          <p:nvPr/>
        </p:nvSpPr>
        <p:spPr>
          <a:xfrm>
            <a:off x="16869370" y="9768840"/>
            <a:ext cx="542330" cy="2133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475569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17 </a:t>
            </a:r>
            <a:r>
              <a:rPr lang="en-US" sz="1200" dirty="0">
                <a:solidFill>
                  <a:srgbClr val="94A3B8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/ 20</a:t>
            </a:r>
            <a:endParaRPr lang="en-US" sz="12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685800"/>
            <a:ext cx="16874490" cy="2362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350" b="1" kern="0" spc="216" dirty="0">
                <a:solidFill>
                  <a:srgbClr val="0F5B4C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SYNTHESIS TEN QUESTIONS, TEN ANSWERS</a:t>
            </a:r>
            <a:endParaRPr lang="en-US" sz="1350" dirty="0"/>
          </a:p>
        </p:txBody>
      </p:sp>
      <p:sp>
        <p:nvSpPr>
          <p:cNvPr id="3" name="Text 1"/>
          <p:cNvSpPr/>
          <p:nvPr/>
        </p:nvSpPr>
        <p:spPr>
          <a:xfrm>
            <a:off x="952500" y="1055370"/>
            <a:ext cx="14716125" cy="6553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4500" b="1" kern="0" spc="-90" dirty="0">
                <a:solidFill>
                  <a:srgbClr val="0F172A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The complete evidence chain</a:t>
            </a:r>
            <a:endParaRPr lang="en-US" sz="4500" dirty="0"/>
          </a:p>
        </p:txBody>
      </p:sp>
      <p:sp>
        <p:nvSpPr>
          <p:cNvPr id="4" name="Text 2"/>
          <p:cNvSpPr/>
          <p:nvPr/>
        </p:nvSpPr>
        <p:spPr>
          <a:xfrm>
            <a:off x="952500" y="1805940"/>
            <a:ext cx="14716125" cy="3724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950" dirty="0">
                <a:solidFill>
                  <a:srgbClr val="475569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Every conclusion is backed by at least one quantitative model on official Govt of India data.</a:t>
            </a:r>
            <a:endParaRPr lang="en-US" sz="1950" dirty="0"/>
          </a:p>
        </p:txBody>
      </p:sp>
      <p:sp>
        <p:nvSpPr>
          <p:cNvPr id="5" name="Shape 3"/>
          <p:cNvSpPr/>
          <p:nvPr/>
        </p:nvSpPr>
        <p:spPr>
          <a:xfrm>
            <a:off x="952500" y="2406967"/>
            <a:ext cx="609600" cy="38100"/>
          </a:xfrm>
          <a:prstGeom prst="roundRect">
            <a:avLst>
              <a:gd name="adj" fmla="val 50000"/>
            </a:avLst>
          </a:prstGeom>
          <a:solidFill>
            <a:srgbClr val="86BC25"/>
          </a:solidFill>
          <a:ln/>
        </p:spPr>
      </p:sp>
      <p:sp>
        <p:nvSpPr>
          <p:cNvPr id="6" name="Shape 4"/>
          <p:cNvSpPr/>
          <p:nvPr/>
        </p:nvSpPr>
        <p:spPr>
          <a:xfrm>
            <a:off x="952500" y="3849529"/>
            <a:ext cx="8039100" cy="9525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7" name="Text 5"/>
          <p:cNvSpPr/>
          <p:nvPr/>
        </p:nvSpPr>
        <p:spPr>
          <a:xfrm>
            <a:off x="952500" y="2787968"/>
            <a:ext cx="476250" cy="1981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050" b="1" kern="0" spc="168" dirty="0">
                <a:solidFill>
                  <a:srgbClr val="0F5B4C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Q01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1485900" y="2787968"/>
            <a:ext cx="6927371" cy="2362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350" dirty="0">
                <a:solidFill>
                  <a:srgbClr val="475569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Did renewables solve the capacity gap?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1485900" y="3005138"/>
            <a:ext cx="6927371" cy="2362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0F172A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Yes — 42% share, deficit &lt;1%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8344853" y="2787968"/>
            <a:ext cx="722948" cy="1828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975" dirty="0">
                <a:solidFill>
                  <a:srgbClr val="94A3B8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Wk 1 · CEA</a:t>
            </a:r>
            <a:endParaRPr lang="en-US" sz="975" dirty="0"/>
          </a:p>
        </p:txBody>
      </p:sp>
      <p:sp>
        <p:nvSpPr>
          <p:cNvPr id="11" name="Shape 9"/>
          <p:cNvSpPr/>
          <p:nvPr/>
        </p:nvSpPr>
        <p:spPr>
          <a:xfrm>
            <a:off x="9296400" y="3849529"/>
            <a:ext cx="8039100" cy="9525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12" name="Text 10"/>
          <p:cNvSpPr/>
          <p:nvPr/>
        </p:nvSpPr>
        <p:spPr>
          <a:xfrm>
            <a:off x="9296400" y="2787968"/>
            <a:ext cx="476250" cy="1981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050" b="1" kern="0" spc="168" dirty="0">
                <a:solidFill>
                  <a:srgbClr val="0F5B4C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Q02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9829800" y="2787968"/>
            <a:ext cx="6629737" cy="2362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350" dirty="0">
                <a:solidFill>
                  <a:srgbClr val="475569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Is solar available at 8 PM peak?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9829800" y="3005138"/>
            <a:ext cx="6629737" cy="2362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B91C1C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No — 0 GW, every single day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16399789" y="2787968"/>
            <a:ext cx="1011912" cy="1828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975" dirty="0">
                <a:solidFill>
                  <a:srgbClr val="94A3B8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Wk 2 · POSOCO</a:t>
            </a:r>
            <a:endParaRPr lang="en-US" sz="975" dirty="0"/>
          </a:p>
        </p:txBody>
      </p:sp>
      <p:sp>
        <p:nvSpPr>
          <p:cNvPr id="16" name="Shape 14"/>
          <p:cNvSpPr/>
          <p:nvPr/>
        </p:nvSpPr>
        <p:spPr>
          <a:xfrm>
            <a:off x="952500" y="5147429"/>
            <a:ext cx="8039100" cy="9525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17" name="Text 15"/>
          <p:cNvSpPr/>
          <p:nvPr/>
        </p:nvSpPr>
        <p:spPr>
          <a:xfrm>
            <a:off x="952500" y="4085749"/>
            <a:ext cx="476250" cy="1981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050" b="1" kern="0" spc="168" dirty="0">
                <a:solidFill>
                  <a:srgbClr val="0F5B4C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Q03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1485900" y="4085749"/>
            <a:ext cx="6615511" cy="2362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350" dirty="0">
                <a:solidFill>
                  <a:srgbClr val="475569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India's peak demand in 2030?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1485900" y="4302919"/>
            <a:ext cx="6615511" cy="2362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0F172A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295 GW — +3.5% CAGR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8042077" y="4085749"/>
            <a:ext cx="1025723" cy="1828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975" dirty="0">
                <a:solidFill>
                  <a:srgbClr val="94A3B8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Wk 3 · SARIMAX</a:t>
            </a:r>
            <a:endParaRPr lang="en-US" sz="975" dirty="0"/>
          </a:p>
        </p:txBody>
      </p:sp>
      <p:sp>
        <p:nvSpPr>
          <p:cNvPr id="21" name="Shape 19"/>
          <p:cNvSpPr/>
          <p:nvPr/>
        </p:nvSpPr>
        <p:spPr>
          <a:xfrm>
            <a:off x="9296400" y="5147429"/>
            <a:ext cx="8039100" cy="9525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22" name="Text 20"/>
          <p:cNvSpPr/>
          <p:nvPr/>
        </p:nvSpPr>
        <p:spPr>
          <a:xfrm>
            <a:off x="9296400" y="4085749"/>
            <a:ext cx="476250" cy="1981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050" b="1" kern="0" spc="168" dirty="0">
                <a:solidFill>
                  <a:srgbClr val="0F5B4C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Q04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9829800" y="4085749"/>
            <a:ext cx="7033572" cy="2362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350" dirty="0">
                <a:solidFill>
                  <a:srgbClr val="475569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Cheapest dispatch at 8 PM?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9829800" y="4302919"/>
            <a:ext cx="7033572" cy="2362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0F172A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200 GW coal · 70 GW with BESS</a:t>
            </a:r>
            <a:endParaRPr lang="en-US" sz="1350" dirty="0"/>
          </a:p>
        </p:txBody>
      </p:sp>
      <p:sp>
        <p:nvSpPr>
          <p:cNvPr id="25" name="Text 23"/>
          <p:cNvSpPr/>
          <p:nvPr/>
        </p:nvSpPr>
        <p:spPr>
          <a:xfrm>
            <a:off x="16791861" y="4085749"/>
            <a:ext cx="619839" cy="1828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975" dirty="0">
                <a:solidFill>
                  <a:srgbClr val="94A3B8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Wk 3 · LP</a:t>
            </a:r>
            <a:endParaRPr lang="en-US" sz="975" dirty="0"/>
          </a:p>
        </p:txBody>
      </p:sp>
      <p:sp>
        <p:nvSpPr>
          <p:cNvPr id="26" name="Shape 24"/>
          <p:cNvSpPr/>
          <p:nvPr/>
        </p:nvSpPr>
        <p:spPr>
          <a:xfrm>
            <a:off x="952500" y="6445330"/>
            <a:ext cx="8039100" cy="9525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27" name="Text 25"/>
          <p:cNvSpPr/>
          <p:nvPr/>
        </p:nvSpPr>
        <p:spPr>
          <a:xfrm>
            <a:off x="952500" y="5383649"/>
            <a:ext cx="476250" cy="1981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050" b="1" kern="0" spc="168" dirty="0">
                <a:solidFill>
                  <a:srgbClr val="0F5B4C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Q05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1485900" y="5383649"/>
            <a:ext cx="6906155" cy="2362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350" dirty="0">
                <a:solidFill>
                  <a:srgbClr val="475569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Was Oct 2021 a coal shortage?</a:t>
            </a:r>
            <a:endParaRPr lang="en-US" sz="1350" dirty="0"/>
          </a:p>
        </p:txBody>
      </p:sp>
      <p:sp>
        <p:nvSpPr>
          <p:cNvPr id="29" name="Text 27"/>
          <p:cNvSpPr/>
          <p:nvPr/>
        </p:nvSpPr>
        <p:spPr>
          <a:xfrm>
            <a:off x="1485900" y="5600819"/>
            <a:ext cx="6906155" cy="2362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B91C1C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No — EOQ supply chain failure</a:t>
            </a:r>
            <a:endParaRPr lang="en-US" sz="1350" dirty="0"/>
          </a:p>
        </p:txBody>
      </p:sp>
      <p:sp>
        <p:nvSpPr>
          <p:cNvPr id="30" name="Text 28"/>
          <p:cNvSpPr/>
          <p:nvPr/>
        </p:nvSpPr>
        <p:spPr>
          <a:xfrm>
            <a:off x="8324255" y="5383649"/>
            <a:ext cx="743545" cy="1828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975" dirty="0">
                <a:solidFill>
                  <a:srgbClr val="94A3B8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Wk 3 · EOQ</a:t>
            </a:r>
            <a:endParaRPr lang="en-US" sz="975" dirty="0"/>
          </a:p>
        </p:txBody>
      </p:sp>
      <p:sp>
        <p:nvSpPr>
          <p:cNvPr id="31" name="Shape 29"/>
          <p:cNvSpPr/>
          <p:nvPr/>
        </p:nvSpPr>
        <p:spPr>
          <a:xfrm>
            <a:off x="9296400" y="6445330"/>
            <a:ext cx="8039100" cy="9525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32" name="Text 30"/>
          <p:cNvSpPr/>
          <p:nvPr/>
        </p:nvSpPr>
        <p:spPr>
          <a:xfrm>
            <a:off x="9296400" y="5383649"/>
            <a:ext cx="476250" cy="1981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050" b="1" kern="0" spc="168" dirty="0">
                <a:solidFill>
                  <a:srgbClr val="0F5B4C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Q06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9829800" y="5383649"/>
            <a:ext cx="6679281" cy="2362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350" dirty="0">
                <a:solidFill>
                  <a:srgbClr val="475569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Do all states share the same problem?</a:t>
            </a:r>
            <a:endParaRPr lang="en-US" sz="1350" dirty="0"/>
          </a:p>
        </p:txBody>
      </p:sp>
      <p:sp>
        <p:nvSpPr>
          <p:cNvPr id="34" name="Text 32"/>
          <p:cNvSpPr/>
          <p:nvPr/>
        </p:nvSpPr>
        <p:spPr>
          <a:xfrm>
            <a:off x="9829800" y="5600819"/>
            <a:ext cx="6679281" cy="2362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0F172A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No — 4 distinct K-Means clusters</a:t>
            </a:r>
            <a:endParaRPr lang="en-US" sz="1350" dirty="0"/>
          </a:p>
        </p:txBody>
      </p:sp>
      <p:sp>
        <p:nvSpPr>
          <p:cNvPr id="35" name="Text 33"/>
          <p:cNvSpPr/>
          <p:nvPr/>
        </p:nvSpPr>
        <p:spPr>
          <a:xfrm>
            <a:off x="16447889" y="5383649"/>
            <a:ext cx="963811" cy="1828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975" dirty="0">
                <a:solidFill>
                  <a:srgbClr val="94A3B8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Wk 3 · K-Means</a:t>
            </a:r>
            <a:endParaRPr lang="en-US" sz="975" dirty="0"/>
          </a:p>
        </p:txBody>
      </p:sp>
      <p:sp>
        <p:nvSpPr>
          <p:cNvPr id="36" name="Shape 34"/>
          <p:cNvSpPr/>
          <p:nvPr/>
        </p:nvSpPr>
        <p:spPr>
          <a:xfrm>
            <a:off x="952500" y="7743230"/>
            <a:ext cx="8039100" cy="9525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37" name="Text 35"/>
          <p:cNvSpPr/>
          <p:nvPr/>
        </p:nvSpPr>
        <p:spPr>
          <a:xfrm>
            <a:off x="952500" y="6681550"/>
            <a:ext cx="476250" cy="1981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050" b="1" kern="0" spc="168" dirty="0">
                <a:solidFill>
                  <a:srgbClr val="0F5B4C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Q07</a:t>
            </a:r>
            <a:endParaRPr lang="en-US" sz="1050" dirty="0"/>
          </a:p>
        </p:txBody>
      </p:sp>
      <p:sp>
        <p:nvSpPr>
          <p:cNvPr id="38" name="Text 36"/>
          <p:cNvSpPr/>
          <p:nvPr/>
        </p:nvSpPr>
        <p:spPr>
          <a:xfrm>
            <a:off x="1485900" y="6681550"/>
            <a:ext cx="6927371" cy="2362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350" dirty="0">
                <a:solidFill>
                  <a:srgbClr val="475569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Is BESS investment justified?</a:t>
            </a:r>
            <a:endParaRPr lang="en-US" sz="1350" dirty="0"/>
          </a:p>
        </p:txBody>
      </p:sp>
      <p:sp>
        <p:nvSpPr>
          <p:cNvPr id="39" name="Text 37"/>
          <p:cNvSpPr/>
          <p:nvPr/>
        </p:nvSpPr>
        <p:spPr>
          <a:xfrm>
            <a:off x="1485900" y="6898720"/>
            <a:ext cx="6927371" cy="2362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0F5B4C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Yes — NPV +₹11,700 Cr</a:t>
            </a:r>
            <a:endParaRPr lang="en-US" sz="1350" dirty="0"/>
          </a:p>
        </p:txBody>
      </p:sp>
      <p:sp>
        <p:nvSpPr>
          <p:cNvPr id="40" name="Text 38"/>
          <p:cNvSpPr/>
          <p:nvPr/>
        </p:nvSpPr>
        <p:spPr>
          <a:xfrm>
            <a:off x="8344853" y="6681550"/>
            <a:ext cx="722948" cy="1828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975" dirty="0">
                <a:solidFill>
                  <a:srgbClr val="94A3B8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Wk 4 · CBA</a:t>
            </a:r>
            <a:endParaRPr lang="en-US" sz="975" dirty="0"/>
          </a:p>
        </p:txBody>
      </p:sp>
      <p:sp>
        <p:nvSpPr>
          <p:cNvPr id="41" name="Shape 39"/>
          <p:cNvSpPr/>
          <p:nvPr/>
        </p:nvSpPr>
        <p:spPr>
          <a:xfrm>
            <a:off x="9296400" y="7743230"/>
            <a:ext cx="8039100" cy="9525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42" name="Text 40"/>
          <p:cNvSpPr/>
          <p:nvPr/>
        </p:nvSpPr>
        <p:spPr>
          <a:xfrm>
            <a:off x="9296400" y="6681550"/>
            <a:ext cx="476250" cy="1981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050" b="1" kern="0" spc="168" dirty="0">
                <a:solidFill>
                  <a:srgbClr val="0F5B4C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Q08</a:t>
            </a:r>
            <a:endParaRPr lang="en-US" sz="1050" dirty="0"/>
          </a:p>
        </p:txBody>
      </p:sp>
      <p:sp>
        <p:nvSpPr>
          <p:cNvPr id="43" name="Text 41"/>
          <p:cNvSpPr/>
          <p:nvPr/>
        </p:nvSpPr>
        <p:spPr>
          <a:xfrm>
            <a:off x="9829800" y="6681550"/>
            <a:ext cx="6629492" cy="2362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350" dirty="0">
                <a:solidFill>
                  <a:srgbClr val="475569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Is coal priced correctly?</a:t>
            </a:r>
            <a:endParaRPr lang="en-US" sz="1350" dirty="0"/>
          </a:p>
        </p:txBody>
      </p:sp>
      <p:sp>
        <p:nvSpPr>
          <p:cNvPr id="44" name="Text 42"/>
          <p:cNvSpPr/>
          <p:nvPr/>
        </p:nvSpPr>
        <p:spPr>
          <a:xfrm>
            <a:off x="9829800" y="6898720"/>
            <a:ext cx="6629492" cy="2362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B91C1C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No — underpriced ₹572/MWh</a:t>
            </a:r>
            <a:endParaRPr lang="en-US" sz="1350" dirty="0"/>
          </a:p>
        </p:txBody>
      </p:sp>
      <p:sp>
        <p:nvSpPr>
          <p:cNvPr id="45" name="Text 43"/>
          <p:cNvSpPr/>
          <p:nvPr/>
        </p:nvSpPr>
        <p:spPr>
          <a:xfrm>
            <a:off x="16399550" y="6681550"/>
            <a:ext cx="1012150" cy="1828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975" dirty="0">
                <a:solidFill>
                  <a:srgbClr val="94A3B8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Wk 4 · Pigouvian</a:t>
            </a:r>
            <a:endParaRPr lang="en-US" sz="975" dirty="0"/>
          </a:p>
        </p:txBody>
      </p:sp>
      <p:sp>
        <p:nvSpPr>
          <p:cNvPr id="46" name="Shape 44"/>
          <p:cNvSpPr/>
          <p:nvPr/>
        </p:nvSpPr>
        <p:spPr>
          <a:xfrm>
            <a:off x="952500" y="9041130"/>
            <a:ext cx="8039100" cy="9525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47" name="Text 45"/>
          <p:cNvSpPr/>
          <p:nvPr/>
        </p:nvSpPr>
        <p:spPr>
          <a:xfrm>
            <a:off x="952500" y="7979450"/>
            <a:ext cx="476250" cy="1981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050" b="1" kern="0" spc="168" dirty="0">
                <a:solidFill>
                  <a:srgbClr val="0F5B4C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Q09</a:t>
            </a:r>
            <a:endParaRPr lang="en-US" sz="1050" dirty="0"/>
          </a:p>
        </p:txBody>
      </p:sp>
      <p:sp>
        <p:nvSpPr>
          <p:cNvPr id="48" name="Text 46"/>
          <p:cNvSpPr/>
          <p:nvPr/>
        </p:nvSpPr>
        <p:spPr>
          <a:xfrm>
            <a:off x="1485900" y="7979450"/>
            <a:ext cx="6823377" cy="2362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350" dirty="0">
                <a:solidFill>
                  <a:srgbClr val="475569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Solar LCOE at 400 GW?</a:t>
            </a:r>
            <a:endParaRPr lang="en-US" sz="1350" dirty="0"/>
          </a:p>
        </p:txBody>
      </p:sp>
      <p:sp>
        <p:nvSpPr>
          <p:cNvPr id="49" name="Text 47"/>
          <p:cNvSpPr/>
          <p:nvPr/>
        </p:nvSpPr>
        <p:spPr>
          <a:xfrm>
            <a:off x="1485900" y="8196620"/>
            <a:ext cx="6823377" cy="2362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0F5B4C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₹1.5/kWh — cheapest energy</a:t>
            </a:r>
            <a:endParaRPr lang="en-US" sz="1350" dirty="0"/>
          </a:p>
        </p:txBody>
      </p:sp>
      <p:sp>
        <p:nvSpPr>
          <p:cNvPr id="50" name="Text 48"/>
          <p:cNvSpPr/>
          <p:nvPr/>
        </p:nvSpPr>
        <p:spPr>
          <a:xfrm>
            <a:off x="8243888" y="7979450"/>
            <a:ext cx="823913" cy="1828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975" dirty="0">
                <a:solidFill>
                  <a:srgbClr val="94A3B8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Wk 4 · Wright</a:t>
            </a:r>
            <a:endParaRPr lang="en-US" sz="975" dirty="0"/>
          </a:p>
        </p:txBody>
      </p:sp>
      <p:sp>
        <p:nvSpPr>
          <p:cNvPr id="51" name="Shape 49"/>
          <p:cNvSpPr/>
          <p:nvPr/>
        </p:nvSpPr>
        <p:spPr>
          <a:xfrm>
            <a:off x="9296400" y="9041130"/>
            <a:ext cx="8039100" cy="9525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52" name="Text 50"/>
          <p:cNvSpPr/>
          <p:nvPr/>
        </p:nvSpPr>
        <p:spPr>
          <a:xfrm>
            <a:off x="9296400" y="7979450"/>
            <a:ext cx="476250" cy="1981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050" b="1" kern="0" spc="168" dirty="0">
                <a:solidFill>
                  <a:srgbClr val="0F5B4C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Q10</a:t>
            </a:r>
            <a:endParaRPr lang="en-US" sz="1050" dirty="0"/>
          </a:p>
        </p:txBody>
      </p:sp>
      <p:sp>
        <p:nvSpPr>
          <p:cNvPr id="53" name="Text 51"/>
          <p:cNvSpPr/>
          <p:nvPr/>
        </p:nvSpPr>
        <p:spPr>
          <a:xfrm>
            <a:off x="9829800" y="7979450"/>
            <a:ext cx="6537394" cy="2362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350" dirty="0">
                <a:solidFill>
                  <a:srgbClr val="475569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Does 500 GW solar end coal at peak?</a:t>
            </a:r>
            <a:endParaRPr lang="en-US" sz="1350" dirty="0"/>
          </a:p>
        </p:txBody>
      </p:sp>
      <p:sp>
        <p:nvSpPr>
          <p:cNvPr id="54" name="Text 52"/>
          <p:cNvSpPr/>
          <p:nvPr/>
        </p:nvSpPr>
        <p:spPr>
          <a:xfrm>
            <a:off x="9829800" y="8196620"/>
            <a:ext cx="6537394" cy="2362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B91C1C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No — coal 200 → 70 GW</a:t>
            </a:r>
            <a:endParaRPr lang="en-US" sz="1350" dirty="0"/>
          </a:p>
        </p:txBody>
      </p:sp>
      <p:sp>
        <p:nvSpPr>
          <p:cNvPr id="55" name="Text 53"/>
          <p:cNvSpPr/>
          <p:nvPr/>
        </p:nvSpPr>
        <p:spPr>
          <a:xfrm>
            <a:off x="16310134" y="7979450"/>
            <a:ext cx="1101566" cy="1828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975" dirty="0">
                <a:solidFill>
                  <a:srgbClr val="94A3B8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Wk 4 · Counter-LP</a:t>
            </a:r>
            <a:endParaRPr lang="en-US" sz="975" dirty="0"/>
          </a:p>
        </p:txBody>
      </p:sp>
      <p:sp>
        <p:nvSpPr>
          <p:cNvPr id="56" name="Shape 54"/>
          <p:cNvSpPr/>
          <p:nvPr/>
        </p:nvSpPr>
        <p:spPr>
          <a:xfrm>
            <a:off x="952500" y="9627870"/>
            <a:ext cx="16383000" cy="31623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7" name="Shape 55"/>
          <p:cNvSpPr/>
          <p:nvPr/>
        </p:nvSpPr>
        <p:spPr>
          <a:xfrm>
            <a:off x="952500" y="9627870"/>
            <a:ext cx="16383000" cy="9525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58" name="Text 56"/>
          <p:cNvSpPr/>
          <p:nvPr/>
        </p:nvSpPr>
        <p:spPr>
          <a:xfrm>
            <a:off x="952500" y="9772650"/>
            <a:ext cx="2388156" cy="2057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lnSpcReduction="10000"/>
          </a:bodyPr>
          <a:lstStyle/>
          <a:p>
            <a:pPr marL="0" indent="0" algn="l">
              <a:buNone/>
            </a:pPr>
            <a:r>
              <a:rPr lang="en-US" sz="1125" b="1" kern="0" spc="90" dirty="0">
                <a:solidFill>
                  <a:srgbClr val="0F5B4C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STRATEGY &amp; OPERATIONS</a:t>
            </a:r>
            <a:endParaRPr lang="en-US" sz="1125" dirty="0"/>
          </a:p>
        </p:txBody>
      </p:sp>
      <p:sp>
        <p:nvSpPr>
          <p:cNvPr id="59" name="Text 57"/>
          <p:cNvSpPr/>
          <p:nvPr/>
        </p:nvSpPr>
        <p:spPr>
          <a:xfrm>
            <a:off x="7620834" y="9768840"/>
            <a:ext cx="5039046" cy="2133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200" kern="0" spc="48" dirty="0">
                <a:solidFill>
                  <a:srgbClr val="94A3B8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Source: this engagement · all answers traceable to public datasets</a:t>
            </a:r>
            <a:endParaRPr lang="en-US" sz="1200" dirty="0"/>
          </a:p>
        </p:txBody>
      </p:sp>
      <p:sp>
        <p:nvSpPr>
          <p:cNvPr id="60" name="Text 58"/>
          <p:cNvSpPr/>
          <p:nvPr/>
        </p:nvSpPr>
        <p:spPr>
          <a:xfrm>
            <a:off x="16869370" y="9768840"/>
            <a:ext cx="542330" cy="2133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475569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18 </a:t>
            </a:r>
            <a:r>
              <a:rPr lang="en-US" sz="1200" dirty="0">
                <a:solidFill>
                  <a:srgbClr val="94A3B8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/ 20</a:t>
            </a:r>
            <a:endParaRPr lang="en-US" sz="12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685800"/>
            <a:ext cx="16874490" cy="2362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350" b="1" kern="0" spc="216" dirty="0">
                <a:solidFill>
                  <a:srgbClr val="0F5B4C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06 · RISK &amp; IMPLEMENTATION 3 × 3 RISK HEAT-MAP</a:t>
            </a:r>
            <a:endParaRPr lang="en-US" sz="1350" dirty="0"/>
          </a:p>
        </p:txBody>
      </p:sp>
      <p:sp>
        <p:nvSpPr>
          <p:cNvPr id="3" name="Text 1"/>
          <p:cNvSpPr/>
          <p:nvPr/>
        </p:nvSpPr>
        <p:spPr>
          <a:xfrm>
            <a:off x="952500" y="1055370"/>
            <a:ext cx="14716125" cy="12725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4500" b="1" kern="0" spc="-90" dirty="0">
                <a:solidFill>
                  <a:srgbClr val="0F172A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Seven risks ranked by probability × impact, with mitigations</a:t>
            </a:r>
            <a:endParaRPr lang="en-US" sz="4500" dirty="0"/>
          </a:p>
        </p:txBody>
      </p:sp>
      <p:sp>
        <p:nvSpPr>
          <p:cNvPr id="4" name="Text 2"/>
          <p:cNvSpPr/>
          <p:nvPr/>
        </p:nvSpPr>
        <p:spPr>
          <a:xfrm>
            <a:off x="952500" y="2423160"/>
            <a:ext cx="14716125" cy="3724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950" dirty="0">
                <a:solidFill>
                  <a:srgbClr val="475569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Each risk has a named mitigation, an owner, and a contractual lever.</a:t>
            </a:r>
            <a:endParaRPr lang="en-US" sz="1950" dirty="0"/>
          </a:p>
        </p:txBody>
      </p:sp>
      <p:sp>
        <p:nvSpPr>
          <p:cNvPr id="5" name="Shape 3"/>
          <p:cNvSpPr/>
          <p:nvPr/>
        </p:nvSpPr>
        <p:spPr>
          <a:xfrm>
            <a:off x="952500" y="3024188"/>
            <a:ext cx="609600" cy="38100"/>
          </a:xfrm>
          <a:prstGeom prst="roundRect">
            <a:avLst>
              <a:gd name="adj" fmla="val 50000"/>
            </a:avLst>
          </a:prstGeom>
          <a:solidFill>
            <a:srgbClr val="86BC25"/>
          </a:solidFill>
          <a:ln/>
        </p:spPr>
      </p:sp>
      <p:sp>
        <p:nvSpPr>
          <p:cNvPr id="6" name="Shape 4"/>
          <p:cNvSpPr/>
          <p:nvPr/>
        </p:nvSpPr>
        <p:spPr>
          <a:xfrm>
            <a:off x="952500" y="3328988"/>
            <a:ext cx="8244840" cy="5719763"/>
          </a:xfrm>
          <a:prstGeom prst="rect">
            <a:avLst/>
          </a:prstGeom>
          <a:ln w="7620">
            <a:solidFill>
              <a:srgbClr val="E5E7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226820" y="3546158"/>
            <a:ext cx="7927086" cy="1828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975" b="1" kern="0" spc="156" dirty="0">
                <a:solidFill>
                  <a:srgbClr val="475569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EXHIBIT 13</a:t>
            </a:r>
            <a:endParaRPr lang="en-US" sz="975" dirty="0"/>
          </a:p>
        </p:txBody>
      </p:sp>
      <p:sp>
        <p:nvSpPr>
          <p:cNvPr id="8" name="Text 6"/>
          <p:cNvSpPr/>
          <p:nvPr/>
        </p:nvSpPr>
        <p:spPr>
          <a:xfrm>
            <a:off x="1226820" y="3690937"/>
            <a:ext cx="7927086" cy="2743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575" b="1" dirty="0">
                <a:solidFill>
                  <a:srgbClr val="0F172A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Risk heat-map — 3 × 3</a:t>
            </a:r>
            <a:endParaRPr lang="en-US" sz="1575" dirty="0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26820" y="4003357"/>
            <a:ext cx="7696200" cy="4807267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9483090" y="3870008"/>
            <a:ext cx="7852291" cy="9525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11" name="Text 8"/>
          <p:cNvSpPr/>
          <p:nvPr/>
        </p:nvSpPr>
        <p:spPr>
          <a:xfrm>
            <a:off x="9616440" y="3424238"/>
            <a:ext cx="419100" cy="3886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b="1" dirty="0">
                <a:solidFill>
                  <a:srgbClr val="0F5B4C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1</a:t>
            </a:r>
            <a:endParaRPr lang="en-US" sz="1650" dirty="0"/>
          </a:p>
        </p:txBody>
      </p:sp>
      <p:sp>
        <p:nvSpPr>
          <p:cNvPr id="12" name="Text 9"/>
          <p:cNvSpPr/>
          <p:nvPr/>
        </p:nvSpPr>
        <p:spPr>
          <a:xfrm>
            <a:off x="10092690" y="3424238"/>
            <a:ext cx="7322621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275" b="1" dirty="0">
                <a:solidFill>
                  <a:srgbClr val="0F172A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BESS costs stay high</a:t>
            </a:r>
            <a:endParaRPr lang="en-US" sz="1275" dirty="0"/>
          </a:p>
        </p:txBody>
      </p:sp>
      <p:sp>
        <p:nvSpPr>
          <p:cNvPr id="13" name="Text 10"/>
          <p:cNvSpPr/>
          <p:nvPr/>
        </p:nvSpPr>
        <p:spPr>
          <a:xfrm>
            <a:off x="10092690" y="3614738"/>
            <a:ext cx="7322621" cy="1981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475569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VGF + import duty waiver + PLI for domestic mfg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9483090" y="4513898"/>
            <a:ext cx="7852291" cy="9525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15" name="Text 12"/>
          <p:cNvSpPr/>
          <p:nvPr/>
        </p:nvSpPr>
        <p:spPr>
          <a:xfrm>
            <a:off x="9616440" y="4068128"/>
            <a:ext cx="419100" cy="3886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b="1" dirty="0">
                <a:solidFill>
                  <a:srgbClr val="0F5B4C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2</a:t>
            </a:r>
            <a:endParaRPr lang="en-US" sz="1650" dirty="0"/>
          </a:p>
        </p:txBody>
      </p:sp>
      <p:sp>
        <p:nvSpPr>
          <p:cNvPr id="16" name="Text 13"/>
          <p:cNvSpPr/>
          <p:nvPr/>
        </p:nvSpPr>
        <p:spPr>
          <a:xfrm>
            <a:off x="10092690" y="4068128"/>
            <a:ext cx="7322621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275" b="1" dirty="0">
                <a:solidFill>
                  <a:srgbClr val="0F172A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Grid not upgraded in time</a:t>
            </a:r>
            <a:endParaRPr lang="en-US" sz="1275" dirty="0"/>
          </a:p>
        </p:txBody>
      </p:sp>
      <p:sp>
        <p:nvSpPr>
          <p:cNvPr id="17" name="Text 14"/>
          <p:cNvSpPr/>
          <p:nvPr/>
        </p:nvSpPr>
        <p:spPr>
          <a:xfrm>
            <a:off x="10092690" y="4258628"/>
            <a:ext cx="7322621" cy="1981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475569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PowerGrid mandate + tariff reform for transmission</a:t>
            </a:r>
            <a:endParaRPr lang="en-US" sz="1050" dirty="0"/>
          </a:p>
        </p:txBody>
      </p:sp>
      <p:sp>
        <p:nvSpPr>
          <p:cNvPr id="18" name="Shape 15"/>
          <p:cNvSpPr/>
          <p:nvPr/>
        </p:nvSpPr>
        <p:spPr>
          <a:xfrm>
            <a:off x="9483090" y="5157788"/>
            <a:ext cx="7852291" cy="9525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19" name="Text 16"/>
          <p:cNvSpPr/>
          <p:nvPr/>
        </p:nvSpPr>
        <p:spPr>
          <a:xfrm>
            <a:off x="9616440" y="4712018"/>
            <a:ext cx="419100" cy="3886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b="1" dirty="0">
                <a:solidFill>
                  <a:srgbClr val="0F5B4C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3</a:t>
            </a:r>
            <a:endParaRPr lang="en-US" sz="1650" dirty="0"/>
          </a:p>
        </p:txBody>
      </p:sp>
      <p:sp>
        <p:nvSpPr>
          <p:cNvPr id="20" name="Text 17"/>
          <p:cNvSpPr/>
          <p:nvPr/>
        </p:nvSpPr>
        <p:spPr>
          <a:xfrm>
            <a:off x="10092690" y="4712018"/>
            <a:ext cx="7322621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275" b="1" dirty="0">
                <a:solidFill>
                  <a:srgbClr val="0F172A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Demand grows faster than forecast</a:t>
            </a:r>
            <a:endParaRPr lang="en-US" sz="1275" dirty="0"/>
          </a:p>
        </p:txBody>
      </p:sp>
      <p:sp>
        <p:nvSpPr>
          <p:cNvPr id="21" name="Text 18"/>
          <p:cNvSpPr/>
          <p:nvPr/>
        </p:nvSpPr>
        <p:spPr>
          <a:xfrm>
            <a:off x="10092690" y="4902518"/>
            <a:ext cx="7322621" cy="1981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475569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Demand response + building efficiency mandates</a:t>
            </a:r>
            <a:endParaRPr lang="en-US" sz="1050" dirty="0"/>
          </a:p>
        </p:txBody>
      </p:sp>
      <p:sp>
        <p:nvSpPr>
          <p:cNvPr id="22" name="Shape 19"/>
          <p:cNvSpPr/>
          <p:nvPr/>
        </p:nvSpPr>
        <p:spPr>
          <a:xfrm>
            <a:off x="9483090" y="5801677"/>
            <a:ext cx="7852291" cy="9525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23" name="Text 20"/>
          <p:cNvSpPr/>
          <p:nvPr/>
        </p:nvSpPr>
        <p:spPr>
          <a:xfrm>
            <a:off x="9616440" y="5355907"/>
            <a:ext cx="419100" cy="3886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b="1" dirty="0">
                <a:solidFill>
                  <a:srgbClr val="0F5B4C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4</a:t>
            </a:r>
            <a:endParaRPr lang="en-US" sz="1650" dirty="0"/>
          </a:p>
        </p:txBody>
      </p:sp>
      <p:sp>
        <p:nvSpPr>
          <p:cNvPr id="24" name="Text 21"/>
          <p:cNvSpPr/>
          <p:nvPr/>
        </p:nvSpPr>
        <p:spPr>
          <a:xfrm>
            <a:off x="10092690" y="5355907"/>
            <a:ext cx="7322621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275" b="1" dirty="0">
                <a:solidFill>
                  <a:srgbClr val="0F172A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DISCOM resistance to BESS mandate</a:t>
            </a:r>
            <a:endParaRPr lang="en-US" sz="1275" dirty="0"/>
          </a:p>
        </p:txBody>
      </p:sp>
      <p:sp>
        <p:nvSpPr>
          <p:cNvPr id="25" name="Text 22"/>
          <p:cNvSpPr/>
          <p:nvPr/>
        </p:nvSpPr>
        <p:spPr>
          <a:xfrm>
            <a:off x="10092690" y="5546407"/>
            <a:ext cx="7322621" cy="1981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475569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Must-buy regulation + payment security mechanism</a:t>
            </a:r>
            <a:endParaRPr lang="en-US" sz="1050" dirty="0"/>
          </a:p>
        </p:txBody>
      </p:sp>
      <p:sp>
        <p:nvSpPr>
          <p:cNvPr id="26" name="Shape 23"/>
          <p:cNvSpPr/>
          <p:nvPr/>
        </p:nvSpPr>
        <p:spPr>
          <a:xfrm>
            <a:off x="9483090" y="6445568"/>
            <a:ext cx="7852291" cy="9525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27" name="Text 24"/>
          <p:cNvSpPr/>
          <p:nvPr/>
        </p:nvSpPr>
        <p:spPr>
          <a:xfrm>
            <a:off x="9616440" y="5999798"/>
            <a:ext cx="419100" cy="3886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b="1" dirty="0">
                <a:solidFill>
                  <a:srgbClr val="0F5B4C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5</a:t>
            </a:r>
            <a:endParaRPr lang="en-US" sz="1650" dirty="0"/>
          </a:p>
        </p:txBody>
      </p:sp>
      <p:sp>
        <p:nvSpPr>
          <p:cNvPr id="28" name="Text 25"/>
          <p:cNvSpPr/>
          <p:nvPr/>
        </p:nvSpPr>
        <p:spPr>
          <a:xfrm>
            <a:off x="10092690" y="5999798"/>
            <a:ext cx="7322621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275" b="1" dirty="0">
                <a:solidFill>
                  <a:srgbClr val="0F172A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Coal PLF collapses (financial)</a:t>
            </a:r>
            <a:endParaRPr lang="en-US" sz="1275" dirty="0"/>
          </a:p>
        </p:txBody>
      </p:sp>
      <p:sp>
        <p:nvSpPr>
          <p:cNvPr id="29" name="Text 26"/>
          <p:cNvSpPr/>
          <p:nvPr/>
        </p:nvSpPr>
        <p:spPr>
          <a:xfrm>
            <a:off x="10092690" y="6190298"/>
            <a:ext cx="7322621" cy="1981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475569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Minimum offtake guarantee during transition</a:t>
            </a:r>
            <a:endParaRPr lang="en-US" sz="1050" dirty="0"/>
          </a:p>
        </p:txBody>
      </p:sp>
      <p:sp>
        <p:nvSpPr>
          <p:cNvPr id="30" name="Shape 27"/>
          <p:cNvSpPr/>
          <p:nvPr/>
        </p:nvSpPr>
        <p:spPr>
          <a:xfrm>
            <a:off x="9483090" y="7089458"/>
            <a:ext cx="7852291" cy="9525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31" name="Text 28"/>
          <p:cNvSpPr/>
          <p:nvPr/>
        </p:nvSpPr>
        <p:spPr>
          <a:xfrm>
            <a:off x="9616440" y="6643688"/>
            <a:ext cx="419100" cy="3886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b="1" dirty="0">
                <a:solidFill>
                  <a:srgbClr val="0F5B4C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6</a:t>
            </a:r>
            <a:endParaRPr lang="en-US" sz="1650" dirty="0"/>
          </a:p>
        </p:txBody>
      </p:sp>
      <p:sp>
        <p:nvSpPr>
          <p:cNvPr id="32" name="Text 29"/>
          <p:cNvSpPr/>
          <p:nvPr/>
        </p:nvSpPr>
        <p:spPr>
          <a:xfrm>
            <a:off x="10092690" y="6643688"/>
            <a:ext cx="7322621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275" b="1" dirty="0">
                <a:solidFill>
                  <a:srgbClr val="0F172A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Policy reversal after elections</a:t>
            </a:r>
            <a:endParaRPr lang="en-US" sz="1275" dirty="0"/>
          </a:p>
        </p:txBody>
      </p:sp>
      <p:sp>
        <p:nvSpPr>
          <p:cNvPr id="33" name="Text 30"/>
          <p:cNvSpPr/>
          <p:nvPr/>
        </p:nvSpPr>
        <p:spPr>
          <a:xfrm>
            <a:off x="10092690" y="6834188"/>
            <a:ext cx="7322621" cy="1981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475569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Embed BESS targets in NEP as statutory requirements</a:t>
            </a:r>
            <a:endParaRPr lang="en-US" sz="1050" dirty="0"/>
          </a:p>
        </p:txBody>
      </p:sp>
      <p:sp>
        <p:nvSpPr>
          <p:cNvPr id="34" name="Shape 31"/>
          <p:cNvSpPr/>
          <p:nvPr/>
        </p:nvSpPr>
        <p:spPr>
          <a:xfrm>
            <a:off x="9483090" y="7192328"/>
            <a:ext cx="7852291" cy="541020"/>
          </a:xfrm>
          <a:prstGeom prst="rect">
            <a:avLst/>
          </a:prstGeom>
          <a:solidFill>
            <a:srgbClr val="F8FAF7"/>
          </a:solidFill>
          <a:ln/>
        </p:spPr>
      </p:sp>
      <p:sp>
        <p:nvSpPr>
          <p:cNvPr id="35" name="Text 32"/>
          <p:cNvSpPr/>
          <p:nvPr/>
        </p:nvSpPr>
        <p:spPr>
          <a:xfrm>
            <a:off x="9616440" y="7287578"/>
            <a:ext cx="419100" cy="3886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b="1" dirty="0">
                <a:solidFill>
                  <a:srgbClr val="6FA01D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7</a:t>
            </a:r>
            <a:endParaRPr lang="en-US" sz="1650" dirty="0"/>
          </a:p>
        </p:txBody>
      </p:sp>
      <p:sp>
        <p:nvSpPr>
          <p:cNvPr id="36" name="Text 33"/>
          <p:cNvSpPr/>
          <p:nvPr/>
        </p:nvSpPr>
        <p:spPr>
          <a:xfrm>
            <a:off x="10092690" y="7287578"/>
            <a:ext cx="7322621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275" b="1" dirty="0">
                <a:solidFill>
                  <a:srgbClr val="0F172A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Technology breakthrough (upside)</a:t>
            </a:r>
            <a:endParaRPr lang="en-US" sz="1275" dirty="0"/>
          </a:p>
        </p:txBody>
      </p:sp>
      <p:sp>
        <p:nvSpPr>
          <p:cNvPr id="37" name="Text 34"/>
          <p:cNvSpPr/>
          <p:nvPr/>
        </p:nvSpPr>
        <p:spPr>
          <a:xfrm>
            <a:off x="10092690" y="7478078"/>
            <a:ext cx="7322621" cy="1981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475569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Build flexibility clauses; avoid lock-in</a:t>
            </a:r>
            <a:endParaRPr lang="en-US" sz="1050" dirty="0"/>
          </a:p>
        </p:txBody>
      </p:sp>
      <p:sp>
        <p:nvSpPr>
          <p:cNvPr id="38" name="Shape 35"/>
          <p:cNvSpPr/>
          <p:nvPr/>
        </p:nvSpPr>
        <p:spPr>
          <a:xfrm>
            <a:off x="952500" y="9627870"/>
            <a:ext cx="16383000" cy="31623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9" name="Shape 36"/>
          <p:cNvSpPr/>
          <p:nvPr/>
        </p:nvSpPr>
        <p:spPr>
          <a:xfrm>
            <a:off x="952500" y="9627870"/>
            <a:ext cx="16383000" cy="9525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40" name="Text 37"/>
          <p:cNvSpPr/>
          <p:nvPr/>
        </p:nvSpPr>
        <p:spPr>
          <a:xfrm>
            <a:off x="952500" y="9772650"/>
            <a:ext cx="2388156" cy="2057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lnSpcReduction="10000"/>
          </a:bodyPr>
          <a:lstStyle/>
          <a:p>
            <a:pPr marL="0" indent="0" algn="l">
              <a:buNone/>
            </a:pPr>
            <a:r>
              <a:rPr lang="en-US" sz="1125" b="1" kern="0" spc="90" dirty="0">
                <a:solidFill>
                  <a:srgbClr val="0F5B4C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IIT Mandi</a:t>
            </a:r>
            <a:endParaRPr lang="en-US" sz="1125" dirty="0"/>
          </a:p>
        </p:txBody>
      </p:sp>
      <p:sp>
        <p:nvSpPr>
          <p:cNvPr id="41" name="Text 38"/>
          <p:cNvSpPr/>
          <p:nvPr/>
        </p:nvSpPr>
        <p:spPr>
          <a:xfrm>
            <a:off x="6869430" y="9768840"/>
            <a:ext cx="6586938" cy="2133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200" kern="0" spc="48" dirty="0">
                <a:solidFill>
                  <a:srgbClr val="94A3B8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Source: authors' risk register · cross-referenced with NITI Aayog energy risk framework</a:t>
            </a:r>
            <a:endParaRPr lang="en-US" sz="1200" dirty="0"/>
          </a:p>
        </p:txBody>
      </p:sp>
      <p:sp>
        <p:nvSpPr>
          <p:cNvPr id="42" name="Text 39"/>
          <p:cNvSpPr/>
          <p:nvPr/>
        </p:nvSpPr>
        <p:spPr>
          <a:xfrm>
            <a:off x="16869370" y="9768840"/>
            <a:ext cx="542330" cy="2133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475569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19 </a:t>
            </a:r>
            <a:r>
              <a:rPr lang="en-US" sz="1200" dirty="0">
                <a:solidFill>
                  <a:srgbClr val="94A3B8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/ 20</a:t>
            </a:r>
            <a:endParaRPr lang="en-US" sz="12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762000"/>
            <a:ext cx="16874490" cy="2362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350" b="1" kern="0" spc="216" dirty="0">
                <a:solidFill>
                  <a:srgbClr val="0F5B4C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FINAL THESIS 4 WEEKS · 9 DATASETS · 5 MODELS</a:t>
            </a:r>
            <a:endParaRPr lang="en-US" sz="1350" dirty="0"/>
          </a:p>
        </p:txBody>
      </p:sp>
      <p:sp>
        <p:nvSpPr>
          <p:cNvPr id="3" name="Text 1"/>
          <p:cNvSpPr/>
          <p:nvPr/>
        </p:nvSpPr>
        <p:spPr>
          <a:xfrm>
            <a:off x="952500" y="2568178"/>
            <a:ext cx="9499995" cy="419814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6300" b="1" kern="0" spc="-158" dirty="0">
                <a:solidFill>
                  <a:srgbClr val="0F172A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Renewables solved the </a:t>
            </a:r>
            <a:r>
              <a:rPr lang="en-US" sz="6300" b="1" kern="0" spc="-158" dirty="0">
                <a:solidFill>
                  <a:srgbClr val="0F5B4C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capacity gap. </a:t>
            </a:r>
            <a:r>
              <a:rPr lang="en-US" sz="6300" b="1" kern="0" spc="-158" dirty="0">
                <a:solidFill>
                  <a:srgbClr val="0F172A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Storage solves the </a:t>
            </a:r>
            <a:r>
              <a:rPr lang="en-US" sz="6300" b="1" kern="0" spc="-158" dirty="0">
                <a:solidFill>
                  <a:srgbClr val="0F5B4C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timing gap. </a:t>
            </a:r>
            <a:r>
              <a:rPr lang="en-US" sz="6300" b="1" kern="0" spc="-158" dirty="0">
                <a:solidFill>
                  <a:srgbClr val="1F2937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Policy makes it happen.</a:t>
            </a:r>
            <a:endParaRPr lang="en-US" sz="6300" dirty="0"/>
          </a:p>
        </p:txBody>
      </p:sp>
      <p:sp>
        <p:nvSpPr>
          <p:cNvPr id="4" name="Shape 2"/>
          <p:cNvSpPr/>
          <p:nvPr/>
        </p:nvSpPr>
        <p:spPr>
          <a:xfrm>
            <a:off x="952500" y="7071122"/>
            <a:ext cx="762000" cy="57150"/>
          </a:xfrm>
          <a:prstGeom prst="rect">
            <a:avLst/>
          </a:prstGeom>
          <a:solidFill>
            <a:srgbClr val="86BC25"/>
          </a:solidFill>
          <a:ln/>
        </p:spPr>
      </p:sp>
      <p:sp>
        <p:nvSpPr>
          <p:cNvPr id="5" name="Text 3"/>
          <p:cNvSpPr/>
          <p:nvPr/>
        </p:nvSpPr>
        <p:spPr>
          <a:xfrm>
            <a:off x="952500" y="7394972"/>
            <a:ext cx="8339137" cy="7010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800" dirty="0">
                <a:solidFill>
                  <a:srgbClr val="475569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Five models confirm: 300 GWh BESS + a ₹572/MWh Pigouvian tax + the LP build plan deliver </a:t>
            </a:r>
            <a:r>
              <a:rPr lang="en-US" sz="1800" b="1" dirty="0">
                <a:solidFill>
                  <a:srgbClr val="0F172A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coal at 8 PM falling from 200 GW today to 70 GW by 2030</a:t>
            </a:r>
            <a:r>
              <a:rPr lang="en-US" sz="1800" dirty="0">
                <a:solidFill>
                  <a:srgbClr val="475569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10747296" y="3508058"/>
            <a:ext cx="6588086" cy="2207895"/>
          </a:xfrm>
          <a:prstGeom prst="rect">
            <a:avLst/>
          </a:prstGeom>
          <a:solidFill>
            <a:srgbClr val="0F5B4C"/>
          </a:solidFill>
          <a:ln/>
        </p:spPr>
      </p:sp>
      <p:sp>
        <p:nvSpPr>
          <p:cNvPr id="7" name="Text 5"/>
          <p:cNvSpPr/>
          <p:nvPr/>
        </p:nvSpPr>
        <p:spPr>
          <a:xfrm>
            <a:off x="11013996" y="3736658"/>
            <a:ext cx="6236326" cy="1981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050" b="1" kern="0" spc="189" dirty="0">
                <a:solidFill>
                  <a:srgbClr val="86BC25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TOP 5 PRIORITY POLICIES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10985421" y="4030028"/>
            <a:ext cx="6159461" cy="1495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257175" indent="-257175" algn="l">
              <a:lnSpc>
                <a:spcPct val="170000"/>
              </a:lnSpc>
              <a:buSzPct val="100000"/>
              <a:buFont typeface="+mj-lt"/>
              <a:buAutoNum type="arabicPeriod"/>
              <a:tabLst>
                <a:tab pos="257175" algn="l"/>
              </a:tabLst>
            </a:pPr>
            <a:r>
              <a:rPr lang="en-US" sz="1350" dirty="0">
                <a:solidFill>
                  <a:srgbClr val="FFFFFF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300 GWh BESS mandate (NPV+)</a:t>
            </a:r>
            <a:endParaRPr lang="en-US" sz="1350" dirty="0"/>
          </a:p>
          <a:p>
            <a:pPr marL="257175" indent="-257175" algn="l">
              <a:lnSpc>
                <a:spcPct val="170000"/>
              </a:lnSpc>
              <a:buSzPct val="100000"/>
              <a:buFont typeface="+mj-lt"/>
              <a:buAutoNum type="arabicPeriod" startAt="2"/>
              <a:tabLst>
                <a:tab pos="257175" algn="l"/>
              </a:tabLst>
            </a:pPr>
            <a:r>
              <a:rPr lang="en-US" sz="1350" dirty="0">
                <a:solidFill>
                  <a:srgbClr val="FFFFFF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HVDC inter-state grid fast-track</a:t>
            </a:r>
            <a:endParaRPr lang="en-US" sz="1350" dirty="0"/>
          </a:p>
          <a:p>
            <a:pPr marL="257175" indent="-257175" algn="l">
              <a:lnSpc>
                <a:spcPct val="170000"/>
              </a:lnSpc>
              <a:buSzPct val="100000"/>
              <a:buFont typeface="+mj-lt"/>
              <a:buAutoNum type="arabicPeriod" startAt="3"/>
              <a:tabLst>
                <a:tab pos="257175" algn="l"/>
              </a:tabLst>
            </a:pPr>
            <a:r>
              <a:rPr lang="en-US" sz="1350" dirty="0">
                <a:solidFill>
                  <a:srgbClr val="FFFFFF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₹572/MWh carbon tax</a:t>
            </a:r>
            <a:endParaRPr lang="en-US" sz="1350" dirty="0"/>
          </a:p>
          <a:p>
            <a:pPr marL="257175" indent="-257175" algn="l">
              <a:lnSpc>
                <a:spcPct val="170000"/>
              </a:lnSpc>
              <a:buSzPct val="100000"/>
              <a:buFont typeface="+mj-lt"/>
              <a:buAutoNum type="arabicPeriod" startAt="4"/>
              <a:tabLst>
                <a:tab pos="257175" algn="l"/>
              </a:tabLst>
            </a:pPr>
            <a:r>
              <a:rPr lang="en-US" sz="1350" dirty="0">
                <a:solidFill>
                  <a:srgbClr val="FFFFFF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Accelerate to 400 GW solar</a:t>
            </a:r>
            <a:endParaRPr lang="en-US" sz="1350" dirty="0"/>
          </a:p>
          <a:p>
            <a:pPr marL="257175" indent="-257175" algn="l">
              <a:lnSpc>
                <a:spcPct val="170000"/>
              </a:lnSpc>
              <a:buSzPct val="100000"/>
              <a:buFont typeface="+mj-lt"/>
              <a:buAutoNum type="arabicPeriod" startAt="5"/>
              <a:tabLst>
                <a:tab pos="257175" algn="l"/>
              </a:tabLst>
            </a:pPr>
            <a:r>
              <a:rPr lang="en-US" sz="1350" dirty="0">
                <a:solidFill>
                  <a:srgbClr val="FFFFFF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Enforce EOQ coal norms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10747296" y="5849303"/>
            <a:ext cx="3246358" cy="586740"/>
          </a:xfrm>
          <a:prstGeom prst="rect">
            <a:avLst/>
          </a:prstGeom>
          <a:ln w="7620">
            <a:solidFill>
              <a:srgbClr val="E5E7E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907316" y="5971223"/>
            <a:ext cx="3014108" cy="1828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975" b="1" kern="0" spc="156" dirty="0">
                <a:solidFill>
                  <a:srgbClr val="475569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W1 · DATA</a:t>
            </a:r>
            <a:endParaRPr lang="en-US" sz="975" dirty="0"/>
          </a:p>
        </p:txBody>
      </p:sp>
      <p:sp>
        <p:nvSpPr>
          <p:cNvPr id="11" name="Text 9"/>
          <p:cNvSpPr/>
          <p:nvPr/>
        </p:nvSpPr>
        <p:spPr>
          <a:xfrm>
            <a:off x="10907316" y="6154103"/>
            <a:ext cx="3014108" cy="1981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1F2937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9 datasets · solar 37×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14088904" y="5849303"/>
            <a:ext cx="3246477" cy="586740"/>
          </a:xfrm>
          <a:prstGeom prst="rect">
            <a:avLst/>
          </a:prstGeom>
          <a:ln w="7620">
            <a:solidFill>
              <a:srgbClr val="E5E7E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4248924" y="5971223"/>
            <a:ext cx="3014230" cy="1828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975" b="1" kern="0" spc="156" dirty="0">
                <a:solidFill>
                  <a:srgbClr val="475569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W2 · DIAGNOSIS</a:t>
            </a:r>
            <a:endParaRPr lang="en-US" sz="975" dirty="0"/>
          </a:p>
        </p:txBody>
      </p:sp>
      <p:sp>
        <p:nvSpPr>
          <p:cNvPr id="14" name="Text 12"/>
          <p:cNvSpPr/>
          <p:nvPr/>
        </p:nvSpPr>
        <p:spPr>
          <a:xfrm>
            <a:off x="14248924" y="6154103"/>
            <a:ext cx="3014230" cy="1981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1F2937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3 mismatches · solar=0 @ 8pm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10747296" y="6531293"/>
            <a:ext cx="3246358" cy="586740"/>
          </a:xfrm>
          <a:prstGeom prst="rect">
            <a:avLst/>
          </a:prstGeom>
          <a:ln w="7620">
            <a:solidFill>
              <a:srgbClr val="E5E7E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907316" y="6653213"/>
            <a:ext cx="3014108" cy="1828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975" b="1" kern="0" spc="156" dirty="0">
                <a:solidFill>
                  <a:srgbClr val="475569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W3 · MODELS</a:t>
            </a:r>
            <a:endParaRPr lang="en-US" sz="975" dirty="0"/>
          </a:p>
        </p:txBody>
      </p:sp>
      <p:sp>
        <p:nvSpPr>
          <p:cNvPr id="17" name="Text 15"/>
          <p:cNvSpPr/>
          <p:nvPr/>
        </p:nvSpPr>
        <p:spPr>
          <a:xfrm>
            <a:off x="10907316" y="6836093"/>
            <a:ext cx="3014108" cy="1981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1F2937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SARIMAX · EOQ · LP · K-Means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14088904" y="6531293"/>
            <a:ext cx="3246477" cy="586740"/>
          </a:xfrm>
          <a:prstGeom prst="rect">
            <a:avLst/>
          </a:prstGeom>
          <a:ln w="7620">
            <a:solidFill>
              <a:srgbClr val="E5E7E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4248924" y="6653213"/>
            <a:ext cx="3014230" cy="1828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975" b="1" kern="0" spc="156" dirty="0">
                <a:solidFill>
                  <a:srgbClr val="475569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W4 · ECONOMICS</a:t>
            </a:r>
            <a:endParaRPr lang="en-US" sz="975" dirty="0"/>
          </a:p>
        </p:txBody>
      </p:sp>
      <p:sp>
        <p:nvSpPr>
          <p:cNvPr id="20" name="Text 18"/>
          <p:cNvSpPr/>
          <p:nvPr/>
        </p:nvSpPr>
        <p:spPr>
          <a:xfrm>
            <a:off x="14248924" y="6836093"/>
            <a:ext cx="3014230" cy="1981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1F2937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CBA · Pigou · Wright · LP plan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952500" y="9665970"/>
            <a:ext cx="16383000" cy="31623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2" name="Shape 20"/>
          <p:cNvSpPr/>
          <p:nvPr/>
        </p:nvSpPr>
        <p:spPr>
          <a:xfrm>
            <a:off x="952500" y="9665970"/>
            <a:ext cx="16383000" cy="9525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23" name="Text 21"/>
          <p:cNvSpPr/>
          <p:nvPr/>
        </p:nvSpPr>
        <p:spPr>
          <a:xfrm>
            <a:off x="952500" y="9810750"/>
            <a:ext cx="2388156" cy="2057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lnSpcReduction="10000"/>
          </a:bodyPr>
          <a:lstStyle/>
          <a:p>
            <a:pPr marL="0" indent="0" algn="l">
              <a:buNone/>
            </a:pPr>
            <a:r>
              <a:rPr lang="en-US" sz="1125" b="1" kern="0" spc="90" dirty="0">
                <a:solidFill>
                  <a:srgbClr val="0F5B4C"/>
                </a:solidFill>
                <a:latin typeface="-apple-system" pitchFamily="34" charset="0"/>
                <a:ea typeface="-apple-system" pitchFamily="34" charset="-122"/>
              </a:rPr>
              <a:t>IIT Mandi</a:t>
            </a:r>
            <a:endParaRPr lang="en-US" sz="1125" dirty="0"/>
          </a:p>
        </p:txBody>
      </p:sp>
      <p:sp>
        <p:nvSpPr>
          <p:cNvPr id="24" name="Text 22"/>
          <p:cNvSpPr/>
          <p:nvPr/>
        </p:nvSpPr>
        <p:spPr>
          <a:xfrm>
            <a:off x="7368897" y="9806940"/>
            <a:ext cx="5558035" cy="2133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200" kern="0" spc="48" dirty="0">
                <a:solidFill>
                  <a:srgbClr val="94A3B8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Source: India Data Portal (ISB/BMGF) · CEA · NPP · POSOCO · CICERO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16869370" y="9806940"/>
            <a:ext cx="542330" cy="2133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475569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20 </a:t>
            </a:r>
            <a:r>
              <a:rPr lang="en-US" sz="1200" dirty="0">
                <a:solidFill>
                  <a:srgbClr val="94A3B8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/ 20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54</TotalTime>
  <Words>3505</Words>
  <Application>Microsoft Office PowerPoint</Application>
  <PresentationFormat>Custom</PresentationFormat>
  <Paragraphs>593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4" baseType="lpstr">
      <vt:lpstr>-apple-system</vt:lpstr>
      <vt:lpstr>Arial</vt:lpstr>
      <vt:lpstr>Trebuchet MS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My Galaxy</cp:lastModifiedBy>
  <cp:revision>4</cp:revision>
  <dcterms:created xsi:type="dcterms:W3CDTF">2026-04-29T02:04:07Z</dcterms:created>
  <dcterms:modified xsi:type="dcterms:W3CDTF">2026-04-29T18:08:44Z</dcterms:modified>
</cp:coreProperties>
</file>
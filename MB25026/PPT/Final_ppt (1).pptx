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09600"/>
            <a:ext cx="323850" cy="32385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" name="Shape 1"/>
          <p:cNvSpPr/>
          <p:nvPr/>
        </p:nvSpPr>
        <p:spPr>
          <a:xfrm>
            <a:off x="962025" y="885825"/>
            <a:ext cx="114300" cy="1143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706755"/>
            <a:ext cx="207442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SCHOOL OF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390650"/>
            <a:ext cx="866264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 Energy ·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664970"/>
            <a:ext cx="7063740" cy="2678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950" b="1" spc="-124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Solving India's evening peak — </a:t>
            </a:r>
            <a:pPr algn="l" indent="0" marL="0">
              <a:lnSpc>
                <a:spcPct val="105000"/>
              </a:lnSpc>
              <a:buNone/>
            </a:pPr>
            <a:r>
              <a:rPr lang="en-US" sz="4950" b="1" spc="-12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renewables, storage and policy blueprint</a:t>
            </a:r>
            <a:endParaRPr lang="en-US" sz="4950" dirty="0"/>
          </a:p>
        </p:txBody>
      </p:sp>
      <p:sp>
        <p:nvSpPr>
          <p:cNvPr id="7" name="Shape 5"/>
          <p:cNvSpPr/>
          <p:nvPr/>
        </p:nvSpPr>
        <p:spPr>
          <a:xfrm>
            <a:off x="685800" y="4514850"/>
            <a:ext cx="609600" cy="4762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772025"/>
            <a:ext cx="62788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complete data-driven study using 9 official Govt of India datasets, 5 quantitative models (SARIMAX · EOQ · LP · K-Means · BESS), and 4 years of CEA/POSOCO records. Findings and recommended actions to 2030.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5715000"/>
            <a:ext cx="426958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8670" y="5760720"/>
            <a:ext cx="29741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1188958" y="5715000"/>
            <a:ext cx="665678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1828" y="5760720"/>
            <a:ext cx="53613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POSOCO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930837" y="5715000"/>
            <a:ext cx="727829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3707" y="5760720"/>
            <a:ext cx="5982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/ MoP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734866" y="5715000"/>
            <a:ext cx="989648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7736" y="5760720"/>
            <a:ext cx="8601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IDP (ISB/BMGF)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3800713" y="5715000"/>
            <a:ext cx="613291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3583" y="5760720"/>
            <a:ext cx="4837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CICERO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4490204" y="5715000"/>
            <a:ext cx="929640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3074" y="5760720"/>
            <a:ext cx="8001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 Data API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5496044" y="5715000"/>
            <a:ext cx="1347549" cy="20574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8914" y="5760720"/>
            <a:ext cx="121800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Datasets · 2001–2026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85800" y="9403080"/>
            <a:ext cx="45665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Operations Management &amp; Managerial Economics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Engagement · 4 Weeks · Sources: CEA · NPP · POSOCO · IDP (ISB/BMGF) · CICERO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26893" y="9403080"/>
            <a:ext cx="156924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April 2026 </a:t>
            </a:r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Document V1.0 · Confidential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1937" y="0"/>
            <a:ext cx="8505944" cy="102870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6" name="Shape 24"/>
          <p:cNvSpPr/>
          <p:nvPr/>
        </p:nvSpPr>
        <p:spPr>
          <a:xfrm>
            <a:off x="9781937" y="0"/>
            <a:ext cx="8505944" cy="4762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7" name="Text 25"/>
          <p:cNvSpPr/>
          <p:nvPr/>
        </p:nvSpPr>
        <p:spPr>
          <a:xfrm>
            <a:off x="10315337" y="3310414"/>
            <a:ext cx="766231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PROBLEM IN FOUR NUMBERS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10315337" y="3634264"/>
            <a:ext cx="3633788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315337" y="3775234"/>
            <a:ext cx="37428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241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500" dirty="0"/>
          </a:p>
        </p:txBody>
      </p:sp>
      <p:sp>
        <p:nvSpPr>
          <p:cNvPr id="30" name="Text 28"/>
          <p:cNvSpPr/>
          <p:nvPr/>
        </p:nvSpPr>
        <p:spPr>
          <a:xfrm>
            <a:off x="10315337" y="4403884"/>
            <a:ext cx="37428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 Peak Demand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4120574" y="3634264"/>
            <a:ext cx="3633907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4120574" y="3775234"/>
            <a:ext cx="374292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500" dirty="0"/>
          </a:p>
        </p:txBody>
      </p:sp>
      <p:sp>
        <p:nvSpPr>
          <p:cNvPr id="33" name="Text 31"/>
          <p:cNvSpPr/>
          <p:nvPr/>
        </p:nvSpPr>
        <p:spPr>
          <a:xfrm>
            <a:off x="14120574" y="4403884"/>
            <a:ext cx="37429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Installed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315337" y="4735354"/>
            <a:ext cx="3633788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315337" y="4876324"/>
            <a:ext cx="37428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>
                    <a:alpha val="5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4500" dirty="0"/>
          </a:p>
        </p:txBody>
      </p:sp>
      <p:sp>
        <p:nvSpPr>
          <p:cNvPr id="36" name="Text 34"/>
          <p:cNvSpPr/>
          <p:nvPr/>
        </p:nvSpPr>
        <p:spPr>
          <a:xfrm>
            <a:off x="10315337" y="5504974"/>
            <a:ext cx="374280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at the 8 PM Peak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4120574" y="4735354"/>
            <a:ext cx="3633907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4120574" y="4876324"/>
            <a:ext cx="374292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350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4500" dirty="0"/>
          </a:p>
        </p:txBody>
      </p:sp>
      <p:sp>
        <p:nvSpPr>
          <p:cNvPr id="39" name="Text 37"/>
          <p:cNvSpPr/>
          <p:nvPr/>
        </p:nvSpPr>
        <p:spPr>
          <a:xfrm>
            <a:off x="14120574" y="5504974"/>
            <a:ext cx="374292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Storage Gap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315337" y="5874544"/>
            <a:ext cx="22860" cy="214313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1" name="Text 39"/>
          <p:cNvSpPr/>
          <p:nvPr/>
        </p:nvSpPr>
        <p:spPr>
          <a:xfrm>
            <a:off x="10471547" y="5874544"/>
            <a:ext cx="750610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capacity gap is closed. The </a:t>
            </a:r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timing gap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FFFFFF">
                    <a:alpha val="8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remains — binding constraint on India's clean transition.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10315337" y="6336506"/>
            <a:ext cx="2428875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0410587" y="6412706"/>
            <a:ext cx="23145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2820412" y="6336506"/>
            <a:ext cx="2428875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915662" y="6412706"/>
            <a:ext cx="23145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325487" y="6336506"/>
            <a:ext cx="2428994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5420737" y="6412706"/>
            <a:ext cx="231469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Diagnosis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315337" y="6694647"/>
            <a:ext cx="2428875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0410587" y="6770847"/>
            <a:ext cx="23145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2820412" y="6694647"/>
            <a:ext cx="2428875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2915662" y="6770847"/>
            <a:ext cx="231457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Economics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5325487" y="6694647"/>
            <a:ext cx="2428994" cy="2819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5420737" y="6770847"/>
            <a:ext cx="231469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01 · THE PROBLEM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produces enough power —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at the right time, place, or season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29492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456849"/>
            <a:ext cx="9977914" cy="818245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1597819"/>
            <a:ext cx="990836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01 · POSOCO HOURLY LOAD · CEA DAILY RE GENERATION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1723549"/>
            <a:ext cx="990836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vs. demand — a typical day (% of peak)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975009"/>
            <a:ext cx="9619774" cy="70889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0570" y="9140190"/>
            <a:ext cx="164770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AM </a:t>
            </a:r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rising 40%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360176" y="9140190"/>
            <a:ext cx="164770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 PM </a:t>
            </a:r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peak 100%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969782" y="9140190"/>
            <a:ext cx="164770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PM </a:t>
            </a:r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Solar+Wind 80%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579388" y="9140190"/>
            <a:ext cx="164782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 PM </a:t>
            </a:r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drops 30%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7227213" y="9140190"/>
            <a:ext cx="1571506" cy="358140"/>
          </a:xfrm>
          <a:prstGeom prst="rect">
            <a:avLst/>
          </a:prstGeom>
          <a:solidFill>
            <a:srgbClr val="FFF5F5"/>
          </a:solidFill>
          <a:ln w="762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96733" y="9147810"/>
            <a:ext cx="163246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PM </a:t>
            </a:r>
            <a:pPr algn="ctr" indent="0" marL="0">
              <a:buNone/>
            </a:pPr>
            <a:r>
              <a:rPr lang="en-US" sz="825" dirty="0">
                <a:solidFill>
                  <a:srgbClr val="B91C1C"/>
                </a:solidFill>
                <a:highlight>
                  <a:srgbClr val="FFF5F5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ZERO Demand MAX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8798719" y="9140190"/>
            <a:ext cx="164770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PM </a:t>
            </a:r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Coal+Hydro carry all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10797064" y="3348633"/>
            <a:ext cx="688133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797064" y="1456849"/>
            <a:ext cx="6881336" cy="228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8" name="Shape 15"/>
          <p:cNvSpPr/>
          <p:nvPr/>
        </p:nvSpPr>
        <p:spPr>
          <a:xfrm>
            <a:off x="10797064" y="1456849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17670781" y="1456849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6134" y="1613059"/>
            <a:ext cx="2795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1274743" y="1613059"/>
            <a:ext cx="401934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Diurnal mismatch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274743" y="1826419"/>
            <a:ext cx="4019342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= 0 GW at 8 PM. Evening peak (241 GW) is entirely coal + hydro.</a:t>
            </a:r>
            <a:endParaRPr lang="en-US" sz="975" dirty="0"/>
          </a:p>
        </p:txBody>
      </p:sp>
      <p:sp>
        <p:nvSpPr>
          <p:cNvPr id="23" name="Shape 20"/>
          <p:cNvSpPr/>
          <p:nvPr/>
        </p:nvSpPr>
        <p:spPr>
          <a:xfrm>
            <a:off x="10797064" y="5343287"/>
            <a:ext cx="688133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1"/>
          <p:cNvSpPr/>
          <p:nvPr/>
        </p:nvSpPr>
        <p:spPr>
          <a:xfrm>
            <a:off x="10797064" y="3451503"/>
            <a:ext cx="6881336" cy="2286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5" name="Shape 22"/>
          <p:cNvSpPr/>
          <p:nvPr/>
        </p:nvSpPr>
        <p:spPr>
          <a:xfrm>
            <a:off x="10797064" y="3451503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3"/>
          <p:cNvSpPr/>
          <p:nvPr/>
        </p:nvSpPr>
        <p:spPr>
          <a:xfrm>
            <a:off x="17670781" y="3451503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10976134" y="3607713"/>
            <a:ext cx="2795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1274743" y="3607713"/>
            <a:ext cx="458799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Seasonal mismatch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74743" y="3821073"/>
            <a:ext cx="4587997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 peaks Jul–Sep (monsoon). Demand peaks Apr–Jun &amp; Oct. ~3-month offset.</a:t>
            </a:r>
            <a:endParaRPr lang="en-US" sz="975" dirty="0"/>
          </a:p>
        </p:txBody>
      </p:sp>
      <p:sp>
        <p:nvSpPr>
          <p:cNvPr id="30" name="Shape 27"/>
          <p:cNvSpPr/>
          <p:nvPr/>
        </p:nvSpPr>
        <p:spPr>
          <a:xfrm>
            <a:off x="10797064" y="7337941"/>
            <a:ext cx="688133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Shape 28"/>
          <p:cNvSpPr/>
          <p:nvPr/>
        </p:nvSpPr>
        <p:spPr>
          <a:xfrm>
            <a:off x="10797064" y="5446157"/>
            <a:ext cx="6881336" cy="228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97064" y="5446157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30"/>
          <p:cNvSpPr/>
          <p:nvPr/>
        </p:nvSpPr>
        <p:spPr>
          <a:xfrm>
            <a:off x="17670781" y="5446157"/>
            <a:ext cx="9525" cy="189940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1"/>
          <p:cNvSpPr/>
          <p:nvPr/>
        </p:nvSpPr>
        <p:spPr>
          <a:xfrm>
            <a:off x="10976134" y="5602367"/>
            <a:ext cx="2795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11274743" y="5602367"/>
            <a:ext cx="440257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Geographic mismatch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274743" y="5815727"/>
            <a:ext cx="4402574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Rajasthan: 28% solar capacity / 6% demand. UP: 4% capacity / 15% demand.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10797064" y="7440930"/>
            <a:ext cx="6881336" cy="168783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938034" y="7543800"/>
            <a:ext cx="67973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CUF BY SOURCE — WHY 150 GW SOLAR ≠ 150 GW COAL</a:t>
            </a:r>
            <a:endParaRPr lang="en-US" sz="825" dirty="0"/>
          </a:p>
        </p:txBody>
      </p:sp>
      <p:sp>
        <p:nvSpPr>
          <p:cNvPr id="39" name="Shape 36"/>
          <p:cNvSpPr/>
          <p:nvPr/>
        </p:nvSpPr>
        <p:spPr>
          <a:xfrm>
            <a:off x="10938034" y="7715250"/>
            <a:ext cx="2488644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40" name="Text 37"/>
          <p:cNvSpPr/>
          <p:nvPr/>
        </p:nvSpPr>
        <p:spPr>
          <a:xfrm>
            <a:off x="11023759" y="7772400"/>
            <a:ext cx="239339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</a:t>
            </a:r>
            <a:endParaRPr lang="en-US" sz="825" dirty="0"/>
          </a:p>
        </p:txBody>
      </p:sp>
      <p:sp>
        <p:nvSpPr>
          <p:cNvPr id="41" name="Shape 38"/>
          <p:cNvSpPr/>
          <p:nvPr/>
        </p:nvSpPr>
        <p:spPr>
          <a:xfrm>
            <a:off x="13426678" y="7715250"/>
            <a:ext cx="216872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42" name="Text 39"/>
          <p:cNvSpPr/>
          <p:nvPr/>
        </p:nvSpPr>
        <p:spPr>
          <a:xfrm>
            <a:off x="13436203" y="7772400"/>
            <a:ext cx="20734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Avg CUF</a:t>
            </a:r>
            <a:endParaRPr lang="en-US" sz="825" dirty="0"/>
          </a:p>
        </p:txBody>
      </p:sp>
      <p:sp>
        <p:nvSpPr>
          <p:cNvPr id="43" name="Shape 40"/>
          <p:cNvSpPr/>
          <p:nvPr/>
        </p:nvSpPr>
        <p:spPr>
          <a:xfrm>
            <a:off x="15595402" y="7715250"/>
            <a:ext cx="1942028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44" name="Text 41"/>
          <p:cNvSpPr/>
          <p:nvPr/>
        </p:nvSpPr>
        <p:spPr>
          <a:xfrm>
            <a:off x="15604927" y="7772400"/>
            <a:ext cx="18467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@ 8 PM</a:t>
            </a:r>
            <a:endParaRPr lang="en-US" sz="825" dirty="0"/>
          </a:p>
        </p:txBody>
      </p:sp>
      <p:sp>
        <p:nvSpPr>
          <p:cNvPr id="45" name="Shape 42"/>
          <p:cNvSpPr/>
          <p:nvPr/>
        </p:nvSpPr>
        <p:spPr>
          <a:xfrm>
            <a:off x="10938034" y="7943850"/>
            <a:ext cx="2488644" cy="2667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6" name="Shape 43"/>
          <p:cNvSpPr/>
          <p:nvPr/>
        </p:nvSpPr>
        <p:spPr>
          <a:xfrm>
            <a:off x="10938034" y="8202930"/>
            <a:ext cx="248864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4"/>
          <p:cNvSpPr/>
          <p:nvPr/>
        </p:nvSpPr>
        <p:spPr>
          <a:xfrm>
            <a:off x="11023759" y="7991475"/>
            <a:ext cx="2393394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☀ Solar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13426678" y="7943850"/>
            <a:ext cx="2168723" cy="2667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9" name="Shape 46"/>
          <p:cNvSpPr/>
          <p:nvPr/>
        </p:nvSpPr>
        <p:spPr>
          <a:xfrm>
            <a:off x="13426678" y="8202930"/>
            <a:ext cx="21687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7"/>
          <p:cNvSpPr/>
          <p:nvPr/>
        </p:nvSpPr>
        <p:spPr>
          <a:xfrm>
            <a:off x="13436203" y="7991475"/>
            <a:ext cx="2073473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20%</a:t>
            </a:r>
            <a:endParaRPr lang="en-US" sz="975" dirty="0"/>
          </a:p>
        </p:txBody>
      </p:sp>
      <p:sp>
        <p:nvSpPr>
          <p:cNvPr id="51" name="Shape 48"/>
          <p:cNvSpPr/>
          <p:nvPr/>
        </p:nvSpPr>
        <p:spPr>
          <a:xfrm>
            <a:off x="15595402" y="7943850"/>
            <a:ext cx="1942028" cy="2667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2" name="Shape 49"/>
          <p:cNvSpPr/>
          <p:nvPr/>
        </p:nvSpPr>
        <p:spPr>
          <a:xfrm>
            <a:off x="15595402" y="8202930"/>
            <a:ext cx="194202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0"/>
          <p:cNvSpPr/>
          <p:nvPr/>
        </p:nvSpPr>
        <p:spPr>
          <a:xfrm>
            <a:off x="15604927" y="7991475"/>
            <a:ext cx="1846778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0%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10938034" y="8473440"/>
            <a:ext cx="248864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2"/>
          <p:cNvSpPr/>
          <p:nvPr/>
        </p:nvSpPr>
        <p:spPr>
          <a:xfrm>
            <a:off x="11023759" y="8258175"/>
            <a:ext cx="239339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💨 Wind</a:t>
            </a: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13426678" y="8473440"/>
            <a:ext cx="21687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4"/>
          <p:cNvSpPr/>
          <p:nvPr/>
        </p:nvSpPr>
        <p:spPr>
          <a:xfrm>
            <a:off x="13436203" y="8258175"/>
            <a:ext cx="207347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15595402" y="8473440"/>
            <a:ext cx="194202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6"/>
          <p:cNvSpPr/>
          <p:nvPr/>
        </p:nvSpPr>
        <p:spPr>
          <a:xfrm>
            <a:off x="15604927" y="8258175"/>
            <a:ext cx="184677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25%</a:t>
            </a:r>
            <a:endParaRPr lang="en-US" sz="975" dirty="0"/>
          </a:p>
        </p:txBody>
      </p:sp>
      <p:sp>
        <p:nvSpPr>
          <p:cNvPr id="60" name="Shape 57"/>
          <p:cNvSpPr/>
          <p:nvPr/>
        </p:nvSpPr>
        <p:spPr>
          <a:xfrm>
            <a:off x="10938034" y="8481060"/>
            <a:ext cx="2488644" cy="2705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1" name="Shape 58"/>
          <p:cNvSpPr/>
          <p:nvPr/>
        </p:nvSpPr>
        <p:spPr>
          <a:xfrm>
            <a:off x="10938034" y="8743950"/>
            <a:ext cx="248864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59"/>
          <p:cNvSpPr/>
          <p:nvPr/>
        </p:nvSpPr>
        <p:spPr>
          <a:xfrm>
            <a:off x="11023759" y="8528685"/>
            <a:ext cx="239339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⚫ Coal</a:t>
            </a:r>
            <a:endParaRPr lang="en-US" sz="975" dirty="0"/>
          </a:p>
        </p:txBody>
      </p:sp>
      <p:sp>
        <p:nvSpPr>
          <p:cNvPr id="63" name="Shape 60"/>
          <p:cNvSpPr/>
          <p:nvPr/>
        </p:nvSpPr>
        <p:spPr>
          <a:xfrm>
            <a:off x="13426678" y="8481060"/>
            <a:ext cx="2168723" cy="2705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4" name="Shape 61"/>
          <p:cNvSpPr/>
          <p:nvPr/>
        </p:nvSpPr>
        <p:spPr>
          <a:xfrm>
            <a:off x="13426678" y="8743950"/>
            <a:ext cx="21687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2"/>
          <p:cNvSpPr/>
          <p:nvPr/>
        </p:nvSpPr>
        <p:spPr>
          <a:xfrm>
            <a:off x="13436203" y="8528685"/>
            <a:ext cx="207347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58%</a:t>
            </a:r>
            <a:endParaRPr lang="en-US" sz="975" dirty="0"/>
          </a:p>
        </p:txBody>
      </p:sp>
      <p:sp>
        <p:nvSpPr>
          <p:cNvPr id="66" name="Shape 63"/>
          <p:cNvSpPr/>
          <p:nvPr/>
        </p:nvSpPr>
        <p:spPr>
          <a:xfrm>
            <a:off x="15595402" y="8481060"/>
            <a:ext cx="1942028" cy="2705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7" name="Shape 64"/>
          <p:cNvSpPr/>
          <p:nvPr/>
        </p:nvSpPr>
        <p:spPr>
          <a:xfrm>
            <a:off x="15595402" y="8743950"/>
            <a:ext cx="194202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Text 65"/>
          <p:cNvSpPr/>
          <p:nvPr/>
        </p:nvSpPr>
        <p:spPr>
          <a:xfrm>
            <a:off x="15604927" y="8528685"/>
            <a:ext cx="184677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72%</a:t>
            </a:r>
            <a:endParaRPr lang="en-US" sz="975" dirty="0"/>
          </a:p>
        </p:txBody>
      </p:sp>
      <p:sp>
        <p:nvSpPr>
          <p:cNvPr id="69" name="Shape 66"/>
          <p:cNvSpPr/>
          <p:nvPr/>
        </p:nvSpPr>
        <p:spPr>
          <a:xfrm>
            <a:off x="10938034" y="9014460"/>
            <a:ext cx="248864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67"/>
          <p:cNvSpPr/>
          <p:nvPr/>
        </p:nvSpPr>
        <p:spPr>
          <a:xfrm>
            <a:off x="11023759" y="8799195"/>
            <a:ext cx="239339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⚛ Nuclear</a:t>
            </a:r>
            <a:endParaRPr lang="en-US" sz="975" dirty="0"/>
          </a:p>
        </p:txBody>
      </p:sp>
      <p:sp>
        <p:nvSpPr>
          <p:cNvPr id="71" name="Shape 68"/>
          <p:cNvSpPr/>
          <p:nvPr/>
        </p:nvSpPr>
        <p:spPr>
          <a:xfrm>
            <a:off x="13426678" y="9014460"/>
            <a:ext cx="21687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69"/>
          <p:cNvSpPr/>
          <p:nvPr/>
        </p:nvSpPr>
        <p:spPr>
          <a:xfrm>
            <a:off x="13436203" y="8799195"/>
            <a:ext cx="2073473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82%</a:t>
            </a:r>
            <a:endParaRPr lang="en-US" sz="975" dirty="0"/>
          </a:p>
        </p:txBody>
      </p:sp>
      <p:sp>
        <p:nvSpPr>
          <p:cNvPr id="73" name="Shape 70"/>
          <p:cNvSpPr/>
          <p:nvPr/>
        </p:nvSpPr>
        <p:spPr>
          <a:xfrm>
            <a:off x="15595402" y="9014460"/>
            <a:ext cx="194202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1"/>
          <p:cNvSpPr/>
          <p:nvPr/>
        </p:nvSpPr>
        <p:spPr>
          <a:xfrm>
            <a:off x="15604927" y="8799195"/>
            <a:ext cx="184677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82%</a:t>
            </a:r>
            <a:endParaRPr lang="en-US" sz="975" dirty="0"/>
          </a:p>
        </p:txBody>
      </p:sp>
      <p:sp>
        <p:nvSpPr>
          <p:cNvPr id="75" name="Shape 72"/>
          <p:cNvSpPr/>
          <p:nvPr/>
        </p:nvSpPr>
        <p:spPr>
          <a:xfrm>
            <a:off x="10797064" y="9224010"/>
            <a:ext cx="6881336" cy="41529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76" name="Shape 73"/>
          <p:cNvSpPr/>
          <p:nvPr/>
        </p:nvSpPr>
        <p:spPr>
          <a:xfrm>
            <a:off x="10797064" y="9224010"/>
            <a:ext cx="38100" cy="41529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7" name="Text 74"/>
          <p:cNvSpPr/>
          <p:nvPr/>
        </p:nvSpPr>
        <p:spPr>
          <a:xfrm>
            <a:off x="10987564" y="9357360"/>
            <a:ext cx="5715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THESIS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11597164" y="9338310"/>
            <a:ext cx="3813193" cy="22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More panels don't fix 8 PM. Storage + grid + carbon pricing do.</a:t>
            </a:r>
            <a:endParaRPr lang="en-US" sz="1050" dirty="0"/>
          </a:p>
        </p:txBody>
      </p:sp>
      <p:sp>
        <p:nvSpPr>
          <p:cNvPr id="79" name="Shape 76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Text 77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7231380" y="9986010"/>
            <a:ext cx="5108580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POSOCO hourly load curves · CEA daily RE generation 2019–25 · NPP installed capacity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02–03 · DATA &amp; DIAGNOSIS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official Govt datasets · Solar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37× in 10 years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Deficit now &lt;1%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29492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456849"/>
            <a:ext cx="10259259" cy="818245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1578769"/>
            <a:ext cx="10198152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02 · CEA/CICERO CAPACITY SERIES 2015–2026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1704499"/>
            <a:ext cx="1019815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installed capacity by source (GW, stacked)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955959"/>
            <a:ext cx="9901119" cy="756142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059359" y="1456849"/>
            <a:ext cx="3261836" cy="814388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238429" y="1597819"/>
            <a:ext cx="29908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37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1238429" y="1969294"/>
            <a:ext cx="2990807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growth 2015→26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14416444" y="1456849"/>
            <a:ext cx="3261836" cy="814388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595515" y="1597819"/>
            <a:ext cx="29908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42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4595515" y="1969294"/>
            <a:ext cx="2990807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 cap share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11059359" y="2366486"/>
            <a:ext cx="3261836" cy="82962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238429" y="2507456"/>
            <a:ext cx="29908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&lt;1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1238429" y="2878931"/>
            <a:ext cx="2990807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deficit 2024–25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14416444" y="3188494"/>
            <a:ext cx="326183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6"/>
          <p:cNvSpPr/>
          <p:nvPr/>
        </p:nvSpPr>
        <p:spPr>
          <a:xfrm>
            <a:off x="14416444" y="2366486"/>
            <a:ext cx="3261836" cy="228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0" name="Shape 17"/>
          <p:cNvSpPr/>
          <p:nvPr/>
        </p:nvSpPr>
        <p:spPr>
          <a:xfrm>
            <a:off x="14416444" y="2366486"/>
            <a:ext cx="9525" cy="82962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8"/>
          <p:cNvSpPr/>
          <p:nvPr/>
        </p:nvSpPr>
        <p:spPr>
          <a:xfrm>
            <a:off x="17670661" y="2366486"/>
            <a:ext cx="9525" cy="82962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/>
          <p:nvPr/>
        </p:nvSpPr>
        <p:spPr>
          <a:xfrm>
            <a:off x="14595515" y="2522696"/>
            <a:ext cx="29908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14595515" y="2894171"/>
            <a:ext cx="2990807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Official datasets</a:t>
            </a:r>
            <a:endParaRPr lang="en-US" sz="975" dirty="0"/>
          </a:p>
        </p:txBody>
      </p:sp>
      <p:sp>
        <p:nvSpPr>
          <p:cNvPr id="24" name="Shape 21"/>
          <p:cNvSpPr/>
          <p:nvPr/>
        </p:nvSpPr>
        <p:spPr>
          <a:xfrm>
            <a:off x="11059359" y="3291364"/>
            <a:ext cx="6618923" cy="5850731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066979" y="3298984"/>
            <a:ext cx="6603682" cy="2743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3"/>
          <p:cNvSpPr/>
          <p:nvPr/>
        </p:nvSpPr>
        <p:spPr>
          <a:xfrm>
            <a:off x="11066979" y="3565684"/>
            <a:ext cx="660368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4"/>
          <p:cNvSpPr/>
          <p:nvPr/>
        </p:nvSpPr>
        <p:spPr>
          <a:xfrm>
            <a:off x="11181279" y="3375184"/>
            <a:ext cx="65731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OFFICIAL DATASETS — ALL VIA IDP CKAN OPEN API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1066979" y="3573304"/>
            <a:ext cx="2789396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9" name="Text 26"/>
          <p:cNvSpPr/>
          <p:nvPr/>
        </p:nvSpPr>
        <p:spPr>
          <a:xfrm>
            <a:off x="11152704" y="3630454"/>
            <a:ext cx="27016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Dataset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13856375" y="3573304"/>
            <a:ext cx="269581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1" name="Text 28"/>
          <p:cNvSpPr/>
          <p:nvPr/>
        </p:nvSpPr>
        <p:spPr>
          <a:xfrm>
            <a:off x="13942100" y="3630454"/>
            <a:ext cx="26052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Agency</a:t>
            </a:r>
            <a:endParaRPr lang="en-US" sz="825" dirty="0"/>
          </a:p>
        </p:txBody>
      </p:sp>
      <p:sp>
        <p:nvSpPr>
          <p:cNvPr id="32" name="Shape 29"/>
          <p:cNvSpPr/>
          <p:nvPr/>
        </p:nvSpPr>
        <p:spPr>
          <a:xfrm>
            <a:off x="16552189" y="3573304"/>
            <a:ext cx="111847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3" name="Text 30"/>
          <p:cNvSpPr/>
          <p:nvPr/>
        </p:nvSpPr>
        <p:spPr>
          <a:xfrm>
            <a:off x="16637914" y="3630454"/>
            <a:ext cx="102322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Period</a:t>
            </a:r>
            <a:endParaRPr lang="en-US" sz="825" dirty="0"/>
          </a:p>
        </p:txBody>
      </p:sp>
      <p:sp>
        <p:nvSpPr>
          <p:cNvPr id="34" name="Shape 31"/>
          <p:cNvSpPr/>
          <p:nvPr/>
        </p:nvSpPr>
        <p:spPr>
          <a:xfrm>
            <a:off x="11066979" y="3801904"/>
            <a:ext cx="2789396" cy="2286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5" name="Shape 32"/>
          <p:cNvSpPr/>
          <p:nvPr/>
        </p:nvSpPr>
        <p:spPr>
          <a:xfrm>
            <a:off x="11066979" y="402288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3"/>
          <p:cNvSpPr/>
          <p:nvPr/>
        </p:nvSpPr>
        <p:spPr>
          <a:xfrm>
            <a:off x="11152704" y="3849529"/>
            <a:ext cx="2701628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Power Generation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13856375" y="3801904"/>
            <a:ext cx="2695813" cy="2286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8" name="Shape 35"/>
          <p:cNvSpPr/>
          <p:nvPr/>
        </p:nvSpPr>
        <p:spPr>
          <a:xfrm>
            <a:off x="13856375" y="402288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6"/>
          <p:cNvSpPr/>
          <p:nvPr/>
        </p:nvSpPr>
        <p:spPr>
          <a:xfrm>
            <a:off x="13942100" y="3849529"/>
            <a:ext cx="2605237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NPP/CEA · IDP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6552189" y="3801904"/>
            <a:ext cx="1118473" cy="22860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1" name="Shape 38"/>
          <p:cNvSpPr/>
          <p:nvPr/>
        </p:nvSpPr>
        <p:spPr>
          <a:xfrm>
            <a:off x="16552189" y="402288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9"/>
          <p:cNvSpPr/>
          <p:nvPr/>
        </p:nvSpPr>
        <p:spPr>
          <a:xfrm>
            <a:off x="16637914" y="3849529"/>
            <a:ext cx="1023223" cy="16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2017–25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1066979" y="425529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1"/>
          <p:cNvSpPr/>
          <p:nvPr/>
        </p:nvSpPr>
        <p:spPr>
          <a:xfrm>
            <a:off x="11152704" y="407812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Req &amp; Availability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3856375" y="425529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3"/>
          <p:cNvSpPr/>
          <p:nvPr/>
        </p:nvSpPr>
        <p:spPr>
          <a:xfrm>
            <a:off x="13942100" y="407812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· IDP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6552189" y="425529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5"/>
          <p:cNvSpPr/>
          <p:nvPr/>
        </p:nvSpPr>
        <p:spPr>
          <a:xfrm>
            <a:off x="16637914" y="407812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2001–24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11066979" y="4262914"/>
            <a:ext cx="2789396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0" name="Shape 47"/>
          <p:cNvSpPr/>
          <p:nvPr/>
        </p:nvSpPr>
        <p:spPr>
          <a:xfrm>
            <a:off x="11066979" y="448770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1" name="Text 48"/>
          <p:cNvSpPr/>
          <p:nvPr/>
        </p:nvSpPr>
        <p:spPr>
          <a:xfrm>
            <a:off x="11152704" y="431053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Installed Capacity (State)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13856375" y="4262914"/>
            <a:ext cx="269581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3" name="Shape 50"/>
          <p:cNvSpPr/>
          <p:nvPr/>
        </p:nvSpPr>
        <p:spPr>
          <a:xfrm>
            <a:off x="13856375" y="448770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51"/>
          <p:cNvSpPr/>
          <p:nvPr/>
        </p:nvSpPr>
        <p:spPr>
          <a:xfrm>
            <a:off x="13942100" y="431053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NPP/CEA · IDP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6552189" y="4262914"/>
            <a:ext cx="111847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6" name="Shape 53"/>
          <p:cNvSpPr/>
          <p:nvPr/>
        </p:nvSpPr>
        <p:spPr>
          <a:xfrm>
            <a:off x="16552189" y="448770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4"/>
          <p:cNvSpPr/>
          <p:nvPr/>
        </p:nvSpPr>
        <p:spPr>
          <a:xfrm>
            <a:off x="16637914" y="431053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2014–25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11066979" y="472011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6"/>
          <p:cNvSpPr/>
          <p:nvPr/>
        </p:nvSpPr>
        <p:spPr>
          <a:xfrm>
            <a:off x="11152704" y="454294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Coal Stocks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3856375" y="472011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8"/>
          <p:cNvSpPr/>
          <p:nvPr/>
        </p:nvSpPr>
        <p:spPr>
          <a:xfrm>
            <a:off x="13942100" y="454294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NPP/MoP · IDP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16552189" y="472011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Text 60"/>
          <p:cNvSpPr/>
          <p:nvPr/>
        </p:nvSpPr>
        <p:spPr>
          <a:xfrm>
            <a:off x="16637914" y="454294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2014–25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11066979" y="4727734"/>
            <a:ext cx="2789396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5" name="Shape 62"/>
          <p:cNvSpPr/>
          <p:nvPr/>
        </p:nvSpPr>
        <p:spPr>
          <a:xfrm>
            <a:off x="11066979" y="495252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6" name="Text 63"/>
          <p:cNvSpPr/>
          <p:nvPr/>
        </p:nvSpPr>
        <p:spPr>
          <a:xfrm>
            <a:off x="11152704" y="477535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Power Outages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13856375" y="4727734"/>
            <a:ext cx="269581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8" name="Shape 65"/>
          <p:cNvSpPr/>
          <p:nvPr/>
        </p:nvSpPr>
        <p:spPr>
          <a:xfrm>
            <a:off x="13856375" y="495252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Text 66"/>
          <p:cNvSpPr/>
          <p:nvPr/>
        </p:nvSpPr>
        <p:spPr>
          <a:xfrm>
            <a:off x="13942100" y="477535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NPP/MoP · IDP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16552189" y="4727734"/>
            <a:ext cx="111847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1" name="Shape 68"/>
          <p:cNvSpPr/>
          <p:nvPr/>
        </p:nvSpPr>
        <p:spPr>
          <a:xfrm>
            <a:off x="16552189" y="495252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69"/>
          <p:cNvSpPr/>
          <p:nvPr/>
        </p:nvSpPr>
        <p:spPr>
          <a:xfrm>
            <a:off x="16637914" y="477535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2014–25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11066979" y="518493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1"/>
          <p:cNvSpPr/>
          <p:nvPr/>
        </p:nvSpPr>
        <p:spPr>
          <a:xfrm>
            <a:off x="11152704" y="500776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Daily RE Generation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13856375" y="518493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6" name="Text 73"/>
          <p:cNvSpPr/>
          <p:nvPr/>
        </p:nvSpPr>
        <p:spPr>
          <a:xfrm>
            <a:off x="13942100" y="500776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· IDP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16552189" y="518493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8" name="Text 75"/>
          <p:cNvSpPr/>
          <p:nvPr/>
        </p:nvSpPr>
        <p:spPr>
          <a:xfrm>
            <a:off x="16637914" y="500776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2019–25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11066979" y="5192554"/>
            <a:ext cx="2789396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0" name="Shape 77"/>
          <p:cNvSpPr/>
          <p:nvPr/>
        </p:nvSpPr>
        <p:spPr>
          <a:xfrm>
            <a:off x="11066979" y="541734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1" name="Text 78"/>
          <p:cNvSpPr/>
          <p:nvPr/>
        </p:nvSpPr>
        <p:spPr>
          <a:xfrm>
            <a:off x="11152704" y="524017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Capacity Series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13856375" y="5192554"/>
            <a:ext cx="269581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3" name="Shape 80"/>
          <p:cNvSpPr/>
          <p:nvPr/>
        </p:nvSpPr>
        <p:spPr>
          <a:xfrm>
            <a:off x="13856375" y="541734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81"/>
          <p:cNvSpPr/>
          <p:nvPr/>
        </p:nvSpPr>
        <p:spPr>
          <a:xfrm>
            <a:off x="13942100" y="524017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CEA/POSOCO · CICERO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16552189" y="5192554"/>
            <a:ext cx="111847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6" name="Shape 83"/>
          <p:cNvSpPr/>
          <p:nvPr/>
        </p:nvSpPr>
        <p:spPr>
          <a:xfrm>
            <a:off x="16552189" y="541734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7" name="Text 84"/>
          <p:cNvSpPr/>
          <p:nvPr/>
        </p:nvSpPr>
        <p:spPr>
          <a:xfrm>
            <a:off x="16637914" y="524017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1947–26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11066979" y="564975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86"/>
          <p:cNvSpPr/>
          <p:nvPr/>
        </p:nvSpPr>
        <p:spPr>
          <a:xfrm>
            <a:off x="11152704" y="547258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POSOCO Hourly Load</a:t>
            </a:r>
            <a:endParaRPr lang="en-US" sz="900" dirty="0"/>
          </a:p>
        </p:txBody>
      </p:sp>
      <p:sp>
        <p:nvSpPr>
          <p:cNvPr id="90" name="Shape 87"/>
          <p:cNvSpPr/>
          <p:nvPr/>
        </p:nvSpPr>
        <p:spPr>
          <a:xfrm>
            <a:off x="13856375" y="564975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1" name="Text 88"/>
          <p:cNvSpPr/>
          <p:nvPr/>
        </p:nvSpPr>
        <p:spPr>
          <a:xfrm>
            <a:off x="13942100" y="547258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POSOCO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16552189" y="564975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3" name="Text 90"/>
          <p:cNvSpPr/>
          <p:nvPr/>
        </p:nvSpPr>
        <p:spPr>
          <a:xfrm>
            <a:off x="16637914" y="547258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2020–24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11066979" y="5657374"/>
            <a:ext cx="2789396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5" name="Shape 92"/>
          <p:cNvSpPr/>
          <p:nvPr/>
        </p:nvSpPr>
        <p:spPr>
          <a:xfrm>
            <a:off x="11066979" y="5882164"/>
            <a:ext cx="278939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Text 93"/>
          <p:cNvSpPr/>
          <p:nvPr/>
        </p:nvSpPr>
        <p:spPr>
          <a:xfrm>
            <a:off x="11152704" y="5704999"/>
            <a:ext cx="270162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Annual Peak Demand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13856375" y="5657374"/>
            <a:ext cx="269581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8" name="Shape 95"/>
          <p:cNvSpPr/>
          <p:nvPr/>
        </p:nvSpPr>
        <p:spPr>
          <a:xfrm>
            <a:off x="13856375" y="5882164"/>
            <a:ext cx="26958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Text 96"/>
          <p:cNvSpPr/>
          <p:nvPr/>
        </p:nvSpPr>
        <p:spPr>
          <a:xfrm>
            <a:off x="13942100" y="5704999"/>
            <a:ext cx="260523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Annual Reports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16552189" y="5657374"/>
            <a:ext cx="1118473" cy="23241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01" name="Shape 98"/>
          <p:cNvSpPr/>
          <p:nvPr/>
        </p:nvSpPr>
        <p:spPr>
          <a:xfrm>
            <a:off x="16552189" y="5882164"/>
            <a:ext cx="111847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2" name="Text 99"/>
          <p:cNvSpPr/>
          <p:nvPr/>
        </p:nvSpPr>
        <p:spPr>
          <a:xfrm>
            <a:off x="16637914" y="5704999"/>
            <a:ext cx="102322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2010–24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11059359" y="9237345"/>
            <a:ext cx="6618923" cy="401955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1059359" y="9237345"/>
            <a:ext cx="38100" cy="40195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05" name="Text 102"/>
          <p:cNvSpPr/>
          <p:nvPr/>
        </p:nvSpPr>
        <p:spPr>
          <a:xfrm>
            <a:off x="11249859" y="9370695"/>
            <a:ext cx="93892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PROVENANCE</a:t>
            </a:r>
            <a:endParaRPr lang="en-US" sz="750" dirty="0"/>
          </a:p>
        </p:txBody>
      </p:sp>
      <p:sp>
        <p:nvSpPr>
          <p:cNvPr id="106" name="Text 103"/>
          <p:cNvSpPr/>
          <p:nvPr/>
        </p:nvSpPr>
        <p:spPr>
          <a:xfrm>
            <a:off x="12226885" y="9351645"/>
            <a:ext cx="481119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 open Govt data · ODC-By licence · IDP CKAN API · No authentication required</a:t>
            </a:r>
            <a:endParaRPr lang="en-US" sz="975" dirty="0"/>
          </a:p>
        </p:txBody>
      </p:sp>
      <p:sp>
        <p:nvSpPr>
          <p:cNvPr id="107" name="Shape 104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8" name="Text 105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7643693" y="9986010"/>
            <a:ext cx="425921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CEA/CICERO capacity series · India Data Portal (ISB/BMGF) · NPP/MoP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03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· FIVE QUANTITATIVE MODELS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model answers one board-level question —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linked on the same 9 datasets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9631680"/>
            <a:ext cx="33070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921192"/>
            <a:ext cx="330708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90906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/>
          <p:nvPr/>
        </p:nvSpPr>
        <p:spPr>
          <a:xfrm>
            <a:off x="788670" y="2092642"/>
            <a:ext cx="303740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FORECAST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88670" y="2237423"/>
            <a:ext cx="30374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8670" y="2656522"/>
            <a:ext cx="30374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SARIMAX(2,1,1)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8670" y="2869883"/>
            <a:ext cx="30374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· AIC=102.4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88670" y="3041333"/>
            <a:ext cx="3037408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much power will India need by 2030?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88670" y="3297079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 yrs CEA data · AR2, I1, MA1 · 95% CI band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8670" y="9048750"/>
            <a:ext cx="294894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788670" y="9151620"/>
            <a:ext cx="303740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241 → 295 GW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88670" y="9368790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+3.5% CAGR · ±31 GW CI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50030" y="9631680"/>
            <a:ext cx="33070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050030" y="1921192"/>
            <a:ext cx="330708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20" name="Shape 18"/>
          <p:cNvSpPr/>
          <p:nvPr/>
        </p:nvSpPr>
        <p:spPr>
          <a:xfrm>
            <a:off x="405003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734949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229100" y="2092642"/>
            <a:ext cx="303740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29100" y="2237423"/>
            <a:ext cx="30374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229100" y="2656522"/>
            <a:ext cx="30374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+ ROP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29100" y="2869883"/>
            <a:ext cx="30374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STOCKS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229100" y="3041333"/>
            <a:ext cx="3037408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Was Oct 2021 coal crisis preventable?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4229100" y="3278029"/>
            <a:ext cx="294894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4305300" y="3335179"/>
            <a:ext cx="288500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highlight>
                  <a:srgbClr val="F3F4F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Q* = √(2DS/H) D=demand · S=₹3Cr/rake H=₹150/T/day · ROP=22d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29100" y="9048750"/>
            <a:ext cx="294894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4229100" y="9151620"/>
            <a:ext cx="303740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EOQ violation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229100" y="9368790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100+ plants · ≤4 days stock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0460" y="9631680"/>
            <a:ext cx="33070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0460" y="1921192"/>
            <a:ext cx="330708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046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8992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7669530" y="2092642"/>
            <a:ext cx="303740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OPTIMISATION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69530" y="2237423"/>
            <a:ext cx="30374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7669530" y="2656522"/>
            <a:ext cx="30374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LP Dispatch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69530" y="2869883"/>
            <a:ext cx="30374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PUPLP/CBC · 7 SOURCES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669530" y="3041333"/>
            <a:ext cx="3037408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Cheapest mix to meet 8 PM demand?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7669530" y="3278029"/>
            <a:ext cx="3037408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Sources: Coal · Hydro · Wind · Solar · Nuclear · Gas · BESS Constraints: demand, cap, ramp Scenarios: ₹0/₹200/₹400/₹572 tax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669530" y="9048750"/>
            <a:ext cx="294894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7669530" y="9151620"/>
            <a:ext cx="303740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 GW coal at 8 PM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669530" y="9368790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Decarbonise: +37% w/o BESS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930890" y="9631680"/>
            <a:ext cx="33070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30890" y="1921192"/>
            <a:ext cx="330708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3089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1423035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11109960" y="2092642"/>
            <a:ext cx="303740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SEGMENTATION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109960" y="2237423"/>
            <a:ext cx="30374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11109960" y="2656522"/>
            <a:ext cx="30374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K-Means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109960" y="2869883"/>
            <a:ext cx="30374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 CLUSTERS · k=4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11109960" y="3041333"/>
            <a:ext cx="3037408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all states share the same problem?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11109960" y="3278029"/>
            <a:ext cx="303740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Features: RES share · coal cap · deficit % · total cap StandardScaler normalisation Silhouette score = 0.61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1109960" y="9048750"/>
            <a:ext cx="294894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11109960" y="9151620"/>
            <a:ext cx="303740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distinct clusters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1109960" y="9368790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Each needs different policy levers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4371320" y="1921192"/>
            <a:ext cx="3307080" cy="7718107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59" name="Shape 57"/>
          <p:cNvSpPr/>
          <p:nvPr/>
        </p:nvSpPr>
        <p:spPr>
          <a:xfrm>
            <a:off x="14371320" y="9631680"/>
            <a:ext cx="330708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Shape 58"/>
          <p:cNvSpPr/>
          <p:nvPr/>
        </p:nvSpPr>
        <p:spPr>
          <a:xfrm>
            <a:off x="14371320" y="1921192"/>
            <a:ext cx="330708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1" name="Shape 59"/>
          <p:cNvSpPr/>
          <p:nvPr/>
        </p:nvSpPr>
        <p:spPr>
          <a:xfrm>
            <a:off x="14371320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Shape 60"/>
          <p:cNvSpPr/>
          <p:nvPr/>
        </p:nvSpPr>
        <p:spPr>
          <a:xfrm>
            <a:off x="17670781" y="1921192"/>
            <a:ext cx="9525" cy="771810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14550390" y="2092642"/>
            <a:ext cx="3037408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SCENARIO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4550390" y="2237423"/>
            <a:ext cx="30374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3000" dirty="0"/>
          </a:p>
        </p:txBody>
      </p:sp>
      <p:sp>
        <p:nvSpPr>
          <p:cNvPr id="65" name="Text 63"/>
          <p:cNvSpPr/>
          <p:nvPr/>
        </p:nvSpPr>
        <p:spPr>
          <a:xfrm>
            <a:off x="14550390" y="2656522"/>
            <a:ext cx="30374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+ Counterfactual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4550390" y="2869883"/>
            <a:ext cx="303740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 SIZING + LP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4550390" y="3041333"/>
            <a:ext cx="3037408" cy="2176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much storage at 500 GW solar?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14550390" y="3278029"/>
            <a:ext cx="303740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sizing: CUF 20% · 8h/day RTE 88% · 50% stored · 4h discharge Counterfactual LP: 4 solar scenarios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4550390" y="9048750"/>
            <a:ext cx="294894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0" name="Text 68"/>
          <p:cNvSpPr/>
          <p:nvPr/>
        </p:nvSpPr>
        <p:spPr>
          <a:xfrm>
            <a:off x="14550390" y="9151620"/>
            <a:ext cx="303740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GWh needed</a:t>
            </a:r>
            <a:endParaRPr lang="en-US" sz="1350" dirty="0"/>
          </a:p>
        </p:txBody>
      </p:sp>
      <p:sp>
        <p:nvSpPr>
          <p:cNvPr id="71" name="Text 69"/>
          <p:cNvSpPr/>
          <p:nvPr/>
        </p:nvSpPr>
        <p:spPr>
          <a:xfrm>
            <a:off x="14550390" y="9368790"/>
            <a:ext cx="303740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still 70 GW at peak (500 GW solar)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Text 71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050643" y="9986010"/>
            <a:ext cx="54810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statsmodels SARIMAX · analytical EOQ · PuLP/CBC LP · scikit-learn KMeans · engineering BESS model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04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 1 &amp; 2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hits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295 GW by 2030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Oct 2021 crisis was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EOQ violation, not a shortage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843915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2062163"/>
            <a:ext cx="832344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1 · SARIMAX(2,1,1) · AIC=102.4 · 95% CI ±31 GW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2187892"/>
            <a:ext cx="83234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Peak demand: actual + forecast (GW) · 2010–2030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439353"/>
            <a:ext cx="8081010" cy="642651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8670" y="8942070"/>
            <a:ext cx="1963103" cy="5562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" y="9025890"/>
            <a:ext cx="1833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295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1540" y="9300210"/>
            <a:ext cx="18335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2030 GW</a:t>
            </a:r>
            <a:endParaRPr lang="en-US" sz="825" dirty="0"/>
          </a:p>
        </p:txBody>
      </p:sp>
      <p:sp>
        <p:nvSpPr>
          <p:cNvPr id="12" name="Shape 9"/>
          <p:cNvSpPr/>
          <p:nvPr/>
        </p:nvSpPr>
        <p:spPr>
          <a:xfrm>
            <a:off x="2827972" y="8942070"/>
            <a:ext cx="1963103" cy="5562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30843" y="9025890"/>
            <a:ext cx="1833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3.5%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930843" y="9300210"/>
            <a:ext cx="18335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CAGR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4867275" y="8942070"/>
            <a:ext cx="1963103" cy="5562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70145" y="9025890"/>
            <a:ext cx="1833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+54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70145" y="9300210"/>
            <a:ext cx="18335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 above 2025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6906578" y="8942070"/>
            <a:ext cx="1963103" cy="5562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09448" y="9025890"/>
            <a:ext cx="183356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±31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09448" y="9300210"/>
            <a:ext cx="18335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 95% CI</a:t>
            </a:r>
            <a:endParaRPr lang="en-US" sz="825" dirty="0"/>
          </a:p>
        </p:txBody>
      </p:sp>
      <p:sp>
        <p:nvSpPr>
          <p:cNvPr id="21" name="Shape 18"/>
          <p:cNvSpPr/>
          <p:nvPr/>
        </p:nvSpPr>
        <p:spPr>
          <a:xfrm>
            <a:off x="9239250" y="1921192"/>
            <a:ext cx="843915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18320" y="2062163"/>
            <a:ext cx="832344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2 · EOQ + ROP · IDP COAL STOCKS (D4) · 2020–22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418320" y="2187892"/>
            <a:ext cx="83234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Thermal fleet coal stock days vs. normative (22 days)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439353"/>
            <a:ext cx="8081010" cy="5428298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418320" y="7943850"/>
            <a:ext cx="8081010" cy="90297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559290" y="8046720"/>
            <a:ext cx="803304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FORMULA &amp; VARIABLES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9442304" y="8218170"/>
            <a:ext cx="80330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Q* = √(2 × D × S / H)</a:t>
            </a:r>
            <a:endParaRPr lang="en-US" sz="1125" dirty="0"/>
          </a:p>
        </p:txBody>
      </p:sp>
      <p:sp>
        <p:nvSpPr>
          <p:cNvPr id="28" name="Text 24"/>
          <p:cNvSpPr/>
          <p:nvPr/>
        </p:nvSpPr>
        <p:spPr>
          <a:xfrm>
            <a:off x="9559290" y="8484870"/>
            <a:ext cx="19831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daily coal demand rate (rake/day)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23345" y="8484870"/>
            <a:ext cx="19831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~₹3 Crore / rake order cost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3487400" y="8484870"/>
            <a:ext cx="19831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~₹150 / tonne / day holding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5451456" y="8484870"/>
            <a:ext cx="198310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ROP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normative × D (= 22 days)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9418320" y="8923020"/>
            <a:ext cx="8081010" cy="57531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33" name="Shape 29"/>
          <p:cNvSpPr/>
          <p:nvPr/>
        </p:nvSpPr>
        <p:spPr>
          <a:xfrm>
            <a:off x="9418320" y="8923020"/>
            <a:ext cx="38100" cy="57531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34" name="Text 30"/>
          <p:cNvSpPr/>
          <p:nvPr/>
        </p:nvSpPr>
        <p:spPr>
          <a:xfrm>
            <a:off x="9608820" y="9056370"/>
            <a:ext cx="72140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DIAGNOSIS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368319" y="9037320"/>
            <a:ext cx="7187969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EOQ-compliant ordering would have triggered restock 3 weeks before crisis. Cost of fix: ₹500 Cr. Benefit: prevents ₹30,000 Cr/yr GDP loss.</a:t>
            </a:r>
            <a:endParaRPr lang="en-US" sz="975" dirty="0"/>
          </a:p>
        </p:txBody>
      </p:sp>
      <p:sp>
        <p:nvSpPr>
          <p:cNvPr id="36" name="Shape 32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3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7311866" y="9986010"/>
            <a:ext cx="494277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CEA Annual Reports 2010–24 · NPP/MoP daily coal stocks (IDP D4) · open CKAN API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MODELS 3 &amp; 4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500 GW solar still leaves 70 GW coal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 8 PM · 4 state clusters need distinct levers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843915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2062163"/>
            <a:ext cx="832344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3 · PULP/CBC LP · 7 SOURCES · 4 CARBON SCENARIOS · POSOCO 2024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2187892"/>
            <a:ext cx="83234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dispatched at 8 PM peak — four scenarios (GW)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2439353"/>
            <a:ext cx="8081010" cy="63655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8670" y="8881110"/>
            <a:ext cx="8081010" cy="61722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0590" y="8964930"/>
            <a:ext cx="807228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LP MODEL ASSUMPTIONS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910590" y="9117330"/>
            <a:ext cx="40165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Sources: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Coal, Hydro, Wind, Solar, Nuclear, Gas, BESS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848225" y="9117330"/>
            <a:ext cx="40165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Objective: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Minimise total generation cost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0590" y="9284970"/>
            <a:ext cx="40165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Constraints: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met, capacity ceiling, ramp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8225" y="9284970"/>
            <a:ext cx="401652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Solver: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PuLP / CBC open-source LP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239250" y="1921192"/>
            <a:ext cx="843915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0" y="2062163"/>
            <a:ext cx="8323441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4 · K-MEANS · K=4 BY SILHOUETTE (0.61) · STANDARDSCALER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418320" y="2187892"/>
            <a:ext cx="832344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state clusters — 4 different policy playbooks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418320" y="2534603"/>
            <a:ext cx="449342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9" name="Text 16"/>
          <p:cNvSpPr/>
          <p:nvPr/>
        </p:nvSpPr>
        <p:spPr>
          <a:xfrm>
            <a:off x="9504045" y="2591753"/>
            <a:ext cx="3540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#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9867662" y="2534603"/>
            <a:ext cx="1327785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1" name="Text 18"/>
          <p:cNvSpPr/>
          <p:nvPr/>
        </p:nvSpPr>
        <p:spPr>
          <a:xfrm>
            <a:off x="9953387" y="2591753"/>
            <a:ext cx="123253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</a:t>
            </a:r>
            <a:endParaRPr lang="en-US" sz="825" dirty="0"/>
          </a:p>
        </p:txBody>
      </p:sp>
      <p:sp>
        <p:nvSpPr>
          <p:cNvPr id="22" name="Shape 19"/>
          <p:cNvSpPr/>
          <p:nvPr/>
        </p:nvSpPr>
        <p:spPr>
          <a:xfrm>
            <a:off x="11195447" y="2534603"/>
            <a:ext cx="2287905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3" name="Text 20"/>
          <p:cNvSpPr/>
          <p:nvPr/>
        </p:nvSpPr>
        <p:spPr>
          <a:xfrm>
            <a:off x="11281172" y="2591753"/>
            <a:ext cx="21926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States</a:t>
            </a:r>
            <a:endParaRPr lang="en-US" sz="825" dirty="0"/>
          </a:p>
        </p:txBody>
      </p:sp>
      <p:sp>
        <p:nvSpPr>
          <p:cNvPr id="24" name="Shape 21"/>
          <p:cNvSpPr/>
          <p:nvPr/>
        </p:nvSpPr>
        <p:spPr>
          <a:xfrm>
            <a:off x="13483353" y="2534603"/>
            <a:ext cx="799624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5" name="Text 22"/>
          <p:cNvSpPr/>
          <p:nvPr/>
        </p:nvSpPr>
        <p:spPr>
          <a:xfrm>
            <a:off x="13569078" y="2591753"/>
            <a:ext cx="70437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Share</a:t>
            </a:r>
            <a:endParaRPr lang="en-US" sz="825" dirty="0"/>
          </a:p>
        </p:txBody>
      </p:sp>
      <p:sp>
        <p:nvSpPr>
          <p:cNvPr id="26" name="Shape 23"/>
          <p:cNvSpPr/>
          <p:nvPr/>
        </p:nvSpPr>
        <p:spPr>
          <a:xfrm>
            <a:off x="14282976" y="2534603"/>
            <a:ext cx="75402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7" name="Text 24"/>
          <p:cNvSpPr/>
          <p:nvPr/>
        </p:nvSpPr>
        <p:spPr>
          <a:xfrm>
            <a:off x="14368701" y="2591753"/>
            <a:ext cx="65877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</a:t>
            </a:r>
            <a:endParaRPr lang="en-US" sz="825" dirty="0"/>
          </a:p>
        </p:txBody>
      </p:sp>
      <p:sp>
        <p:nvSpPr>
          <p:cNvPr id="28" name="Shape 25"/>
          <p:cNvSpPr/>
          <p:nvPr/>
        </p:nvSpPr>
        <p:spPr>
          <a:xfrm>
            <a:off x="15036998" y="2534603"/>
            <a:ext cx="2462332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29" name="Text 26"/>
          <p:cNvSpPr/>
          <p:nvPr/>
        </p:nvSpPr>
        <p:spPr>
          <a:xfrm>
            <a:off x="15122723" y="2591753"/>
            <a:ext cx="236708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Priority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9418320" y="2763203"/>
            <a:ext cx="449342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1" name="Shape 28"/>
          <p:cNvSpPr/>
          <p:nvPr/>
        </p:nvSpPr>
        <p:spPr>
          <a:xfrm>
            <a:off x="9418320" y="3012758"/>
            <a:ext cx="44934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29"/>
          <p:cNvSpPr/>
          <p:nvPr/>
        </p:nvSpPr>
        <p:spPr>
          <a:xfrm>
            <a:off x="9504045" y="2820353"/>
            <a:ext cx="205621" cy="148590"/>
          </a:xfrm>
          <a:prstGeom prst="roundRect">
            <a:avLst>
              <a:gd name="adj" fmla="val 12821"/>
            </a:avLst>
          </a:prstGeom>
          <a:solidFill>
            <a:srgbClr val="0F5B4C"/>
          </a:solidFill>
          <a:ln/>
        </p:spPr>
      </p:sp>
      <p:sp>
        <p:nvSpPr>
          <p:cNvPr id="33" name="Text 30"/>
          <p:cNvSpPr/>
          <p:nvPr/>
        </p:nvSpPr>
        <p:spPr>
          <a:xfrm>
            <a:off x="9570720" y="2848928"/>
            <a:ext cx="14847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675" dirty="0"/>
          </a:p>
        </p:txBody>
      </p:sp>
      <p:sp>
        <p:nvSpPr>
          <p:cNvPr id="34" name="Shape 31"/>
          <p:cNvSpPr/>
          <p:nvPr/>
        </p:nvSpPr>
        <p:spPr>
          <a:xfrm>
            <a:off x="9867662" y="2763203"/>
            <a:ext cx="1327785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5" name="Shape 32"/>
          <p:cNvSpPr/>
          <p:nvPr/>
        </p:nvSpPr>
        <p:spPr>
          <a:xfrm>
            <a:off x="9867662" y="3012758"/>
            <a:ext cx="132778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3"/>
          <p:cNvSpPr/>
          <p:nvPr/>
        </p:nvSpPr>
        <p:spPr>
          <a:xfrm>
            <a:off x="9953387" y="2810828"/>
            <a:ext cx="1232535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 Champions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11195447" y="2763203"/>
            <a:ext cx="2287905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8" name="Shape 35"/>
          <p:cNvSpPr/>
          <p:nvPr/>
        </p:nvSpPr>
        <p:spPr>
          <a:xfrm>
            <a:off x="11195447" y="3012758"/>
            <a:ext cx="22879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6"/>
          <p:cNvSpPr/>
          <p:nvPr/>
        </p:nvSpPr>
        <p:spPr>
          <a:xfrm>
            <a:off x="11281172" y="2810828"/>
            <a:ext cx="2192655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Rajasthan · Gujarat · Karnataka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13483353" y="2763203"/>
            <a:ext cx="799624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1" name="Shape 38"/>
          <p:cNvSpPr/>
          <p:nvPr/>
        </p:nvSpPr>
        <p:spPr>
          <a:xfrm>
            <a:off x="13483353" y="3012758"/>
            <a:ext cx="79962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9"/>
          <p:cNvSpPr/>
          <p:nvPr/>
        </p:nvSpPr>
        <p:spPr>
          <a:xfrm>
            <a:off x="13569078" y="2810828"/>
            <a:ext cx="704374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40%+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4282976" y="2763203"/>
            <a:ext cx="754023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4" name="Shape 41"/>
          <p:cNvSpPr/>
          <p:nvPr/>
        </p:nvSpPr>
        <p:spPr>
          <a:xfrm>
            <a:off x="14282976" y="3012758"/>
            <a:ext cx="7540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14368701" y="2810828"/>
            <a:ext cx="658773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&lt;30%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15036998" y="2763203"/>
            <a:ext cx="2462332" cy="25717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7" name="Shape 44"/>
          <p:cNvSpPr/>
          <p:nvPr/>
        </p:nvSpPr>
        <p:spPr>
          <a:xfrm>
            <a:off x="15036998" y="3012758"/>
            <a:ext cx="246233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5"/>
          <p:cNvSpPr/>
          <p:nvPr/>
        </p:nvSpPr>
        <p:spPr>
          <a:xfrm>
            <a:off x="15122723" y="2810828"/>
            <a:ext cx="2367082" cy="192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HVDC + BESS co-location</a:t>
            </a:r>
            <a:endParaRPr lang="en-US" sz="975" dirty="0"/>
          </a:p>
        </p:txBody>
      </p:sp>
      <p:sp>
        <p:nvSpPr>
          <p:cNvPr id="49" name="Shape 46"/>
          <p:cNvSpPr/>
          <p:nvPr/>
        </p:nvSpPr>
        <p:spPr>
          <a:xfrm>
            <a:off x="9418320" y="3273743"/>
            <a:ext cx="44934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7"/>
          <p:cNvSpPr/>
          <p:nvPr/>
        </p:nvSpPr>
        <p:spPr>
          <a:xfrm>
            <a:off x="9504045" y="3081338"/>
            <a:ext cx="205621" cy="148590"/>
          </a:xfrm>
          <a:prstGeom prst="roundRect">
            <a:avLst>
              <a:gd name="adj" fmla="val 12821"/>
            </a:avLst>
          </a:prstGeom>
          <a:solidFill>
            <a:srgbClr val="E8F1ED"/>
          </a:solidFill>
          <a:ln/>
        </p:spPr>
      </p:sp>
      <p:sp>
        <p:nvSpPr>
          <p:cNvPr id="51" name="Text 48"/>
          <p:cNvSpPr/>
          <p:nvPr/>
        </p:nvSpPr>
        <p:spPr>
          <a:xfrm>
            <a:off x="9570720" y="3109913"/>
            <a:ext cx="14847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</a:t>
            </a:r>
            <a:endParaRPr lang="en-US" sz="675" dirty="0"/>
          </a:p>
        </p:txBody>
      </p:sp>
      <p:sp>
        <p:nvSpPr>
          <p:cNvPr id="52" name="Shape 49"/>
          <p:cNvSpPr/>
          <p:nvPr/>
        </p:nvSpPr>
        <p:spPr>
          <a:xfrm>
            <a:off x="9867662" y="3273743"/>
            <a:ext cx="132778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0"/>
          <p:cNvSpPr/>
          <p:nvPr/>
        </p:nvSpPr>
        <p:spPr>
          <a:xfrm>
            <a:off x="9953387" y="3068003"/>
            <a:ext cx="123253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Transition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11195447" y="3273743"/>
            <a:ext cx="22879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Text 52"/>
          <p:cNvSpPr/>
          <p:nvPr/>
        </p:nvSpPr>
        <p:spPr>
          <a:xfrm>
            <a:off x="11281172" y="3068003"/>
            <a:ext cx="219265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TN · AP · Telangana</a:t>
            </a:r>
            <a:endParaRPr lang="en-US" sz="975" dirty="0"/>
          </a:p>
        </p:txBody>
      </p:sp>
      <p:sp>
        <p:nvSpPr>
          <p:cNvPr id="56" name="Shape 53"/>
          <p:cNvSpPr/>
          <p:nvPr/>
        </p:nvSpPr>
        <p:spPr>
          <a:xfrm>
            <a:off x="13483353" y="3273743"/>
            <a:ext cx="79962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4"/>
          <p:cNvSpPr/>
          <p:nvPr/>
        </p:nvSpPr>
        <p:spPr>
          <a:xfrm>
            <a:off x="13569078" y="3068003"/>
            <a:ext cx="704374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30–40%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14282976" y="3273743"/>
            <a:ext cx="7540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6"/>
          <p:cNvSpPr/>
          <p:nvPr/>
        </p:nvSpPr>
        <p:spPr>
          <a:xfrm>
            <a:off x="14368701" y="3068003"/>
            <a:ext cx="658773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35–45%</a:t>
            </a:r>
            <a:endParaRPr lang="en-US" sz="975" dirty="0"/>
          </a:p>
        </p:txBody>
      </p:sp>
      <p:sp>
        <p:nvSpPr>
          <p:cNvPr id="60" name="Shape 57"/>
          <p:cNvSpPr/>
          <p:nvPr/>
        </p:nvSpPr>
        <p:spPr>
          <a:xfrm>
            <a:off x="15036998" y="3273743"/>
            <a:ext cx="246233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Text 58"/>
          <p:cNvSpPr/>
          <p:nvPr/>
        </p:nvSpPr>
        <p:spPr>
          <a:xfrm>
            <a:off x="15122723" y="3068003"/>
            <a:ext cx="2367082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Offshore wind + demand response</a:t>
            </a:r>
            <a:endParaRPr lang="en-US" sz="975" dirty="0"/>
          </a:p>
        </p:txBody>
      </p:sp>
      <p:sp>
        <p:nvSpPr>
          <p:cNvPr id="62" name="Shape 59"/>
          <p:cNvSpPr/>
          <p:nvPr/>
        </p:nvSpPr>
        <p:spPr>
          <a:xfrm>
            <a:off x="9418320" y="3281363"/>
            <a:ext cx="449342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3" name="Shape 60"/>
          <p:cNvSpPr/>
          <p:nvPr/>
        </p:nvSpPr>
        <p:spPr>
          <a:xfrm>
            <a:off x="9418320" y="3534727"/>
            <a:ext cx="44934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4" name="Shape 61"/>
          <p:cNvSpPr/>
          <p:nvPr/>
        </p:nvSpPr>
        <p:spPr>
          <a:xfrm>
            <a:off x="9504045" y="3342322"/>
            <a:ext cx="205621" cy="148590"/>
          </a:xfrm>
          <a:prstGeom prst="roundRect">
            <a:avLst>
              <a:gd name="adj" fmla="val 12821"/>
            </a:avLst>
          </a:prstGeom>
          <a:solidFill>
            <a:srgbClr val="F3F4F6"/>
          </a:solidFill>
          <a:ln/>
        </p:spPr>
      </p:sp>
      <p:sp>
        <p:nvSpPr>
          <p:cNvPr id="65" name="Text 62"/>
          <p:cNvSpPr/>
          <p:nvPr/>
        </p:nvSpPr>
        <p:spPr>
          <a:xfrm>
            <a:off x="9570720" y="3370897"/>
            <a:ext cx="14847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</a:t>
            </a:r>
            <a:endParaRPr lang="en-US" sz="675" dirty="0"/>
          </a:p>
        </p:txBody>
      </p:sp>
      <p:sp>
        <p:nvSpPr>
          <p:cNvPr id="66" name="Shape 63"/>
          <p:cNvSpPr/>
          <p:nvPr/>
        </p:nvSpPr>
        <p:spPr>
          <a:xfrm>
            <a:off x="9867662" y="3281363"/>
            <a:ext cx="1327785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7" name="Shape 64"/>
          <p:cNvSpPr/>
          <p:nvPr/>
        </p:nvSpPr>
        <p:spPr>
          <a:xfrm>
            <a:off x="9867662" y="3534727"/>
            <a:ext cx="132778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Text 65"/>
          <p:cNvSpPr/>
          <p:nvPr/>
        </p:nvSpPr>
        <p:spPr>
          <a:xfrm>
            <a:off x="9953387" y="3328988"/>
            <a:ext cx="123253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Dependent</a:t>
            </a:r>
            <a:endParaRPr lang="en-US" sz="975" dirty="0"/>
          </a:p>
        </p:txBody>
      </p:sp>
      <p:sp>
        <p:nvSpPr>
          <p:cNvPr id="69" name="Shape 66"/>
          <p:cNvSpPr/>
          <p:nvPr/>
        </p:nvSpPr>
        <p:spPr>
          <a:xfrm>
            <a:off x="11195447" y="3281363"/>
            <a:ext cx="2287905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0" name="Shape 67"/>
          <p:cNvSpPr/>
          <p:nvPr/>
        </p:nvSpPr>
        <p:spPr>
          <a:xfrm>
            <a:off x="11195447" y="3534727"/>
            <a:ext cx="22879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1" name="Text 68"/>
          <p:cNvSpPr/>
          <p:nvPr/>
        </p:nvSpPr>
        <p:spPr>
          <a:xfrm>
            <a:off x="11281172" y="3328988"/>
            <a:ext cx="219265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UP · MH · MP · Jh · WB</a:t>
            </a:r>
            <a:endParaRPr lang="en-US" sz="975" dirty="0"/>
          </a:p>
        </p:txBody>
      </p:sp>
      <p:sp>
        <p:nvSpPr>
          <p:cNvPr id="72" name="Shape 69"/>
          <p:cNvSpPr/>
          <p:nvPr/>
        </p:nvSpPr>
        <p:spPr>
          <a:xfrm>
            <a:off x="13483353" y="3281363"/>
            <a:ext cx="799624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3" name="Shape 70"/>
          <p:cNvSpPr/>
          <p:nvPr/>
        </p:nvSpPr>
        <p:spPr>
          <a:xfrm>
            <a:off x="13483353" y="3534727"/>
            <a:ext cx="79962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4" name="Text 71"/>
          <p:cNvSpPr/>
          <p:nvPr/>
        </p:nvSpPr>
        <p:spPr>
          <a:xfrm>
            <a:off x="13569078" y="3328988"/>
            <a:ext cx="704374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&lt;20%</a:t>
            </a:r>
            <a:endParaRPr lang="en-US" sz="975" dirty="0"/>
          </a:p>
        </p:txBody>
      </p:sp>
      <p:sp>
        <p:nvSpPr>
          <p:cNvPr id="75" name="Shape 72"/>
          <p:cNvSpPr/>
          <p:nvPr/>
        </p:nvSpPr>
        <p:spPr>
          <a:xfrm>
            <a:off x="14282976" y="3281363"/>
            <a:ext cx="754023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6" name="Shape 73"/>
          <p:cNvSpPr/>
          <p:nvPr/>
        </p:nvSpPr>
        <p:spPr>
          <a:xfrm>
            <a:off x="14282976" y="3534727"/>
            <a:ext cx="7540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4"/>
          <p:cNvSpPr/>
          <p:nvPr/>
        </p:nvSpPr>
        <p:spPr>
          <a:xfrm>
            <a:off x="14368701" y="3328988"/>
            <a:ext cx="658773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60%+</a:t>
            </a:r>
            <a:endParaRPr lang="en-US" sz="975" dirty="0"/>
          </a:p>
        </p:txBody>
      </p:sp>
      <p:sp>
        <p:nvSpPr>
          <p:cNvPr id="78" name="Shape 75"/>
          <p:cNvSpPr/>
          <p:nvPr/>
        </p:nvSpPr>
        <p:spPr>
          <a:xfrm>
            <a:off x="15036998" y="3281363"/>
            <a:ext cx="2462332" cy="26098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9" name="Shape 76"/>
          <p:cNvSpPr/>
          <p:nvPr/>
        </p:nvSpPr>
        <p:spPr>
          <a:xfrm>
            <a:off x="15036998" y="3534727"/>
            <a:ext cx="246233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Text 77"/>
          <p:cNvSpPr/>
          <p:nvPr/>
        </p:nvSpPr>
        <p:spPr>
          <a:xfrm>
            <a:off x="15122723" y="3328988"/>
            <a:ext cx="2367082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mandate + green loans</a:t>
            </a:r>
            <a:endParaRPr lang="en-US" sz="975" dirty="0"/>
          </a:p>
        </p:txBody>
      </p:sp>
      <p:sp>
        <p:nvSpPr>
          <p:cNvPr id="81" name="Shape 78"/>
          <p:cNvSpPr/>
          <p:nvPr/>
        </p:nvSpPr>
        <p:spPr>
          <a:xfrm>
            <a:off x="9418320" y="3795712"/>
            <a:ext cx="44934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Shape 79"/>
          <p:cNvSpPr/>
          <p:nvPr/>
        </p:nvSpPr>
        <p:spPr>
          <a:xfrm>
            <a:off x="9504045" y="3603308"/>
            <a:ext cx="205621" cy="148590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/>
        </p:spPr>
      </p:sp>
      <p:sp>
        <p:nvSpPr>
          <p:cNvPr id="83" name="Text 80"/>
          <p:cNvSpPr/>
          <p:nvPr/>
        </p:nvSpPr>
        <p:spPr>
          <a:xfrm>
            <a:off x="9570720" y="3631883"/>
            <a:ext cx="148471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</a:t>
            </a:r>
            <a:endParaRPr lang="en-US" sz="675" dirty="0"/>
          </a:p>
        </p:txBody>
      </p:sp>
      <p:sp>
        <p:nvSpPr>
          <p:cNvPr id="84" name="Shape 81"/>
          <p:cNvSpPr/>
          <p:nvPr/>
        </p:nvSpPr>
        <p:spPr>
          <a:xfrm>
            <a:off x="9867662" y="3795712"/>
            <a:ext cx="132778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Text 82"/>
          <p:cNvSpPr/>
          <p:nvPr/>
        </p:nvSpPr>
        <p:spPr>
          <a:xfrm>
            <a:off x="9953387" y="3589972"/>
            <a:ext cx="123253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Energy Starved</a:t>
            </a:r>
            <a:endParaRPr lang="en-US" sz="975" dirty="0"/>
          </a:p>
        </p:txBody>
      </p:sp>
      <p:sp>
        <p:nvSpPr>
          <p:cNvPr id="86" name="Shape 83"/>
          <p:cNvSpPr/>
          <p:nvPr/>
        </p:nvSpPr>
        <p:spPr>
          <a:xfrm>
            <a:off x="11195447" y="3795712"/>
            <a:ext cx="22879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7" name="Text 84"/>
          <p:cNvSpPr/>
          <p:nvPr/>
        </p:nvSpPr>
        <p:spPr>
          <a:xfrm>
            <a:off x="11281172" y="3589972"/>
            <a:ext cx="2192655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Bihar · HP · Northeast</a:t>
            </a:r>
            <a:endParaRPr lang="en-US" sz="975" dirty="0"/>
          </a:p>
        </p:txBody>
      </p:sp>
      <p:sp>
        <p:nvSpPr>
          <p:cNvPr id="88" name="Shape 85"/>
          <p:cNvSpPr/>
          <p:nvPr/>
        </p:nvSpPr>
        <p:spPr>
          <a:xfrm>
            <a:off x="13483353" y="3795712"/>
            <a:ext cx="79962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86"/>
          <p:cNvSpPr/>
          <p:nvPr/>
        </p:nvSpPr>
        <p:spPr>
          <a:xfrm>
            <a:off x="13569078" y="3589972"/>
            <a:ext cx="704374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Varies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14282976" y="3795712"/>
            <a:ext cx="75402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1" name="Text 88"/>
          <p:cNvSpPr/>
          <p:nvPr/>
        </p:nvSpPr>
        <p:spPr>
          <a:xfrm>
            <a:off x="14368701" y="3589972"/>
            <a:ext cx="658773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 cap</a:t>
            </a:r>
            <a:endParaRPr lang="en-US" sz="975" dirty="0"/>
          </a:p>
        </p:txBody>
      </p:sp>
      <p:sp>
        <p:nvSpPr>
          <p:cNvPr id="92" name="Shape 89"/>
          <p:cNvSpPr/>
          <p:nvPr/>
        </p:nvSpPr>
        <p:spPr>
          <a:xfrm>
            <a:off x="15036998" y="3795712"/>
            <a:ext cx="246233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3" name="Text 90"/>
          <p:cNvSpPr/>
          <p:nvPr/>
        </p:nvSpPr>
        <p:spPr>
          <a:xfrm>
            <a:off x="15122723" y="3589972"/>
            <a:ext cx="2367082" cy="19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+ microgrids</a:t>
            </a:r>
            <a:endParaRPr lang="en-US" sz="975" dirty="0"/>
          </a:p>
        </p:txBody>
      </p:sp>
      <p:sp>
        <p:nvSpPr>
          <p:cNvPr id="94" name="Shape 91"/>
          <p:cNvSpPr/>
          <p:nvPr/>
        </p:nvSpPr>
        <p:spPr>
          <a:xfrm>
            <a:off x="9418320" y="6406039"/>
            <a:ext cx="40024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5" name="Shape 92"/>
          <p:cNvSpPr/>
          <p:nvPr/>
        </p:nvSpPr>
        <p:spPr>
          <a:xfrm>
            <a:off x="9418320" y="3902393"/>
            <a:ext cx="4002405" cy="228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6" name="Shape 93"/>
          <p:cNvSpPr/>
          <p:nvPr/>
        </p:nvSpPr>
        <p:spPr>
          <a:xfrm>
            <a:off x="9418320" y="3902393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Shape 94"/>
          <p:cNvSpPr/>
          <p:nvPr/>
        </p:nvSpPr>
        <p:spPr>
          <a:xfrm>
            <a:off x="13413105" y="3902393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8" name="Text 95"/>
          <p:cNvSpPr/>
          <p:nvPr/>
        </p:nvSpPr>
        <p:spPr>
          <a:xfrm>
            <a:off x="9540240" y="4020503"/>
            <a:ext cx="387132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· RE Champions</a:t>
            </a:r>
            <a:endParaRPr lang="en-US" sz="975" dirty="0"/>
          </a:p>
        </p:txBody>
      </p:sp>
      <p:sp>
        <p:nvSpPr>
          <p:cNvPr id="99" name="Text 96"/>
          <p:cNvSpPr/>
          <p:nvPr/>
        </p:nvSpPr>
        <p:spPr>
          <a:xfrm>
            <a:off x="9571990" y="420338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HVDC lines ₹45,000 Cr (self-funded)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9571990" y="438626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co-location &gt; 500 MW solar</a:t>
            </a:r>
            <a:endParaRPr lang="en-US" sz="900" dirty="0"/>
          </a:p>
        </p:txBody>
      </p:sp>
      <p:sp>
        <p:nvSpPr>
          <p:cNvPr id="101" name="Text 98"/>
          <p:cNvSpPr/>
          <p:nvPr/>
        </p:nvSpPr>
        <p:spPr>
          <a:xfrm>
            <a:off x="9571990" y="456914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Waive wheeling charges 5 yrs</a:t>
            </a:r>
            <a:endParaRPr lang="en-US" sz="900" dirty="0"/>
          </a:p>
        </p:txBody>
      </p:sp>
      <p:sp>
        <p:nvSpPr>
          <p:cNvPr id="102" name="Text 99"/>
          <p:cNvSpPr/>
          <p:nvPr/>
        </p:nvSpPr>
        <p:spPr>
          <a:xfrm>
            <a:off x="9571990" y="4752022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KPI: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Export 50 BU/yr by 2028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13496925" y="6406039"/>
            <a:ext cx="40024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3496925" y="3902393"/>
            <a:ext cx="4002405" cy="2286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3496925" y="3902393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7491710" y="3902393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7" name="Text 104"/>
          <p:cNvSpPr/>
          <p:nvPr/>
        </p:nvSpPr>
        <p:spPr>
          <a:xfrm>
            <a:off x="13618845" y="4020503"/>
            <a:ext cx="387132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 · Transition Leaders</a:t>
            </a:r>
            <a:endParaRPr lang="en-US" sz="975" dirty="0"/>
          </a:p>
        </p:txBody>
      </p:sp>
      <p:sp>
        <p:nvSpPr>
          <p:cNvPr id="108" name="Text 105"/>
          <p:cNvSpPr/>
          <p:nvPr/>
        </p:nvSpPr>
        <p:spPr>
          <a:xfrm>
            <a:off x="13650595" y="420338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Offshore wind (TN: 30+ GW)</a:t>
            </a:r>
            <a:endParaRPr lang="en-US" sz="900" dirty="0"/>
          </a:p>
        </p:txBody>
      </p:sp>
      <p:sp>
        <p:nvSpPr>
          <p:cNvPr id="109" name="Text 106"/>
          <p:cNvSpPr/>
          <p:nvPr/>
        </p:nvSpPr>
        <p:spPr>
          <a:xfrm>
            <a:off x="13650595" y="438626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Priority grid upgrade funding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13650595" y="4569143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 flatten peak</a:t>
            </a:r>
            <a:endParaRPr lang="en-US" sz="900" dirty="0"/>
          </a:p>
        </p:txBody>
      </p:sp>
      <p:sp>
        <p:nvSpPr>
          <p:cNvPr id="111" name="Text 108"/>
          <p:cNvSpPr/>
          <p:nvPr/>
        </p:nvSpPr>
        <p:spPr>
          <a:xfrm>
            <a:off x="13650595" y="4752022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KPI: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+15 GW RE + 8 GWh BESS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9418320" y="8993505"/>
            <a:ext cx="40024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3" name="Shape 110"/>
          <p:cNvSpPr/>
          <p:nvPr/>
        </p:nvSpPr>
        <p:spPr>
          <a:xfrm>
            <a:off x="9418320" y="6489859"/>
            <a:ext cx="4002405" cy="228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4" name="Shape 111"/>
          <p:cNvSpPr/>
          <p:nvPr/>
        </p:nvSpPr>
        <p:spPr>
          <a:xfrm>
            <a:off x="9418320" y="6489859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5" name="Shape 112"/>
          <p:cNvSpPr/>
          <p:nvPr/>
        </p:nvSpPr>
        <p:spPr>
          <a:xfrm>
            <a:off x="13413105" y="6489859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6" name="Text 113"/>
          <p:cNvSpPr/>
          <p:nvPr/>
        </p:nvSpPr>
        <p:spPr>
          <a:xfrm>
            <a:off x="9540240" y="6607969"/>
            <a:ext cx="387132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 · Coal Dependent</a:t>
            </a:r>
            <a:endParaRPr lang="en-US" sz="975" dirty="0"/>
          </a:p>
        </p:txBody>
      </p:sp>
      <p:sp>
        <p:nvSpPr>
          <p:cNvPr id="117" name="Text 114"/>
          <p:cNvSpPr/>
          <p:nvPr/>
        </p:nvSpPr>
        <p:spPr>
          <a:xfrm>
            <a:off x="9571990" y="679084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mandatory with RE permit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9571990" y="697372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PLF floor 55%→45% by 2027</a:t>
            </a:r>
            <a:endParaRPr lang="en-US" sz="900" dirty="0"/>
          </a:p>
        </p:txBody>
      </p:sp>
      <p:sp>
        <p:nvSpPr>
          <p:cNvPr id="119" name="Text 116"/>
          <p:cNvSpPr/>
          <p:nvPr/>
        </p:nvSpPr>
        <p:spPr>
          <a:xfrm>
            <a:off x="9571990" y="715660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Concessional DISCOM green loans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9571990" y="733948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KPI: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RES 20%→40% by 2030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13496925" y="8993505"/>
            <a:ext cx="400240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3496925" y="6489859"/>
            <a:ext cx="4002405" cy="228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3" name="Shape 120"/>
          <p:cNvSpPr/>
          <p:nvPr/>
        </p:nvSpPr>
        <p:spPr>
          <a:xfrm>
            <a:off x="13496925" y="6489859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4" name="Shape 121"/>
          <p:cNvSpPr/>
          <p:nvPr/>
        </p:nvSpPr>
        <p:spPr>
          <a:xfrm>
            <a:off x="17491710" y="6489859"/>
            <a:ext cx="9525" cy="251126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5" name="Text 122"/>
          <p:cNvSpPr/>
          <p:nvPr/>
        </p:nvSpPr>
        <p:spPr>
          <a:xfrm>
            <a:off x="13618845" y="6607969"/>
            <a:ext cx="387132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 · Energy Starved</a:t>
            </a:r>
            <a:endParaRPr lang="en-US" sz="975" dirty="0"/>
          </a:p>
        </p:txBody>
      </p:sp>
      <p:sp>
        <p:nvSpPr>
          <p:cNvPr id="126" name="Text 123"/>
          <p:cNvSpPr/>
          <p:nvPr/>
        </p:nvSpPr>
        <p:spPr>
          <a:xfrm>
            <a:off x="13650595" y="679084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for unviable small solar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3650595" y="697372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Community solar microgrids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13650595" y="715660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  <a:tabLst>
                <a:tab pos="101600" algn="l"/>
              </a:tabLst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RE-linked energy access subsidy</a:t>
            </a:r>
            <a:endParaRPr lang="en-US" sz="900" dirty="0"/>
          </a:p>
        </p:txBody>
      </p:sp>
      <p:sp>
        <p:nvSpPr>
          <p:cNvPr id="129" name="Text 126"/>
          <p:cNvSpPr/>
          <p:nvPr/>
        </p:nvSpPr>
        <p:spPr>
          <a:xfrm>
            <a:off x="13650595" y="7339489"/>
            <a:ext cx="383557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60000"/>
              </a:lnSpc>
              <a:buSzPct val="100000"/>
              <a:buChar char="•"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KPI: </a:t>
            </a:r>
            <a:pPr algn="l" indent="0" marL="0">
              <a:lnSpc>
                <a:spcPct val="16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Eliminate deficit by 2027</a:t>
            </a:r>
            <a:endParaRPr lang="en-US" sz="900" dirty="0"/>
          </a:p>
        </p:txBody>
      </p:sp>
      <p:sp>
        <p:nvSpPr>
          <p:cNvPr id="130" name="Shape 127"/>
          <p:cNvSpPr/>
          <p:nvPr/>
        </p:nvSpPr>
        <p:spPr>
          <a:xfrm>
            <a:off x="9418320" y="9096375"/>
            <a:ext cx="8081010" cy="401955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31" name="Shape 128"/>
          <p:cNvSpPr/>
          <p:nvPr/>
        </p:nvSpPr>
        <p:spPr>
          <a:xfrm>
            <a:off x="9418320" y="9096375"/>
            <a:ext cx="38100" cy="40195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32" name="Text 129"/>
          <p:cNvSpPr/>
          <p:nvPr/>
        </p:nvSpPr>
        <p:spPr>
          <a:xfrm>
            <a:off x="9608820" y="9229725"/>
            <a:ext cx="8978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133" name="Text 130"/>
          <p:cNvSpPr/>
          <p:nvPr/>
        </p:nvSpPr>
        <p:spPr>
          <a:xfrm>
            <a:off x="10544770" y="9210675"/>
            <a:ext cx="5721507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One-size-fits-all policy misses ₹40,000+ Cr/yr of efficiency gains. Cluster-specific levers are essential.</a:t>
            </a:r>
            <a:endParaRPr lang="en-US" sz="975" dirty="0"/>
          </a:p>
        </p:txBody>
      </p:sp>
      <p:sp>
        <p:nvSpPr>
          <p:cNvPr id="134" name="Shape 131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5" name="Text 132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7190184" y="9986010"/>
            <a:ext cx="51934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PuLP/CBC LP · scikit-learn KMeans · POSOCO 2024 hourly load · CEA state capacity data</a:t>
            </a:r>
            <a:endParaRPr lang="en-US" sz="900" dirty="0"/>
          </a:p>
        </p:txBody>
      </p:sp>
      <p:sp>
        <p:nvSpPr>
          <p:cNvPr id="137" name="Text 134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5 · BESS SIZING + COUNTERFACTUAL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needs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GWh of storage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75–125× today · ₹12,000 Cr initial capex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10126981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2062163"/>
            <a:ext cx="10061905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· ENGINEERING SIZING MODEL · CEA RE GENERATION · INDUSTRY RTE BENCHMARKS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2187892"/>
            <a:ext cx="1006190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Step-by-step: 150 GW solar nameplate → BESS power capacity required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8670" y="2496503"/>
            <a:ext cx="569595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9" name="Text 7"/>
          <p:cNvSpPr/>
          <p:nvPr/>
        </p:nvSpPr>
        <p:spPr>
          <a:xfrm>
            <a:off x="893445" y="2572703"/>
            <a:ext cx="43624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#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58265" y="2496503"/>
            <a:ext cx="5208747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572703"/>
            <a:ext cx="515545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Step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67011" y="2496503"/>
            <a:ext cx="1579364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95586" y="2572703"/>
            <a:ext cx="144601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Factor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46375" y="2496503"/>
            <a:ext cx="2411135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950" y="2572703"/>
            <a:ext cx="227778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Running Result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8670" y="2778443"/>
            <a:ext cx="569595" cy="68163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8670" y="3452455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893445" y="2845118"/>
            <a:ext cx="436245" cy="578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358265" y="2778443"/>
            <a:ext cx="5208747" cy="68163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58265" y="3452455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1463040" y="2845118"/>
            <a:ext cx="5155459" cy="578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installed capacity (2025)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567011" y="2778443"/>
            <a:ext cx="1579364" cy="68163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7011" y="3452455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6595586" y="2845118"/>
            <a:ext cx="1446014" cy="578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8146375" y="2778443"/>
            <a:ext cx="2411135" cy="68163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6" name="Shape 24"/>
          <p:cNvSpPr/>
          <p:nvPr/>
        </p:nvSpPr>
        <p:spPr>
          <a:xfrm>
            <a:off x="8146375" y="3452455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8174950" y="2845118"/>
            <a:ext cx="2277785" cy="578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 GW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88670" y="4142661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893445" y="3526750"/>
            <a:ext cx="43624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1358265" y="4142661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3526750"/>
            <a:ext cx="5155459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Average annual CUF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6567011" y="4142661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6595586" y="3526750"/>
            <a:ext cx="1446014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20%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8146375" y="4142661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8174950" y="3526750"/>
            <a:ext cx="227778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 GW effective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788670" y="4150281"/>
            <a:ext cx="569595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7" name="Shape 35"/>
          <p:cNvSpPr/>
          <p:nvPr/>
        </p:nvSpPr>
        <p:spPr>
          <a:xfrm>
            <a:off x="788670" y="4832866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893445" y="4216956"/>
            <a:ext cx="43624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358265" y="4150281"/>
            <a:ext cx="5208747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0" name="Shape 38"/>
          <p:cNvSpPr/>
          <p:nvPr/>
        </p:nvSpPr>
        <p:spPr>
          <a:xfrm>
            <a:off x="1358265" y="4832866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463040" y="4216956"/>
            <a:ext cx="5155459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Daily production hours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6567011" y="4150281"/>
            <a:ext cx="1579364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7011" y="4832866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6595586" y="4216956"/>
            <a:ext cx="1446014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8 h/day</a:t>
            </a:r>
            <a:endParaRPr lang="en-US" sz="1125" dirty="0"/>
          </a:p>
        </p:txBody>
      </p:sp>
      <p:sp>
        <p:nvSpPr>
          <p:cNvPr id="45" name="Shape 43"/>
          <p:cNvSpPr/>
          <p:nvPr/>
        </p:nvSpPr>
        <p:spPr>
          <a:xfrm>
            <a:off x="8146375" y="4150281"/>
            <a:ext cx="2411135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6" name="Shape 44"/>
          <p:cNvSpPr/>
          <p:nvPr/>
        </p:nvSpPr>
        <p:spPr>
          <a:xfrm>
            <a:off x="8146375" y="4832866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8174950" y="4216956"/>
            <a:ext cx="227778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788670" y="4840486"/>
            <a:ext cx="569595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49" name="Shape 47"/>
          <p:cNvSpPr/>
          <p:nvPr/>
        </p:nvSpPr>
        <p:spPr>
          <a:xfrm>
            <a:off x="788670" y="5608201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893445" y="4907161"/>
            <a:ext cx="436245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1358265" y="4840486"/>
            <a:ext cx="5208747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52" name="Shape 50"/>
          <p:cNvSpPr/>
          <p:nvPr/>
        </p:nvSpPr>
        <p:spPr>
          <a:xfrm>
            <a:off x="1358265" y="5608201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1463040" y="4907161"/>
            <a:ext cx="5155459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Daily solar generation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6567011" y="4840486"/>
            <a:ext cx="1579364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7011" y="5608201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6595586" y="4907161"/>
            <a:ext cx="1446014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8146375" y="4840486"/>
            <a:ext cx="2411135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58" name="Shape 56"/>
          <p:cNvSpPr/>
          <p:nvPr/>
        </p:nvSpPr>
        <p:spPr>
          <a:xfrm>
            <a:off x="8146375" y="5608201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Text 57"/>
          <p:cNvSpPr/>
          <p:nvPr/>
        </p:nvSpPr>
        <p:spPr>
          <a:xfrm>
            <a:off x="8174950" y="4907161"/>
            <a:ext cx="2277785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240 GWh/day</a:t>
            </a:r>
            <a:endParaRPr lang="en-US" sz="1125" dirty="0"/>
          </a:p>
        </p:txBody>
      </p:sp>
      <p:sp>
        <p:nvSpPr>
          <p:cNvPr id="60" name="Shape 58"/>
          <p:cNvSpPr/>
          <p:nvPr/>
        </p:nvSpPr>
        <p:spPr>
          <a:xfrm>
            <a:off x="788670" y="5615821"/>
            <a:ext cx="569595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1" name="Shape 59"/>
          <p:cNvSpPr/>
          <p:nvPr/>
        </p:nvSpPr>
        <p:spPr>
          <a:xfrm>
            <a:off x="788670" y="6298406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60"/>
          <p:cNvSpPr/>
          <p:nvPr/>
        </p:nvSpPr>
        <p:spPr>
          <a:xfrm>
            <a:off x="893445" y="5682496"/>
            <a:ext cx="43624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1358265" y="5615821"/>
            <a:ext cx="5208747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4" name="Shape 62"/>
          <p:cNvSpPr/>
          <p:nvPr/>
        </p:nvSpPr>
        <p:spPr>
          <a:xfrm>
            <a:off x="1358265" y="6298406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1463040" y="5682496"/>
            <a:ext cx="5155459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Fraction stored for evening</a:t>
            </a:r>
            <a:endParaRPr lang="en-US" sz="1125" dirty="0"/>
          </a:p>
        </p:txBody>
      </p:sp>
      <p:sp>
        <p:nvSpPr>
          <p:cNvPr id="66" name="Shape 64"/>
          <p:cNvSpPr/>
          <p:nvPr/>
        </p:nvSpPr>
        <p:spPr>
          <a:xfrm>
            <a:off x="6567011" y="5615821"/>
            <a:ext cx="1579364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7" name="Shape 65"/>
          <p:cNvSpPr/>
          <p:nvPr/>
        </p:nvSpPr>
        <p:spPr>
          <a:xfrm>
            <a:off x="6567011" y="6298406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8" name="Text 66"/>
          <p:cNvSpPr/>
          <p:nvPr/>
        </p:nvSpPr>
        <p:spPr>
          <a:xfrm>
            <a:off x="6595586" y="5682496"/>
            <a:ext cx="1446014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50%</a:t>
            </a:r>
            <a:endParaRPr lang="en-US" sz="1125" dirty="0"/>
          </a:p>
        </p:txBody>
      </p:sp>
      <p:sp>
        <p:nvSpPr>
          <p:cNvPr id="69" name="Shape 67"/>
          <p:cNvSpPr/>
          <p:nvPr/>
        </p:nvSpPr>
        <p:spPr>
          <a:xfrm>
            <a:off x="8146375" y="5615821"/>
            <a:ext cx="2411135" cy="690205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0" name="Shape 68"/>
          <p:cNvSpPr/>
          <p:nvPr/>
        </p:nvSpPr>
        <p:spPr>
          <a:xfrm>
            <a:off x="8146375" y="6298406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1" name="Text 69"/>
          <p:cNvSpPr/>
          <p:nvPr/>
        </p:nvSpPr>
        <p:spPr>
          <a:xfrm>
            <a:off x="8174950" y="5682496"/>
            <a:ext cx="227778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120 GWh</a:t>
            </a:r>
            <a:endParaRPr lang="en-US" sz="1125" dirty="0"/>
          </a:p>
        </p:txBody>
      </p:sp>
      <p:sp>
        <p:nvSpPr>
          <p:cNvPr id="72" name="Shape 70"/>
          <p:cNvSpPr/>
          <p:nvPr/>
        </p:nvSpPr>
        <p:spPr>
          <a:xfrm>
            <a:off x="788670" y="6988611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Text 71"/>
          <p:cNvSpPr/>
          <p:nvPr/>
        </p:nvSpPr>
        <p:spPr>
          <a:xfrm>
            <a:off x="893445" y="6372701"/>
            <a:ext cx="43624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125" dirty="0"/>
          </a:p>
        </p:txBody>
      </p:sp>
      <p:sp>
        <p:nvSpPr>
          <p:cNvPr id="74" name="Shape 72"/>
          <p:cNvSpPr/>
          <p:nvPr/>
        </p:nvSpPr>
        <p:spPr>
          <a:xfrm>
            <a:off x="1358265" y="6988611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Text 73"/>
          <p:cNvSpPr/>
          <p:nvPr/>
        </p:nvSpPr>
        <p:spPr>
          <a:xfrm>
            <a:off x="1463040" y="6372701"/>
            <a:ext cx="5155459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Round-trip efficiency (Li-ion)</a:t>
            </a:r>
            <a:endParaRPr lang="en-US" sz="1125" dirty="0"/>
          </a:p>
        </p:txBody>
      </p:sp>
      <p:sp>
        <p:nvSpPr>
          <p:cNvPr id="76" name="Shape 74"/>
          <p:cNvSpPr/>
          <p:nvPr/>
        </p:nvSpPr>
        <p:spPr>
          <a:xfrm>
            <a:off x="6567011" y="6988611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6595586" y="6372701"/>
            <a:ext cx="1446014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88%</a:t>
            </a:r>
            <a:endParaRPr lang="en-US" sz="1125" dirty="0"/>
          </a:p>
        </p:txBody>
      </p:sp>
      <p:sp>
        <p:nvSpPr>
          <p:cNvPr id="78" name="Shape 76"/>
          <p:cNvSpPr/>
          <p:nvPr/>
        </p:nvSpPr>
        <p:spPr>
          <a:xfrm>
            <a:off x="8146375" y="6988611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8174950" y="6372701"/>
            <a:ext cx="2277785" cy="587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80" name="Shape 78"/>
          <p:cNvSpPr/>
          <p:nvPr/>
        </p:nvSpPr>
        <p:spPr>
          <a:xfrm>
            <a:off x="788670" y="6996232"/>
            <a:ext cx="569595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81" name="Shape 79"/>
          <p:cNvSpPr/>
          <p:nvPr/>
        </p:nvSpPr>
        <p:spPr>
          <a:xfrm>
            <a:off x="788670" y="7763947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Text 80"/>
          <p:cNvSpPr/>
          <p:nvPr/>
        </p:nvSpPr>
        <p:spPr>
          <a:xfrm>
            <a:off x="893445" y="7062907"/>
            <a:ext cx="436245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1358265" y="6996232"/>
            <a:ext cx="5208747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84" name="Shape 82"/>
          <p:cNvSpPr/>
          <p:nvPr/>
        </p:nvSpPr>
        <p:spPr>
          <a:xfrm>
            <a:off x="1358265" y="7763947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Text 83"/>
          <p:cNvSpPr/>
          <p:nvPr/>
        </p:nvSpPr>
        <p:spPr>
          <a:xfrm>
            <a:off x="1463040" y="7062907"/>
            <a:ext cx="5155459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Usable energy for 8 PM peak</a:t>
            </a:r>
            <a:endParaRPr lang="en-US" sz="1125" dirty="0"/>
          </a:p>
        </p:txBody>
      </p:sp>
      <p:sp>
        <p:nvSpPr>
          <p:cNvPr id="86" name="Shape 84"/>
          <p:cNvSpPr/>
          <p:nvPr/>
        </p:nvSpPr>
        <p:spPr>
          <a:xfrm>
            <a:off x="6567011" y="6996232"/>
            <a:ext cx="1579364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87" name="Shape 85"/>
          <p:cNvSpPr/>
          <p:nvPr/>
        </p:nvSpPr>
        <p:spPr>
          <a:xfrm>
            <a:off x="6567011" y="7763947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Text 86"/>
          <p:cNvSpPr/>
          <p:nvPr/>
        </p:nvSpPr>
        <p:spPr>
          <a:xfrm>
            <a:off x="6595586" y="7062907"/>
            <a:ext cx="1446014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89" name="Shape 87"/>
          <p:cNvSpPr/>
          <p:nvPr/>
        </p:nvSpPr>
        <p:spPr>
          <a:xfrm>
            <a:off x="8146375" y="6996232"/>
            <a:ext cx="2411135" cy="77533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90" name="Shape 88"/>
          <p:cNvSpPr/>
          <p:nvPr/>
        </p:nvSpPr>
        <p:spPr>
          <a:xfrm>
            <a:off x="8146375" y="7763947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1" name="Text 89"/>
          <p:cNvSpPr/>
          <p:nvPr/>
        </p:nvSpPr>
        <p:spPr>
          <a:xfrm>
            <a:off x="8174950" y="7062907"/>
            <a:ext cx="2277785" cy="67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106 GWh</a:t>
            </a:r>
            <a:endParaRPr lang="en-US" sz="1125" dirty="0"/>
          </a:p>
        </p:txBody>
      </p:sp>
      <p:sp>
        <p:nvSpPr>
          <p:cNvPr id="92" name="Shape 90"/>
          <p:cNvSpPr/>
          <p:nvPr/>
        </p:nvSpPr>
        <p:spPr>
          <a:xfrm>
            <a:off x="788670" y="8462606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3" name="Text 91"/>
          <p:cNvSpPr/>
          <p:nvPr/>
        </p:nvSpPr>
        <p:spPr>
          <a:xfrm>
            <a:off x="893445" y="7838242"/>
            <a:ext cx="436245" cy="5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</a:t>
            </a:r>
            <a:endParaRPr lang="en-US" sz="1125" dirty="0"/>
          </a:p>
        </p:txBody>
      </p:sp>
      <p:sp>
        <p:nvSpPr>
          <p:cNvPr id="94" name="Shape 92"/>
          <p:cNvSpPr/>
          <p:nvPr/>
        </p:nvSpPr>
        <p:spPr>
          <a:xfrm>
            <a:off x="1358265" y="8462606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5" name="Text 93"/>
          <p:cNvSpPr/>
          <p:nvPr/>
        </p:nvSpPr>
        <p:spPr>
          <a:xfrm>
            <a:off x="1463040" y="7838242"/>
            <a:ext cx="5155459" cy="5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Required discharge duration</a:t>
            </a:r>
            <a:endParaRPr lang="en-US" sz="1125" dirty="0"/>
          </a:p>
        </p:txBody>
      </p:sp>
      <p:sp>
        <p:nvSpPr>
          <p:cNvPr id="96" name="Shape 94"/>
          <p:cNvSpPr/>
          <p:nvPr/>
        </p:nvSpPr>
        <p:spPr>
          <a:xfrm>
            <a:off x="6567011" y="8462606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Text 95"/>
          <p:cNvSpPr/>
          <p:nvPr/>
        </p:nvSpPr>
        <p:spPr>
          <a:xfrm>
            <a:off x="6595586" y="7838242"/>
            <a:ext cx="1446014" cy="5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÷ 4 h</a:t>
            </a:r>
            <a:endParaRPr lang="en-US" sz="1125" dirty="0"/>
          </a:p>
        </p:txBody>
      </p:sp>
      <p:sp>
        <p:nvSpPr>
          <p:cNvPr id="98" name="Shape 96"/>
          <p:cNvSpPr/>
          <p:nvPr/>
        </p:nvSpPr>
        <p:spPr>
          <a:xfrm>
            <a:off x="8146375" y="8462606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9" name="Text 97"/>
          <p:cNvSpPr/>
          <p:nvPr/>
        </p:nvSpPr>
        <p:spPr>
          <a:xfrm>
            <a:off x="8174950" y="7838242"/>
            <a:ext cx="2277785" cy="595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100" name="Shape 98"/>
          <p:cNvSpPr/>
          <p:nvPr/>
        </p:nvSpPr>
        <p:spPr>
          <a:xfrm>
            <a:off x="788670" y="8470225"/>
            <a:ext cx="569595" cy="78426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01" name="Shape 99"/>
          <p:cNvSpPr/>
          <p:nvPr/>
        </p:nvSpPr>
        <p:spPr>
          <a:xfrm>
            <a:off x="788670" y="9246870"/>
            <a:ext cx="5695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88670" y="8470225"/>
            <a:ext cx="569595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03" name="Text 101"/>
          <p:cNvSpPr/>
          <p:nvPr/>
        </p:nvSpPr>
        <p:spPr>
          <a:xfrm>
            <a:off x="893445" y="8552140"/>
            <a:ext cx="436245" cy="66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</a:t>
            </a:r>
            <a:endParaRPr lang="en-US" sz="1125" dirty="0"/>
          </a:p>
        </p:txBody>
      </p:sp>
      <p:sp>
        <p:nvSpPr>
          <p:cNvPr id="104" name="Shape 102"/>
          <p:cNvSpPr/>
          <p:nvPr/>
        </p:nvSpPr>
        <p:spPr>
          <a:xfrm>
            <a:off x="1358265" y="8470225"/>
            <a:ext cx="5208747" cy="78426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358265" y="9246870"/>
            <a:ext cx="520874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358265" y="8470225"/>
            <a:ext cx="5208747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07" name="Text 105"/>
          <p:cNvSpPr/>
          <p:nvPr/>
        </p:nvSpPr>
        <p:spPr>
          <a:xfrm>
            <a:off x="1463040" y="8552140"/>
            <a:ext cx="5155459" cy="66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= BESS power capacity needed</a:t>
            </a:r>
            <a:endParaRPr lang="en-US" sz="1125" dirty="0"/>
          </a:p>
        </p:txBody>
      </p:sp>
      <p:sp>
        <p:nvSpPr>
          <p:cNvPr id="108" name="Shape 106"/>
          <p:cNvSpPr/>
          <p:nvPr/>
        </p:nvSpPr>
        <p:spPr>
          <a:xfrm>
            <a:off x="6567011" y="8470225"/>
            <a:ext cx="1579364" cy="78426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567011" y="9246870"/>
            <a:ext cx="157936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567011" y="8470225"/>
            <a:ext cx="1579364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1" name="Text 109"/>
          <p:cNvSpPr/>
          <p:nvPr/>
        </p:nvSpPr>
        <p:spPr>
          <a:xfrm>
            <a:off x="6595586" y="8552140"/>
            <a:ext cx="1446014" cy="66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</a:t>
            </a:r>
            <a:endParaRPr lang="en-US" sz="1125" dirty="0"/>
          </a:p>
        </p:txBody>
      </p:sp>
      <p:sp>
        <p:nvSpPr>
          <p:cNvPr id="112" name="Shape 110"/>
          <p:cNvSpPr/>
          <p:nvPr/>
        </p:nvSpPr>
        <p:spPr>
          <a:xfrm>
            <a:off x="8146375" y="8470225"/>
            <a:ext cx="2411135" cy="78426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146375" y="9246870"/>
            <a:ext cx="24111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46375" y="8470225"/>
            <a:ext cx="2411135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5" name="Text 113"/>
          <p:cNvSpPr/>
          <p:nvPr/>
        </p:nvSpPr>
        <p:spPr>
          <a:xfrm>
            <a:off x="8174950" y="8552140"/>
            <a:ext cx="2277785" cy="666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1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26 GW</a:t>
            </a:r>
            <a:endParaRPr lang="en-US" sz="1125" dirty="0"/>
          </a:p>
        </p:txBody>
      </p:sp>
      <p:sp>
        <p:nvSpPr>
          <p:cNvPr id="116" name="Text 114"/>
          <p:cNvSpPr/>
          <p:nvPr/>
        </p:nvSpPr>
        <p:spPr>
          <a:xfrm>
            <a:off x="788670" y="9353550"/>
            <a:ext cx="1006190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National estimate (load variability + reserve + geography): </a:t>
            </a:r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GWh </a:t>
            </a:r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Initial 30 GWh tranche capex: </a:t>
            </a:r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~₹12,000 Crore</a:t>
            </a:r>
            <a:endParaRPr lang="en-US" sz="975" dirty="0"/>
          </a:p>
        </p:txBody>
      </p:sp>
      <p:sp>
        <p:nvSpPr>
          <p:cNvPr id="117" name="Shape 115"/>
          <p:cNvSpPr/>
          <p:nvPr/>
        </p:nvSpPr>
        <p:spPr>
          <a:xfrm>
            <a:off x="10927081" y="1921192"/>
            <a:ext cx="3328035" cy="776288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1106150" y="2062163"/>
            <a:ext cx="3058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~4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2250" dirty="0"/>
          </a:p>
        </p:txBody>
      </p:sp>
      <p:sp>
        <p:nvSpPr>
          <p:cNvPr id="119" name="Text 117"/>
          <p:cNvSpPr/>
          <p:nvPr/>
        </p:nvSpPr>
        <p:spPr>
          <a:xfrm>
            <a:off x="11106150" y="2395538"/>
            <a:ext cx="3058992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BESS today</a:t>
            </a:r>
            <a:endParaRPr lang="en-US" sz="975" dirty="0"/>
          </a:p>
        </p:txBody>
      </p:sp>
      <p:sp>
        <p:nvSpPr>
          <p:cNvPr id="120" name="Shape 118"/>
          <p:cNvSpPr/>
          <p:nvPr/>
        </p:nvSpPr>
        <p:spPr>
          <a:xfrm>
            <a:off x="14350365" y="1921192"/>
            <a:ext cx="3328035" cy="776288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4529435" y="2062163"/>
            <a:ext cx="305899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300–500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1800" dirty="0"/>
          </a:p>
        </p:txBody>
      </p:sp>
      <p:sp>
        <p:nvSpPr>
          <p:cNvPr id="122" name="Text 120"/>
          <p:cNvSpPr/>
          <p:nvPr/>
        </p:nvSpPr>
        <p:spPr>
          <a:xfrm>
            <a:off x="14529435" y="2338388"/>
            <a:ext cx="3058992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Requirement</a:t>
            </a:r>
            <a:endParaRPr lang="en-US" sz="975" dirty="0"/>
          </a:p>
        </p:txBody>
      </p:sp>
      <p:sp>
        <p:nvSpPr>
          <p:cNvPr id="123" name="Shape 121"/>
          <p:cNvSpPr/>
          <p:nvPr/>
        </p:nvSpPr>
        <p:spPr>
          <a:xfrm>
            <a:off x="10927081" y="2792730"/>
            <a:ext cx="3328035" cy="79152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1106150" y="2933700"/>
            <a:ext cx="3058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75–125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</a:t>
            </a:r>
            <a:endParaRPr lang="en-US" sz="2250" dirty="0"/>
          </a:p>
        </p:txBody>
      </p:sp>
      <p:sp>
        <p:nvSpPr>
          <p:cNvPr id="125" name="Text 123"/>
          <p:cNvSpPr/>
          <p:nvPr/>
        </p:nvSpPr>
        <p:spPr>
          <a:xfrm>
            <a:off x="11106150" y="3267075"/>
            <a:ext cx="3058992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 gap</a:t>
            </a:r>
            <a:endParaRPr lang="en-US" sz="975" dirty="0"/>
          </a:p>
        </p:txBody>
      </p:sp>
      <p:sp>
        <p:nvSpPr>
          <p:cNvPr id="126" name="Shape 124"/>
          <p:cNvSpPr/>
          <p:nvPr/>
        </p:nvSpPr>
        <p:spPr>
          <a:xfrm>
            <a:off x="14350365" y="3576638"/>
            <a:ext cx="332803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4350365" y="2792730"/>
            <a:ext cx="3328035" cy="228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4350365" y="2792730"/>
            <a:ext cx="9525" cy="79152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7670780" y="2792730"/>
            <a:ext cx="9525" cy="79152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0" name="Text 128"/>
          <p:cNvSpPr/>
          <p:nvPr/>
        </p:nvSpPr>
        <p:spPr>
          <a:xfrm>
            <a:off x="14529435" y="2948940"/>
            <a:ext cx="305899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₹12k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</a:t>
            </a:r>
            <a:endParaRPr lang="en-US" sz="2250" dirty="0"/>
          </a:p>
        </p:txBody>
      </p:sp>
      <p:sp>
        <p:nvSpPr>
          <p:cNvPr id="131" name="Text 129"/>
          <p:cNvSpPr/>
          <p:nvPr/>
        </p:nvSpPr>
        <p:spPr>
          <a:xfrm>
            <a:off x="14529435" y="3282315"/>
            <a:ext cx="3058992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Initial capex</a:t>
            </a:r>
            <a:endParaRPr lang="en-US" sz="975" dirty="0"/>
          </a:p>
        </p:txBody>
      </p:sp>
      <p:sp>
        <p:nvSpPr>
          <p:cNvPr id="132" name="Shape 130"/>
          <p:cNvSpPr/>
          <p:nvPr/>
        </p:nvSpPr>
        <p:spPr>
          <a:xfrm>
            <a:off x="10927081" y="3679508"/>
            <a:ext cx="6751320" cy="5289232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1068050" y="3801428"/>
            <a:ext cx="666346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5B COUNTERFACTUAL — COAL AT 8PM IN 4 SCENARIOS</a:t>
            </a:r>
            <a:endParaRPr lang="en-US" sz="825" dirty="0"/>
          </a:p>
        </p:txBody>
      </p:sp>
      <p:sp>
        <p:nvSpPr>
          <p:cNvPr id="134" name="Shape 132"/>
          <p:cNvSpPr/>
          <p:nvPr/>
        </p:nvSpPr>
        <p:spPr>
          <a:xfrm>
            <a:off x="11068050" y="3991928"/>
            <a:ext cx="1574483" cy="7467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113770" y="4075747"/>
            <a:ext cx="14830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</a:t>
            </a:r>
            <a:endParaRPr lang="en-US" sz="1950" dirty="0"/>
          </a:p>
        </p:txBody>
      </p:sp>
      <p:sp>
        <p:nvSpPr>
          <p:cNvPr id="136" name="Text 134"/>
          <p:cNvSpPr/>
          <p:nvPr/>
        </p:nvSpPr>
        <p:spPr>
          <a:xfrm>
            <a:off x="11113770" y="4426268"/>
            <a:ext cx="1483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Today 150 GW solar</a:t>
            </a:r>
            <a:endParaRPr lang="en-US" sz="825" dirty="0"/>
          </a:p>
        </p:txBody>
      </p:sp>
      <p:sp>
        <p:nvSpPr>
          <p:cNvPr id="137" name="Shape 135"/>
          <p:cNvSpPr/>
          <p:nvPr/>
        </p:nvSpPr>
        <p:spPr>
          <a:xfrm>
            <a:off x="12699683" y="3991928"/>
            <a:ext cx="1574483" cy="7467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2745402" y="4075747"/>
            <a:ext cx="14830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</a:t>
            </a:r>
            <a:endParaRPr lang="en-US" sz="1950" dirty="0"/>
          </a:p>
        </p:txBody>
      </p:sp>
      <p:sp>
        <p:nvSpPr>
          <p:cNvPr id="139" name="Text 137"/>
          <p:cNvSpPr/>
          <p:nvPr/>
        </p:nvSpPr>
        <p:spPr>
          <a:xfrm>
            <a:off x="12745402" y="4426268"/>
            <a:ext cx="1483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+Carbon tax ₹572/MWh</a:t>
            </a:r>
            <a:endParaRPr lang="en-US" sz="825" dirty="0"/>
          </a:p>
        </p:txBody>
      </p:sp>
      <p:sp>
        <p:nvSpPr>
          <p:cNvPr id="140" name="Shape 138"/>
          <p:cNvSpPr/>
          <p:nvPr/>
        </p:nvSpPr>
        <p:spPr>
          <a:xfrm>
            <a:off x="14331315" y="3991928"/>
            <a:ext cx="1574483" cy="74676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4377035" y="4075747"/>
            <a:ext cx="14830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110</a:t>
            </a:r>
            <a:endParaRPr lang="en-US" sz="1950" dirty="0"/>
          </a:p>
        </p:txBody>
      </p:sp>
      <p:sp>
        <p:nvSpPr>
          <p:cNvPr id="142" name="Text 140"/>
          <p:cNvSpPr/>
          <p:nvPr/>
        </p:nvSpPr>
        <p:spPr>
          <a:xfrm>
            <a:off x="14377035" y="4426268"/>
            <a:ext cx="1483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+300 GWh BESS</a:t>
            </a:r>
            <a:endParaRPr lang="en-US" sz="825" dirty="0"/>
          </a:p>
        </p:txBody>
      </p:sp>
      <p:sp>
        <p:nvSpPr>
          <p:cNvPr id="143" name="Shape 141"/>
          <p:cNvSpPr/>
          <p:nvPr/>
        </p:nvSpPr>
        <p:spPr>
          <a:xfrm>
            <a:off x="15962948" y="3991928"/>
            <a:ext cx="1574483" cy="746760"/>
          </a:xfrm>
          <a:prstGeom prst="rect">
            <a:avLst/>
          </a:prstGeom>
          <a:solidFill>
            <a:srgbClr val="F8FAF7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008668" y="4075747"/>
            <a:ext cx="14830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</a:t>
            </a:r>
            <a:endParaRPr lang="en-US" sz="1950" dirty="0"/>
          </a:p>
        </p:txBody>
      </p:sp>
      <p:sp>
        <p:nvSpPr>
          <p:cNvPr id="145" name="Text 143"/>
          <p:cNvSpPr/>
          <p:nvPr/>
        </p:nvSpPr>
        <p:spPr>
          <a:xfrm>
            <a:off x="16008668" y="4426268"/>
            <a:ext cx="14830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500 GW +500 GWh</a:t>
            </a:r>
            <a:endParaRPr lang="en-US" sz="825" dirty="0"/>
          </a:p>
        </p:txBody>
      </p:sp>
      <p:sp>
        <p:nvSpPr>
          <p:cNvPr id="146" name="Shape 144"/>
          <p:cNvSpPr/>
          <p:nvPr/>
        </p:nvSpPr>
        <p:spPr>
          <a:xfrm>
            <a:off x="11068050" y="4814888"/>
            <a:ext cx="22860" cy="259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7" name="Text 145"/>
          <p:cNvSpPr/>
          <p:nvPr/>
        </p:nvSpPr>
        <p:spPr>
          <a:xfrm>
            <a:off x="11167110" y="4814888"/>
            <a:ext cx="65644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finding: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does not disappear at peak even at 500 GW solar + 500 GWh BESS. Full decarbonisation requires &gt;800 GWh or clean dispatchable alternatives.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10927081" y="9063990"/>
            <a:ext cx="6751320" cy="57531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927081" y="9063990"/>
            <a:ext cx="38100" cy="57531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50" name="Text 148"/>
          <p:cNvSpPr/>
          <p:nvPr/>
        </p:nvSpPr>
        <p:spPr>
          <a:xfrm>
            <a:off x="11117581" y="9197340"/>
            <a:ext cx="876419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IMPLICATION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12032099" y="9178290"/>
            <a:ext cx="5658718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75–125× gap cannot close via markets alone. Policy mandates + VGF + concessional capital essential.</a:t>
            </a:r>
            <a:endParaRPr lang="en-US" sz="975" dirty="0"/>
          </a:p>
        </p:txBody>
      </p:sp>
      <p:sp>
        <p:nvSpPr>
          <p:cNvPr id="152" name="Shape 150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3" name="Text 151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7159228" y="9986010"/>
            <a:ext cx="525733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model · CEA daily RE generation 2019–25 · RTE benchmark 88% · PuLP counterfactual</a:t>
            </a:r>
            <a:endParaRPr lang="en-US" sz="900" dirty="0"/>
          </a:p>
        </p:txBody>
      </p:sp>
      <p:sp>
        <p:nvSpPr>
          <p:cNvPr id="155" name="Text 153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05 · ECONOMIC ANALYSIS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NPV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+₹11.7k Cr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Coal underpriced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₹572/MWh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Solar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₹1.5/kWh at 400 GW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5575221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670" y="2062163"/>
            <a:ext cx="5373593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09A · CBA · 25-YEAR · 10% WACC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88670" y="2187892"/>
            <a:ext cx="537359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investment NPV waterfall (₹k Crore)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8670" y="2439353"/>
            <a:ext cx="247995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9" name="Text 7"/>
          <p:cNvSpPr/>
          <p:nvPr/>
        </p:nvSpPr>
        <p:spPr>
          <a:xfrm>
            <a:off x="874395" y="2496503"/>
            <a:ext cx="238470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Component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3268623" y="2439353"/>
            <a:ext cx="732115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" name="Text 9"/>
          <p:cNvSpPr/>
          <p:nvPr/>
        </p:nvSpPr>
        <p:spPr>
          <a:xfrm>
            <a:off x="3278148" y="2496503"/>
            <a:ext cx="6368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₹k Cr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4000738" y="2439353"/>
            <a:ext cx="200501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" name="Text 11"/>
          <p:cNvSpPr/>
          <p:nvPr/>
        </p:nvSpPr>
        <p:spPr>
          <a:xfrm>
            <a:off x="4086463" y="2496503"/>
            <a:ext cx="19097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Notes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788670" y="2667953"/>
            <a:ext cx="2479953" cy="998696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88670" y="3659029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Text 14"/>
          <p:cNvSpPr/>
          <p:nvPr/>
        </p:nvSpPr>
        <p:spPr>
          <a:xfrm>
            <a:off x="874395" y="2715578"/>
            <a:ext cx="2384703" cy="93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Capex (30 GWh · ₹4 Cr/MWh)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3268623" y="2667953"/>
            <a:ext cx="732115" cy="998696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8" name="Shape 16"/>
          <p:cNvSpPr/>
          <p:nvPr/>
        </p:nvSpPr>
        <p:spPr>
          <a:xfrm>
            <a:off x="3268623" y="3659029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Text 17"/>
          <p:cNvSpPr/>
          <p:nvPr/>
        </p:nvSpPr>
        <p:spPr>
          <a:xfrm>
            <a:off x="3278148" y="2715578"/>
            <a:ext cx="636865" cy="93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−12.0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000738" y="2667953"/>
            <a:ext cx="2005013" cy="998696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000738" y="3659029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4086463" y="2715578"/>
            <a:ext cx="1909763" cy="933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FY2026 outlay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788670" y="4673322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874395" y="3714274"/>
            <a:ext cx="238470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Peak savings (PV, 25 yr)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3268623" y="4673322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3278148" y="3714274"/>
            <a:ext cx="636865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+18.0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4000738" y="4673322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4086463" y="3714274"/>
            <a:ext cx="190976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vs. gas peakers ₹8/kWh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788670" y="4680942"/>
            <a:ext cx="2479953" cy="101429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88670" y="5687616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874395" y="4728567"/>
            <a:ext cx="238470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Ancillary revenue (PV)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3268623" y="4680942"/>
            <a:ext cx="732115" cy="101429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3" name="Shape 31"/>
          <p:cNvSpPr/>
          <p:nvPr/>
        </p:nvSpPr>
        <p:spPr>
          <a:xfrm>
            <a:off x="3268623" y="5687616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3278148" y="4728567"/>
            <a:ext cx="636865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+4.0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4000738" y="4680942"/>
            <a:ext cx="2005013" cy="101429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6" name="Shape 34"/>
          <p:cNvSpPr/>
          <p:nvPr/>
        </p:nvSpPr>
        <p:spPr>
          <a:xfrm>
            <a:off x="4000738" y="5687616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4086463" y="4728567"/>
            <a:ext cx="190976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Freq. reg + spinning reserve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788670" y="6701909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7"/>
          <p:cNvSpPr/>
          <p:nvPr/>
        </p:nvSpPr>
        <p:spPr>
          <a:xfrm>
            <a:off x="874395" y="5742861"/>
            <a:ext cx="238470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Opex (PV)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3268623" y="6701909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3278148" y="5742861"/>
            <a:ext cx="636865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−3.0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4000738" y="6701909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/>
          <p:nvPr/>
        </p:nvSpPr>
        <p:spPr>
          <a:xfrm>
            <a:off x="4086463" y="5742861"/>
            <a:ext cx="1909763" cy="9495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Maintenance + insurance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788670" y="6709529"/>
            <a:ext cx="2479953" cy="1029891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5" name="Shape 43"/>
          <p:cNvSpPr/>
          <p:nvPr/>
        </p:nvSpPr>
        <p:spPr>
          <a:xfrm>
            <a:off x="788670" y="7731800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874395" y="6757154"/>
            <a:ext cx="2384703" cy="965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Terminal value (PV)</a:t>
            </a:r>
            <a:endParaRPr lang="en-US" sz="975" dirty="0"/>
          </a:p>
        </p:txBody>
      </p:sp>
      <p:sp>
        <p:nvSpPr>
          <p:cNvPr id="47" name="Shape 45"/>
          <p:cNvSpPr/>
          <p:nvPr/>
        </p:nvSpPr>
        <p:spPr>
          <a:xfrm>
            <a:off x="3268623" y="6709529"/>
            <a:ext cx="732115" cy="1029891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48" name="Shape 46"/>
          <p:cNvSpPr/>
          <p:nvPr/>
        </p:nvSpPr>
        <p:spPr>
          <a:xfrm>
            <a:off x="3268623" y="7731800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9" name="Text 47"/>
          <p:cNvSpPr/>
          <p:nvPr/>
        </p:nvSpPr>
        <p:spPr>
          <a:xfrm>
            <a:off x="3278148" y="6757154"/>
            <a:ext cx="636865" cy="965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+5.0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4000738" y="6709529"/>
            <a:ext cx="2005013" cy="1029891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1" name="Shape 49"/>
          <p:cNvSpPr/>
          <p:nvPr/>
        </p:nvSpPr>
        <p:spPr>
          <a:xfrm>
            <a:off x="4000738" y="7731800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4086463" y="6757154"/>
            <a:ext cx="1909763" cy="965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Cell recycling + repurpose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788670" y="7739420"/>
            <a:ext cx="2479953" cy="115502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54" name="Shape 52"/>
          <p:cNvSpPr/>
          <p:nvPr/>
        </p:nvSpPr>
        <p:spPr>
          <a:xfrm>
            <a:off x="788670" y="8886825"/>
            <a:ext cx="247995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5" name="Shape 53"/>
          <p:cNvSpPr/>
          <p:nvPr/>
        </p:nvSpPr>
        <p:spPr>
          <a:xfrm>
            <a:off x="788670" y="7739420"/>
            <a:ext cx="247995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56" name="Text 54"/>
          <p:cNvSpPr/>
          <p:nvPr/>
        </p:nvSpPr>
        <p:spPr>
          <a:xfrm>
            <a:off x="874395" y="7802285"/>
            <a:ext cx="2384703" cy="1075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Net Present Value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3268623" y="7739420"/>
            <a:ext cx="732115" cy="115502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58" name="Shape 56"/>
          <p:cNvSpPr/>
          <p:nvPr/>
        </p:nvSpPr>
        <p:spPr>
          <a:xfrm>
            <a:off x="3268623" y="8886825"/>
            <a:ext cx="73211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9" name="Shape 57"/>
          <p:cNvSpPr/>
          <p:nvPr/>
        </p:nvSpPr>
        <p:spPr>
          <a:xfrm>
            <a:off x="3268623" y="7739420"/>
            <a:ext cx="732115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60" name="Text 58"/>
          <p:cNvSpPr/>
          <p:nvPr/>
        </p:nvSpPr>
        <p:spPr>
          <a:xfrm>
            <a:off x="3278148" y="7802285"/>
            <a:ext cx="636865" cy="1075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+11.7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4000738" y="7739420"/>
            <a:ext cx="2005013" cy="115502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62" name="Shape 60"/>
          <p:cNvSpPr/>
          <p:nvPr/>
        </p:nvSpPr>
        <p:spPr>
          <a:xfrm>
            <a:off x="4000738" y="8886825"/>
            <a:ext cx="200501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Shape 61"/>
          <p:cNvSpPr/>
          <p:nvPr/>
        </p:nvSpPr>
        <p:spPr>
          <a:xfrm>
            <a:off x="4000738" y="7739420"/>
            <a:ext cx="200501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64" name="Text 62"/>
          <p:cNvSpPr/>
          <p:nvPr/>
        </p:nvSpPr>
        <p:spPr>
          <a:xfrm>
            <a:off x="4086463" y="7802285"/>
            <a:ext cx="1909763" cy="1075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Robust ±20% cost swing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788670" y="8898255"/>
            <a:ext cx="521708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6" name="Text 64"/>
          <p:cNvSpPr/>
          <p:nvPr/>
        </p:nvSpPr>
        <p:spPr>
          <a:xfrm>
            <a:off x="788670" y="9001125"/>
            <a:ext cx="53735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+₹11.7k Cr</a:t>
            </a:r>
            <a:endParaRPr lang="en-US" sz="2550" dirty="0"/>
          </a:p>
        </p:txBody>
      </p:sp>
      <p:sp>
        <p:nvSpPr>
          <p:cNvPr id="67" name="Text 65"/>
          <p:cNvSpPr/>
          <p:nvPr/>
        </p:nvSpPr>
        <p:spPr>
          <a:xfrm>
            <a:off x="788670" y="9353550"/>
            <a:ext cx="537359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NPV positive · payback </a:t>
            </a:r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7.1 years @ 10% WACC</a:t>
            </a:r>
            <a:endParaRPr lang="en-US" sz="975" dirty="0"/>
          </a:p>
        </p:txBody>
      </p:sp>
      <p:sp>
        <p:nvSpPr>
          <p:cNvPr id="68" name="Shape 66"/>
          <p:cNvSpPr/>
          <p:nvPr/>
        </p:nvSpPr>
        <p:spPr>
          <a:xfrm>
            <a:off x="6356271" y="1921192"/>
            <a:ext cx="557534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35341" y="2062163"/>
            <a:ext cx="537371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09B · PIGOUVIAN ANALYSIS · CICERO EMISSIONS INTENSITY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535341" y="2187892"/>
            <a:ext cx="537371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market price vs. social cost (₹/MWh)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535341" y="2439353"/>
            <a:ext cx="4044434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72" name="Text 70"/>
          <p:cNvSpPr/>
          <p:nvPr/>
        </p:nvSpPr>
        <p:spPr>
          <a:xfrm>
            <a:off x="6621066" y="2496503"/>
            <a:ext cx="399431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Component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10579775" y="2439353"/>
            <a:ext cx="1172766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74" name="Text 72"/>
          <p:cNvSpPr/>
          <p:nvPr/>
        </p:nvSpPr>
        <p:spPr>
          <a:xfrm>
            <a:off x="10589300" y="2496503"/>
            <a:ext cx="10775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₹/MWh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6535341" y="2667953"/>
            <a:ext cx="4044434" cy="103465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6" name="Shape 74"/>
          <p:cNvSpPr/>
          <p:nvPr/>
        </p:nvSpPr>
        <p:spPr>
          <a:xfrm>
            <a:off x="6535341" y="3694986"/>
            <a:ext cx="40444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6621066" y="2715578"/>
            <a:ext cx="3994317" cy="969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 price of coal generation</a:t>
            </a:r>
            <a:endParaRPr lang="en-US" sz="975" dirty="0"/>
          </a:p>
        </p:txBody>
      </p:sp>
      <p:sp>
        <p:nvSpPr>
          <p:cNvPr id="78" name="Shape 76"/>
          <p:cNvSpPr/>
          <p:nvPr/>
        </p:nvSpPr>
        <p:spPr>
          <a:xfrm>
            <a:off x="10579775" y="2667953"/>
            <a:ext cx="1172766" cy="1034653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9" name="Shape 77"/>
          <p:cNvSpPr/>
          <p:nvPr/>
        </p:nvSpPr>
        <p:spPr>
          <a:xfrm>
            <a:off x="10579775" y="3694986"/>
            <a:ext cx="11727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Text 78"/>
          <p:cNvSpPr/>
          <p:nvPr/>
        </p:nvSpPr>
        <p:spPr>
          <a:xfrm>
            <a:off x="10589300" y="2715578"/>
            <a:ext cx="1077516" cy="969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2,175</a:t>
            </a:r>
            <a:endParaRPr lang="en-US" sz="975" dirty="0"/>
          </a:p>
        </p:txBody>
      </p:sp>
      <p:sp>
        <p:nvSpPr>
          <p:cNvPr id="81" name="Shape 79"/>
          <p:cNvSpPr/>
          <p:nvPr/>
        </p:nvSpPr>
        <p:spPr>
          <a:xfrm>
            <a:off x="6535341" y="4778097"/>
            <a:ext cx="40444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2" name="Text 80"/>
          <p:cNvSpPr/>
          <p:nvPr/>
        </p:nvSpPr>
        <p:spPr>
          <a:xfrm>
            <a:off x="6621066" y="3750231"/>
            <a:ext cx="3994317" cy="1018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CO₂ emissions damage</a:t>
            </a:r>
            <a:endParaRPr lang="en-US" sz="975" dirty="0"/>
          </a:p>
        </p:txBody>
      </p:sp>
      <p:sp>
        <p:nvSpPr>
          <p:cNvPr id="83" name="Shape 81"/>
          <p:cNvSpPr/>
          <p:nvPr/>
        </p:nvSpPr>
        <p:spPr>
          <a:xfrm>
            <a:off x="10579775" y="4778097"/>
            <a:ext cx="11727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Text 82"/>
          <p:cNvSpPr/>
          <p:nvPr/>
        </p:nvSpPr>
        <p:spPr>
          <a:xfrm>
            <a:off x="10589300" y="3750231"/>
            <a:ext cx="1077516" cy="1018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+390</a:t>
            </a:r>
            <a:endParaRPr lang="en-US" sz="975" dirty="0"/>
          </a:p>
        </p:txBody>
      </p:sp>
      <p:sp>
        <p:nvSpPr>
          <p:cNvPr id="85" name="Shape 83"/>
          <p:cNvSpPr/>
          <p:nvPr/>
        </p:nvSpPr>
        <p:spPr>
          <a:xfrm>
            <a:off x="6535341" y="4785717"/>
            <a:ext cx="4044434" cy="1050846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6" name="Shape 84"/>
          <p:cNvSpPr/>
          <p:nvPr/>
        </p:nvSpPr>
        <p:spPr>
          <a:xfrm>
            <a:off x="6535341" y="5828943"/>
            <a:ext cx="40444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7" name="Text 85"/>
          <p:cNvSpPr/>
          <p:nvPr/>
        </p:nvSpPr>
        <p:spPr>
          <a:xfrm>
            <a:off x="6621066" y="4833342"/>
            <a:ext cx="3994317" cy="986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Air quality (PM2.5, NOₓ, SOₓ)</a:t>
            </a:r>
            <a:endParaRPr lang="en-US" sz="975" dirty="0"/>
          </a:p>
        </p:txBody>
      </p:sp>
      <p:sp>
        <p:nvSpPr>
          <p:cNvPr id="88" name="Shape 86"/>
          <p:cNvSpPr/>
          <p:nvPr/>
        </p:nvSpPr>
        <p:spPr>
          <a:xfrm>
            <a:off x="10579775" y="4785717"/>
            <a:ext cx="1172766" cy="1050846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89" name="Shape 87"/>
          <p:cNvSpPr/>
          <p:nvPr/>
        </p:nvSpPr>
        <p:spPr>
          <a:xfrm>
            <a:off x="10579775" y="5828943"/>
            <a:ext cx="11727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0" name="Text 88"/>
          <p:cNvSpPr/>
          <p:nvPr/>
        </p:nvSpPr>
        <p:spPr>
          <a:xfrm>
            <a:off x="10589300" y="4833342"/>
            <a:ext cx="1077516" cy="986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+127</a:t>
            </a:r>
            <a:endParaRPr lang="en-US" sz="975" dirty="0"/>
          </a:p>
        </p:txBody>
      </p:sp>
      <p:sp>
        <p:nvSpPr>
          <p:cNvPr id="91" name="Shape 89"/>
          <p:cNvSpPr/>
          <p:nvPr/>
        </p:nvSpPr>
        <p:spPr>
          <a:xfrm>
            <a:off x="6535341" y="6895862"/>
            <a:ext cx="40444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Text 90"/>
          <p:cNvSpPr/>
          <p:nvPr/>
        </p:nvSpPr>
        <p:spPr>
          <a:xfrm>
            <a:off x="6621066" y="5884188"/>
            <a:ext cx="3994317" cy="1002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 Water usage externality</a:t>
            </a:r>
            <a:endParaRPr lang="en-US" sz="975" dirty="0"/>
          </a:p>
        </p:txBody>
      </p:sp>
      <p:sp>
        <p:nvSpPr>
          <p:cNvPr id="93" name="Shape 91"/>
          <p:cNvSpPr/>
          <p:nvPr/>
        </p:nvSpPr>
        <p:spPr>
          <a:xfrm>
            <a:off x="10579775" y="6895862"/>
            <a:ext cx="11727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4" name="Text 92"/>
          <p:cNvSpPr/>
          <p:nvPr/>
        </p:nvSpPr>
        <p:spPr>
          <a:xfrm>
            <a:off x="10589300" y="5884188"/>
            <a:ext cx="1077516" cy="1002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+55</a:t>
            </a:r>
            <a:endParaRPr lang="en-US" sz="975" dirty="0"/>
          </a:p>
        </p:txBody>
      </p:sp>
      <p:sp>
        <p:nvSpPr>
          <p:cNvPr id="95" name="Shape 93"/>
          <p:cNvSpPr/>
          <p:nvPr/>
        </p:nvSpPr>
        <p:spPr>
          <a:xfrm>
            <a:off x="6535341" y="6903482"/>
            <a:ext cx="4044434" cy="1196578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96" name="Shape 94"/>
          <p:cNvSpPr/>
          <p:nvPr/>
        </p:nvSpPr>
        <p:spPr>
          <a:xfrm>
            <a:off x="6535341" y="8092440"/>
            <a:ext cx="40444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7" name="Shape 95"/>
          <p:cNvSpPr/>
          <p:nvPr/>
        </p:nvSpPr>
        <p:spPr>
          <a:xfrm>
            <a:off x="6535341" y="6903482"/>
            <a:ext cx="4044434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98" name="Text 96"/>
          <p:cNvSpPr/>
          <p:nvPr/>
        </p:nvSpPr>
        <p:spPr>
          <a:xfrm>
            <a:off x="6621066" y="6966347"/>
            <a:ext cx="3994317" cy="111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Social cost (true)</a:t>
            </a:r>
            <a:endParaRPr lang="en-US" sz="975" dirty="0"/>
          </a:p>
        </p:txBody>
      </p:sp>
      <p:sp>
        <p:nvSpPr>
          <p:cNvPr id="99" name="Shape 97"/>
          <p:cNvSpPr/>
          <p:nvPr/>
        </p:nvSpPr>
        <p:spPr>
          <a:xfrm>
            <a:off x="10579775" y="6903482"/>
            <a:ext cx="1172766" cy="1196578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579775" y="8092440"/>
            <a:ext cx="1172766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579775" y="6903482"/>
            <a:ext cx="1172766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589300" y="6966347"/>
            <a:ext cx="1077516" cy="11165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2,747</a:t>
            </a:r>
            <a:endParaRPr lang="en-US" sz="975" dirty="0"/>
          </a:p>
        </p:txBody>
      </p:sp>
      <p:sp>
        <p:nvSpPr>
          <p:cNvPr id="103" name="Shape 101"/>
          <p:cNvSpPr/>
          <p:nvPr/>
        </p:nvSpPr>
        <p:spPr>
          <a:xfrm>
            <a:off x="6535341" y="8180070"/>
            <a:ext cx="5217200" cy="718185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57261" y="8263890"/>
            <a:ext cx="51225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Pigouvian tax = social cost − market price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657261" y="8393430"/>
            <a:ext cx="5122561" cy="310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₹572/MWh gap</a:t>
            </a:r>
            <a:endParaRPr lang="en-US" sz="1950" dirty="0"/>
          </a:p>
        </p:txBody>
      </p:sp>
      <p:sp>
        <p:nvSpPr>
          <p:cNvPr id="106" name="Text 104"/>
          <p:cNvSpPr/>
          <p:nvPr/>
        </p:nvSpPr>
        <p:spPr>
          <a:xfrm>
            <a:off x="6657261" y="8684895"/>
            <a:ext cx="51225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underpriced by </a:t>
            </a:r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26%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 true cost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535341" y="8898255"/>
            <a:ext cx="521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8" name="Text 106"/>
          <p:cNvSpPr/>
          <p:nvPr/>
        </p:nvSpPr>
        <p:spPr>
          <a:xfrm>
            <a:off x="6535341" y="9001125"/>
            <a:ext cx="53737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₹80,000 Cr/yr</a:t>
            </a:r>
            <a:endParaRPr lang="en-US" sz="2550" dirty="0"/>
          </a:p>
        </p:txBody>
      </p:sp>
      <p:sp>
        <p:nvSpPr>
          <p:cNvPr id="109" name="Text 107"/>
          <p:cNvSpPr/>
          <p:nvPr/>
        </p:nvSpPr>
        <p:spPr>
          <a:xfrm>
            <a:off x="6535341" y="9353550"/>
            <a:ext cx="53737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 at ₹572/MWh · funds P1 &amp; P2 simultaneously from Day 1</a:t>
            </a:r>
            <a:endParaRPr lang="en-US" sz="975" dirty="0"/>
          </a:p>
        </p:txBody>
      </p:sp>
      <p:sp>
        <p:nvSpPr>
          <p:cNvPr id="110" name="Shape 108"/>
          <p:cNvSpPr/>
          <p:nvPr/>
        </p:nvSpPr>
        <p:spPr>
          <a:xfrm>
            <a:off x="12103060" y="1921192"/>
            <a:ext cx="5575340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2282131" y="2062163"/>
            <a:ext cx="537371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09C · WRIGHT'S LAW · 28% LEARNING RATE · IRENA BENCHMARK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2282131" y="2187892"/>
            <a:ext cx="537371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LCOE vs. cumulative capacity (₹/kWh)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12282131" y="2439353"/>
            <a:ext cx="1441609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4" name="Text 112"/>
          <p:cNvSpPr/>
          <p:nvPr/>
        </p:nvSpPr>
        <p:spPr>
          <a:xfrm>
            <a:off x="12367856" y="2496503"/>
            <a:ext cx="134635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Year</a:t>
            </a:r>
            <a:endParaRPr lang="en-US" sz="825" dirty="0"/>
          </a:p>
        </p:txBody>
      </p:sp>
      <p:sp>
        <p:nvSpPr>
          <p:cNvPr id="115" name="Shape 113"/>
          <p:cNvSpPr/>
          <p:nvPr/>
        </p:nvSpPr>
        <p:spPr>
          <a:xfrm>
            <a:off x="13723739" y="2439353"/>
            <a:ext cx="1075611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6" name="Text 114"/>
          <p:cNvSpPr/>
          <p:nvPr/>
        </p:nvSpPr>
        <p:spPr>
          <a:xfrm>
            <a:off x="13733264" y="2496503"/>
            <a:ext cx="9803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Cum. GW</a:t>
            </a:r>
            <a:endParaRPr lang="en-US" sz="825" dirty="0"/>
          </a:p>
        </p:txBody>
      </p:sp>
      <p:sp>
        <p:nvSpPr>
          <p:cNvPr id="117" name="Shape 115"/>
          <p:cNvSpPr/>
          <p:nvPr/>
        </p:nvSpPr>
        <p:spPr>
          <a:xfrm>
            <a:off x="14799350" y="2439353"/>
            <a:ext cx="869037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8" name="Text 116"/>
          <p:cNvSpPr/>
          <p:nvPr/>
        </p:nvSpPr>
        <p:spPr>
          <a:xfrm>
            <a:off x="14808875" y="2496503"/>
            <a:ext cx="77378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LCOE</a:t>
            </a:r>
            <a:endParaRPr lang="en-US" sz="825" dirty="0"/>
          </a:p>
        </p:txBody>
      </p:sp>
      <p:sp>
        <p:nvSpPr>
          <p:cNvPr id="119" name="Shape 117"/>
          <p:cNvSpPr/>
          <p:nvPr/>
        </p:nvSpPr>
        <p:spPr>
          <a:xfrm>
            <a:off x="15668387" y="2439353"/>
            <a:ext cx="1830943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5754112" y="2496503"/>
            <a:ext cx="17356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Note</a:t>
            </a:r>
            <a:endParaRPr lang="en-US" sz="825" dirty="0"/>
          </a:p>
        </p:txBody>
      </p:sp>
      <p:sp>
        <p:nvSpPr>
          <p:cNvPr id="121" name="Shape 119"/>
          <p:cNvSpPr/>
          <p:nvPr/>
        </p:nvSpPr>
        <p:spPr>
          <a:xfrm>
            <a:off x="12282131" y="2667953"/>
            <a:ext cx="1441609" cy="104917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2282131" y="3709511"/>
            <a:ext cx="144160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3" name="Text 121"/>
          <p:cNvSpPr/>
          <p:nvPr/>
        </p:nvSpPr>
        <p:spPr>
          <a:xfrm>
            <a:off x="12367856" y="2715578"/>
            <a:ext cx="1346359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2014</a:t>
            </a:r>
            <a:endParaRPr lang="en-US" sz="975" dirty="0"/>
          </a:p>
        </p:txBody>
      </p:sp>
      <p:sp>
        <p:nvSpPr>
          <p:cNvPr id="124" name="Shape 122"/>
          <p:cNvSpPr/>
          <p:nvPr/>
        </p:nvSpPr>
        <p:spPr>
          <a:xfrm>
            <a:off x="13723739" y="2667953"/>
            <a:ext cx="1075611" cy="104917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3723739" y="3709511"/>
            <a:ext cx="107561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6" name="Text 124"/>
          <p:cNvSpPr/>
          <p:nvPr/>
        </p:nvSpPr>
        <p:spPr>
          <a:xfrm>
            <a:off x="13733264" y="2715578"/>
            <a:ext cx="980361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~10</a:t>
            </a:r>
            <a:endParaRPr lang="en-US" sz="975" dirty="0"/>
          </a:p>
        </p:txBody>
      </p:sp>
      <p:sp>
        <p:nvSpPr>
          <p:cNvPr id="127" name="Shape 125"/>
          <p:cNvSpPr/>
          <p:nvPr/>
        </p:nvSpPr>
        <p:spPr>
          <a:xfrm>
            <a:off x="14799350" y="2667953"/>
            <a:ext cx="869037" cy="104917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4799350" y="3709511"/>
            <a:ext cx="86903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9" name="Text 127"/>
          <p:cNvSpPr/>
          <p:nvPr/>
        </p:nvSpPr>
        <p:spPr>
          <a:xfrm>
            <a:off x="14808875" y="2715578"/>
            <a:ext cx="773787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₹4.50</a:t>
            </a:r>
            <a:endParaRPr lang="en-US" sz="975" dirty="0"/>
          </a:p>
        </p:txBody>
      </p:sp>
      <p:sp>
        <p:nvSpPr>
          <p:cNvPr id="130" name="Shape 128"/>
          <p:cNvSpPr/>
          <p:nvPr/>
        </p:nvSpPr>
        <p:spPr>
          <a:xfrm>
            <a:off x="15668387" y="2667953"/>
            <a:ext cx="1830943" cy="104917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5668387" y="3709511"/>
            <a:ext cx="18309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2" name="Text 130"/>
          <p:cNvSpPr/>
          <p:nvPr/>
        </p:nvSpPr>
        <p:spPr>
          <a:xfrm>
            <a:off x="15754112" y="2715578"/>
            <a:ext cx="1735693" cy="9844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Early installs</a:t>
            </a:r>
            <a:endParaRPr lang="en-US" sz="825" dirty="0"/>
          </a:p>
        </p:txBody>
      </p:sp>
      <p:sp>
        <p:nvSpPr>
          <p:cNvPr id="133" name="Shape 131"/>
          <p:cNvSpPr/>
          <p:nvPr/>
        </p:nvSpPr>
        <p:spPr>
          <a:xfrm>
            <a:off x="12282131" y="4775121"/>
            <a:ext cx="144160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4" name="Text 132"/>
          <p:cNvSpPr/>
          <p:nvPr/>
        </p:nvSpPr>
        <p:spPr>
          <a:xfrm>
            <a:off x="12367856" y="3764756"/>
            <a:ext cx="1346359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2020</a:t>
            </a:r>
            <a:endParaRPr lang="en-US" sz="975" dirty="0"/>
          </a:p>
        </p:txBody>
      </p:sp>
      <p:sp>
        <p:nvSpPr>
          <p:cNvPr id="135" name="Shape 133"/>
          <p:cNvSpPr/>
          <p:nvPr/>
        </p:nvSpPr>
        <p:spPr>
          <a:xfrm>
            <a:off x="13723739" y="4775121"/>
            <a:ext cx="107561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6" name="Text 134"/>
          <p:cNvSpPr/>
          <p:nvPr/>
        </p:nvSpPr>
        <p:spPr>
          <a:xfrm>
            <a:off x="13733264" y="3764756"/>
            <a:ext cx="980361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~40</a:t>
            </a:r>
            <a:endParaRPr lang="en-US" sz="975" dirty="0"/>
          </a:p>
        </p:txBody>
      </p:sp>
      <p:sp>
        <p:nvSpPr>
          <p:cNvPr id="137" name="Shape 135"/>
          <p:cNvSpPr/>
          <p:nvPr/>
        </p:nvSpPr>
        <p:spPr>
          <a:xfrm>
            <a:off x="14799350" y="4775121"/>
            <a:ext cx="86903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8" name="Text 136"/>
          <p:cNvSpPr/>
          <p:nvPr/>
        </p:nvSpPr>
        <p:spPr>
          <a:xfrm>
            <a:off x="14808875" y="3764756"/>
            <a:ext cx="773787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₹3.00</a:t>
            </a:r>
            <a:endParaRPr lang="en-US" sz="975" dirty="0"/>
          </a:p>
        </p:txBody>
      </p:sp>
      <p:sp>
        <p:nvSpPr>
          <p:cNvPr id="139" name="Shape 137"/>
          <p:cNvSpPr/>
          <p:nvPr/>
        </p:nvSpPr>
        <p:spPr>
          <a:xfrm>
            <a:off x="15668387" y="4775121"/>
            <a:ext cx="18309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0" name="Text 138"/>
          <p:cNvSpPr/>
          <p:nvPr/>
        </p:nvSpPr>
        <p:spPr>
          <a:xfrm>
            <a:off x="15754112" y="3764756"/>
            <a:ext cx="1735693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Competitive auctions</a:t>
            </a:r>
            <a:endParaRPr lang="en-US" sz="825" dirty="0"/>
          </a:p>
        </p:txBody>
      </p:sp>
      <p:sp>
        <p:nvSpPr>
          <p:cNvPr id="141" name="Shape 139"/>
          <p:cNvSpPr/>
          <p:nvPr/>
        </p:nvSpPr>
        <p:spPr>
          <a:xfrm>
            <a:off x="12282131" y="4782741"/>
            <a:ext cx="1441609" cy="106560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2282131" y="5840730"/>
            <a:ext cx="144160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3" name="Text 141"/>
          <p:cNvSpPr/>
          <p:nvPr/>
        </p:nvSpPr>
        <p:spPr>
          <a:xfrm>
            <a:off x="12367856" y="4830366"/>
            <a:ext cx="1346359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</a:t>
            </a:r>
            <a:endParaRPr lang="en-US" sz="975" dirty="0"/>
          </a:p>
        </p:txBody>
      </p:sp>
      <p:sp>
        <p:nvSpPr>
          <p:cNvPr id="144" name="Shape 142"/>
          <p:cNvSpPr/>
          <p:nvPr/>
        </p:nvSpPr>
        <p:spPr>
          <a:xfrm>
            <a:off x="13723739" y="4782741"/>
            <a:ext cx="1075611" cy="106560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3723739" y="5840730"/>
            <a:ext cx="107561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6" name="Text 144"/>
          <p:cNvSpPr/>
          <p:nvPr/>
        </p:nvSpPr>
        <p:spPr>
          <a:xfrm>
            <a:off x="13733264" y="4830366"/>
            <a:ext cx="980361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150</a:t>
            </a:r>
            <a:endParaRPr lang="en-US" sz="975" dirty="0"/>
          </a:p>
        </p:txBody>
      </p:sp>
      <p:sp>
        <p:nvSpPr>
          <p:cNvPr id="147" name="Shape 145"/>
          <p:cNvSpPr/>
          <p:nvPr/>
        </p:nvSpPr>
        <p:spPr>
          <a:xfrm>
            <a:off x="14799350" y="4782741"/>
            <a:ext cx="869037" cy="106560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4799350" y="5840730"/>
            <a:ext cx="86903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9" name="Text 147"/>
          <p:cNvSpPr/>
          <p:nvPr/>
        </p:nvSpPr>
        <p:spPr>
          <a:xfrm>
            <a:off x="14808875" y="4830366"/>
            <a:ext cx="773787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₹2.20</a:t>
            </a:r>
            <a:endParaRPr lang="en-US" sz="975" dirty="0"/>
          </a:p>
        </p:txBody>
      </p:sp>
      <p:sp>
        <p:nvSpPr>
          <p:cNvPr id="150" name="Shape 148"/>
          <p:cNvSpPr/>
          <p:nvPr/>
        </p:nvSpPr>
        <p:spPr>
          <a:xfrm>
            <a:off x="15668387" y="4782741"/>
            <a:ext cx="1830943" cy="1065609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15668387" y="5840730"/>
            <a:ext cx="18309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2" name="Text 150"/>
          <p:cNvSpPr/>
          <p:nvPr/>
        </p:nvSpPr>
        <p:spPr>
          <a:xfrm>
            <a:off x="15754112" y="4830366"/>
            <a:ext cx="1735693" cy="1000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</a:t>
            </a:r>
            <a:endParaRPr lang="en-US" sz="825" dirty="0"/>
          </a:p>
        </p:txBody>
      </p:sp>
      <p:sp>
        <p:nvSpPr>
          <p:cNvPr id="153" name="Shape 151"/>
          <p:cNvSpPr/>
          <p:nvPr/>
        </p:nvSpPr>
        <p:spPr>
          <a:xfrm>
            <a:off x="12282131" y="6922770"/>
            <a:ext cx="144160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4" name="Text 152"/>
          <p:cNvSpPr/>
          <p:nvPr/>
        </p:nvSpPr>
        <p:spPr>
          <a:xfrm>
            <a:off x="12367856" y="5895975"/>
            <a:ext cx="1346359" cy="1017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2028 (fcst)</a:t>
            </a:r>
            <a:endParaRPr lang="en-US" sz="975" dirty="0"/>
          </a:p>
        </p:txBody>
      </p:sp>
      <p:sp>
        <p:nvSpPr>
          <p:cNvPr id="155" name="Shape 153"/>
          <p:cNvSpPr/>
          <p:nvPr/>
        </p:nvSpPr>
        <p:spPr>
          <a:xfrm>
            <a:off x="13723739" y="6922770"/>
            <a:ext cx="107561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6" name="Text 154"/>
          <p:cNvSpPr/>
          <p:nvPr/>
        </p:nvSpPr>
        <p:spPr>
          <a:xfrm>
            <a:off x="13733264" y="5895975"/>
            <a:ext cx="980361" cy="1017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~300</a:t>
            </a:r>
            <a:endParaRPr lang="en-US" sz="975" dirty="0"/>
          </a:p>
        </p:txBody>
      </p:sp>
      <p:sp>
        <p:nvSpPr>
          <p:cNvPr id="157" name="Shape 155"/>
          <p:cNvSpPr/>
          <p:nvPr/>
        </p:nvSpPr>
        <p:spPr>
          <a:xfrm>
            <a:off x="14799350" y="6922770"/>
            <a:ext cx="86903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8" name="Text 156"/>
          <p:cNvSpPr/>
          <p:nvPr/>
        </p:nvSpPr>
        <p:spPr>
          <a:xfrm>
            <a:off x="14808875" y="5895975"/>
            <a:ext cx="773787" cy="1017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₹1.80</a:t>
            </a:r>
            <a:endParaRPr lang="en-US" sz="975" dirty="0"/>
          </a:p>
        </p:txBody>
      </p:sp>
      <p:sp>
        <p:nvSpPr>
          <p:cNvPr id="159" name="Shape 157"/>
          <p:cNvSpPr/>
          <p:nvPr/>
        </p:nvSpPr>
        <p:spPr>
          <a:xfrm>
            <a:off x="15668387" y="6922770"/>
            <a:ext cx="18309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0" name="Text 158"/>
          <p:cNvSpPr/>
          <p:nvPr/>
        </p:nvSpPr>
        <p:spPr>
          <a:xfrm>
            <a:off x="15754112" y="5895975"/>
            <a:ext cx="1735693" cy="1017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Beats coal market</a:t>
            </a:r>
            <a:endParaRPr lang="en-US" sz="825" dirty="0"/>
          </a:p>
        </p:txBody>
      </p:sp>
      <p:sp>
        <p:nvSpPr>
          <p:cNvPr id="161" name="Shape 159"/>
          <p:cNvSpPr/>
          <p:nvPr/>
        </p:nvSpPr>
        <p:spPr>
          <a:xfrm>
            <a:off x="12282131" y="6930390"/>
            <a:ext cx="1441609" cy="121348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2282131" y="8136255"/>
            <a:ext cx="1441609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3" name="Shape 161"/>
          <p:cNvSpPr/>
          <p:nvPr/>
        </p:nvSpPr>
        <p:spPr>
          <a:xfrm>
            <a:off x="12282131" y="6930390"/>
            <a:ext cx="1441609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64" name="Text 162"/>
          <p:cNvSpPr/>
          <p:nvPr/>
        </p:nvSpPr>
        <p:spPr>
          <a:xfrm>
            <a:off x="12367856" y="6993255"/>
            <a:ext cx="1346359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2030 (fcst)</a:t>
            </a:r>
            <a:endParaRPr lang="en-US" sz="975" dirty="0"/>
          </a:p>
        </p:txBody>
      </p:sp>
      <p:sp>
        <p:nvSpPr>
          <p:cNvPr id="165" name="Shape 163"/>
          <p:cNvSpPr/>
          <p:nvPr/>
        </p:nvSpPr>
        <p:spPr>
          <a:xfrm>
            <a:off x="13723739" y="6930390"/>
            <a:ext cx="1075611" cy="121348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66" name="Shape 164"/>
          <p:cNvSpPr/>
          <p:nvPr/>
        </p:nvSpPr>
        <p:spPr>
          <a:xfrm>
            <a:off x="13723739" y="8136255"/>
            <a:ext cx="107561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7" name="Shape 165"/>
          <p:cNvSpPr/>
          <p:nvPr/>
        </p:nvSpPr>
        <p:spPr>
          <a:xfrm>
            <a:off x="13723739" y="6930390"/>
            <a:ext cx="1075611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68" name="Text 166"/>
          <p:cNvSpPr/>
          <p:nvPr/>
        </p:nvSpPr>
        <p:spPr>
          <a:xfrm>
            <a:off x="13733264" y="6993255"/>
            <a:ext cx="980361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400</a:t>
            </a:r>
            <a:endParaRPr lang="en-US" sz="975" dirty="0"/>
          </a:p>
        </p:txBody>
      </p:sp>
      <p:sp>
        <p:nvSpPr>
          <p:cNvPr id="169" name="Shape 167"/>
          <p:cNvSpPr/>
          <p:nvPr/>
        </p:nvSpPr>
        <p:spPr>
          <a:xfrm>
            <a:off x="14799350" y="6930390"/>
            <a:ext cx="869037" cy="121348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70" name="Shape 168"/>
          <p:cNvSpPr/>
          <p:nvPr/>
        </p:nvSpPr>
        <p:spPr>
          <a:xfrm>
            <a:off x="14799350" y="8136255"/>
            <a:ext cx="86903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4799350" y="6930390"/>
            <a:ext cx="869037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72" name="Text 170"/>
          <p:cNvSpPr/>
          <p:nvPr/>
        </p:nvSpPr>
        <p:spPr>
          <a:xfrm>
            <a:off x="14808875" y="6993255"/>
            <a:ext cx="773787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₹1.50</a:t>
            </a:r>
            <a:endParaRPr lang="en-US" sz="975" dirty="0"/>
          </a:p>
        </p:txBody>
      </p:sp>
      <p:sp>
        <p:nvSpPr>
          <p:cNvPr id="173" name="Shape 171"/>
          <p:cNvSpPr/>
          <p:nvPr/>
        </p:nvSpPr>
        <p:spPr>
          <a:xfrm>
            <a:off x="15668387" y="6930390"/>
            <a:ext cx="1830943" cy="1213485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5668387" y="8136255"/>
            <a:ext cx="18309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5668387" y="6930390"/>
            <a:ext cx="183094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76" name="Text 174"/>
          <p:cNvSpPr/>
          <p:nvPr/>
        </p:nvSpPr>
        <p:spPr>
          <a:xfrm>
            <a:off x="15754112" y="6993255"/>
            <a:ext cx="1735693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Cheapest ever</a:t>
            </a:r>
            <a:endParaRPr lang="en-US" sz="825" dirty="0"/>
          </a:p>
        </p:txBody>
      </p:sp>
      <p:sp>
        <p:nvSpPr>
          <p:cNvPr id="177" name="Shape 175"/>
          <p:cNvSpPr/>
          <p:nvPr/>
        </p:nvSpPr>
        <p:spPr>
          <a:xfrm>
            <a:off x="12282131" y="8223885"/>
            <a:ext cx="5217200" cy="674370"/>
          </a:xfrm>
          <a:prstGeom prst="rect">
            <a:avLst/>
          </a:prstGeom>
          <a:solidFill>
            <a:srgbClr val="F3F4F6"/>
          </a:solidFill>
          <a:ln w="7620">
            <a:solidFill>
              <a:srgbClr val="E5E7EB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2404051" y="8307705"/>
            <a:ext cx="51225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At ₹1.5/kWh vs coal social cost ₹2.747/kWh:</a:t>
            </a:r>
            <a:endParaRPr lang="en-US" sz="900" dirty="0"/>
          </a:p>
        </p:txBody>
      </p:sp>
      <p:sp>
        <p:nvSpPr>
          <p:cNvPr id="179" name="Text 177"/>
          <p:cNvSpPr/>
          <p:nvPr/>
        </p:nvSpPr>
        <p:spPr>
          <a:xfrm>
            <a:off x="12404051" y="8437245"/>
            <a:ext cx="5122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₹1.247/kWh advantage</a:t>
            </a:r>
            <a:endParaRPr lang="en-US" sz="1500" dirty="0"/>
          </a:p>
        </p:txBody>
      </p:sp>
      <p:sp>
        <p:nvSpPr>
          <p:cNvPr id="180" name="Text 178"/>
          <p:cNvSpPr/>
          <p:nvPr/>
        </p:nvSpPr>
        <p:spPr>
          <a:xfrm>
            <a:off x="12404051" y="8684895"/>
            <a:ext cx="512256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~₹80,000 Cr/yr system-level savings at 400 GW</a:t>
            </a: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12282131" y="8898255"/>
            <a:ext cx="5217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2" name="Text 180"/>
          <p:cNvSpPr/>
          <p:nvPr/>
        </p:nvSpPr>
        <p:spPr>
          <a:xfrm>
            <a:off x="12282131" y="9001125"/>
            <a:ext cx="53737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₹1.5/kWh</a:t>
            </a:r>
            <a:endParaRPr lang="en-US" sz="2550" dirty="0"/>
          </a:p>
        </p:txBody>
      </p:sp>
      <p:sp>
        <p:nvSpPr>
          <p:cNvPr id="183" name="Text 181"/>
          <p:cNvSpPr/>
          <p:nvPr/>
        </p:nvSpPr>
        <p:spPr>
          <a:xfrm>
            <a:off x="12282131" y="9353550"/>
            <a:ext cx="537371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at 400 GW · cheapest energy in India's history</a:t>
            </a:r>
            <a:endParaRPr lang="en-US" sz="975" dirty="0"/>
          </a:p>
        </p:txBody>
      </p:sp>
      <p:sp>
        <p:nvSpPr>
          <p:cNvPr id="184" name="Shape 182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5" name="Text 183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186" name="Text 184"/>
          <p:cNvSpPr/>
          <p:nvPr/>
        </p:nvSpPr>
        <p:spPr>
          <a:xfrm>
            <a:off x="6916221" y="9986010"/>
            <a:ext cx="5757929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BESS CBA model · CICERO emissions intensity · WHO air quality damage · IRENA 28% learning rate</a:t>
            </a:r>
            <a:endParaRPr lang="en-US" sz="900" dirty="0"/>
          </a:p>
        </p:txBody>
      </p:sp>
      <p:sp>
        <p:nvSpPr>
          <p:cNvPr id="187" name="Text 185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06 · POLICY RECOMMENDATIONS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Five actions — costed, owned, time-bound —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cut coal at 8 PM by 65% by 2030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17068800" cy="2286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78342"/>
            <a:ext cx="1028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PRIORITY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847850" y="1978342"/>
            <a:ext cx="92613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ACTION &amp; MECHANISM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972800" y="1978342"/>
            <a:ext cx="2362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KEY IMPACT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3392150" y="1978342"/>
            <a:ext cx="2171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 / RETURN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621000" y="1978342"/>
            <a:ext cx="1981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6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OWNER · TIMELINE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609600" y="2245042"/>
            <a:ext cx="17068800" cy="5715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620" y="2357438"/>
            <a:ext cx="952500" cy="163830"/>
          </a:xfrm>
          <a:prstGeom prst="roundRect">
            <a:avLst>
              <a:gd name="adj" fmla="val 11628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836295" y="2386013"/>
            <a:ext cx="8953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P1 · HIGH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855470" y="2357438"/>
            <a:ext cx="924565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Mandate 300 GWh BESS by 2030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55470" y="2574608"/>
            <a:ext cx="92456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· competitive BESS tenders · DISCOM must-buy obligation · PLI domestic mfg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65181" y="2357438"/>
            <a:ext cx="2362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NPV +₹11.7k Cr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· 7.1yr payback · cuts coal −65% at peak · 300 GWh target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3384531" y="2357438"/>
            <a:ext cx="21717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Capex: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₹12,000 Cr Funded by P3 carbon tax Day 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5613381" y="2357438"/>
            <a:ext cx="1981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MNRE + MoP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FY25 announce · FY26 tender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609600" y="2911793"/>
            <a:ext cx="17068800" cy="5715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620" y="3024188"/>
            <a:ext cx="952500" cy="163830"/>
          </a:xfrm>
          <a:prstGeom prst="roundRect">
            <a:avLst>
              <a:gd name="adj" fmla="val 11628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836295" y="3052763"/>
            <a:ext cx="8953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P2 · 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55470" y="3024188"/>
            <a:ext cx="924565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Fast-track inter-state HVDC grid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55470" y="3241358"/>
            <a:ext cx="92456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Green Energy Corridors Phase 3 · PowerGrid mandate · TBCB competitive bids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65181" y="3024188"/>
            <a:ext cx="2362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Unlocks </a:t>
            </a:r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₹60,000 Cr/yr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stranded Rajasthan RE · cuts grid losses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3384531" y="3024188"/>
            <a:ext cx="21717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₹45,000 Cr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5 yrs Self-funded via wheeling revenue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5613381" y="3024188"/>
            <a:ext cx="1981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MoP / PowerGrid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Transmission plan Q2 FY26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609600" y="3578543"/>
            <a:ext cx="17068800" cy="5715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9620" y="3690937"/>
            <a:ext cx="952500" cy="163830"/>
          </a:xfrm>
          <a:prstGeom prst="roundRect">
            <a:avLst>
              <a:gd name="adj" fmla="val 11628"/>
            </a:avLst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836295" y="3719512"/>
            <a:ext cx="8953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P3 · MED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855470" y="3690937"/>
            <a:ext cx="924565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Pigouvian carbon tax ₹572/MWh on coal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855470" y="3908108"/>
            <a:ext cx="92456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Environment cess on coal power · revenue → Green Transition Fund · BESS + grid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65181" y="3690937"/>
            <a:ext cx="2362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₹80,000 Cr/yr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 · corrects ₹2,747/MWh social cost failure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3384531" y="3690937"/>
            <a:ext cx="21717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Revenue-positive Day 1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Funds P1 + P2 in full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15613381" y="3690937"/>
            <a:ext cx="1981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Ministry of Finance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Union Budget 2026–27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09600" y="4245293"/>
            <a:ext cx="17068800" cy="5715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9620" y="4357688"/>
            <a:ext cx="952500" cy="163830"/>
          </a:xfrm>
          <a:prstGeom prst="roundRect">
            <a:avLst>
              <a:gd name="adj" fmla="val 11628"/>
            </a:avLst>
          </a:prstGeom>
          <a:solidFill>
            <a:srgbClr val="FEF3C7"/>
          </a:solidFill>
          <a:ln/>
        </p:spPr>
      </p:sp>
      <p:sp>
        <p:nvSpPr>
          <p:cNvPr id="37" name="Text 35"/>
          <p:cNvSpPr/>
          <p:nvPr/>
        </p:nvSpPr>
        <p:spPr>
          <a:xfrm>
            <a:off x="836295" y="4386263"/>
            <a:ext cx="8953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P4 · MED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55470" y="4357688"/>
            <a:ext cx="924565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Accelerate solar to 400 GW by 2028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855470" y="4574858"/>
            <a:ext cx="92456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PM-KUSUM expansion · Rooftop Solar 2.0 · PLI manufacturing push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65181" y="4357688"/>
            <a:ext cx="2362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LCOE → </a:t>
            </a:r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₹1.8/kWh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by 2028 · beats coal social cost ₹2,747/MWh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3384531" y="4357688"/>
            <a:ext cx="21717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₹30k Cr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subsidies → ₹80k Cr/yr LCOE savings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5613381" y="4357688"/>
            <a:ext cx="1981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MNRE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NEP revision · annual targets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609600" y="4912043"/>
            <a:ext cx="17068800" cy="57150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620" y="5024438"/>
            <a:ext cx="952500" cy="163830"/>
          </a:xfrm>
          <a:prstGeom prst="roundRect">
            <a:avLst>
              <a:gd name="adj" fmla="val 11628"/>
            </a:avLst>
          </a:prstGeom>
          <a:solidFill>
            <a:srgbClr val="DCFCE7"/>
          </a:solidFill>
          <a:ln/>
        </p:spPr>
      </p:sp>
      <p:sp>
        <p:nvSpPr>
          <p:cNvPr id="45" name="Text 43"/>
          <p:cNvSpPr/>
          <p:nvPr/>
        </p:nvSpPr>
        <p:spPr>
          <a:xfrm>
            <a:off x="836295" y="5053013"/>
            <a:ext cx="8953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90" kern="0" dirty="0">
                <a:solidFill>
                  <a:srgbClr val="14532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P5 · LOW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55470" y="5024438"/>
            <a:ext cx="924565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Enforce EOQ coal inventory norms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855470" y="5241607"/>
            <a:ext cx="924565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NPP real-time ROP alert · penalty for stock &lt; normative_stock_days · CEA notification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65181" y="5024438"/>
            <a:ext cx="2362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Prevents Oct'21 repeat · protects </a:t>
            </a:r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₹30,000 Cr/yr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GDP from grid disruption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13384531" y="5024438"/>
            <a:ext cx="21717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₹500 Cr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implementation Highest ROI of all 5 policies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15613381" y="5024438"/>
            <a:ext cx="1981200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CEA / MoP </a:t>
            </a:r>
            <a:pPr algn="l" indent="0" marL="0">
              <a:buNone/>
            </a:pPr>
            <a:r>
              <a:rPr lang="en-US" sz="975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Notification within 6 months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94984" y="9986010"/>
            <a:ext cx="456567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Source: BESS CBA · Pigouvian analysis · Wright's Law · LP dispatch · EOQ coal norms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09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07 · IMPLEMENTATION ROADMAP 2025–2030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₹3.65 lakh Cr build plan —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₹80,000 Cr/yr ceiling never breached</a:t>
            </a:r>
            <a:endParaRPr lang="en-US" sz="3450" dirty="0"/>
          </a:p>
        </p:txBody>
      </p:sp>
      <p:sp>
        <p:nvSpPr>
          <p:cNvPr id="4" name="Text 2"/>
          <p:cNvSpPr/>
          <p:nvPr/>
        </p:nvSpPr>
        <p:spPr>
          <a:xfrm>
            <a:off x="609600" y="1161574"/>
            <a:ext cx="17580864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Multi-period LP: min NPV cost · demand met each year · ramp constraints · 5–7%/yr solar learning-curve savings incorporated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600" y="1534954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696879"/>
            <a:ext cx="979408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7" name="Text 5"/>
          <p:cNvSpPr/>
          <p:nvPr/>
        </p:nvSpPr>
        <p:spPr>
          <a:xfrm>
            <a:off x="714375" y="1773079"/>
            <a:ext cx="846058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Year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9008" y="1696879"/>
            <a:ext cx="1182767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9" name="Text 7"/>
          <p:cNvSpPr/>
          <p:nvPr/>
        </p:nvSpPr>
        <p:spPr>
          <a:xfrm>
            <a:off x="1617583" y="1773079"/>
            <a:ext cx="104941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+GW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1775" y="1696879"/>
            <a:ext cx="1165503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1" name="Text 9"/>
          <p:cNvSpPr/>
          <p:nvPr/>
        </p:nvSpPr>
        <p:spPr>
          <a:xfrm>
            <a:off x="2800350" y="1773079"/>
            <a:ext cx="103215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 +GW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7278" y="1696879"/>
            <a:ext cx="1947743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" name="Text 11"/>
          <p:cNvSpPr/>
          <p:nvPr/>
        </p:nvSpPr>
        <p:spPr>
          <a:xfrm>
            <a:off x="3965853" y="1773079"/>
            <a:ext cx="181439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Added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885022" y="1696879"/>
            <a:ext cx="1974652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5" name="Text 13"/>
          <p:cNvSpPr/>
          <p:nvPr/>
        </p:nvSpPr>
        <p:spPr>
          <a:xfrm>
            <a:off x="5913597" y="1773079"/>
            <a:ext cx="1841302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Capex (₹ Cr)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59673" y="1696879"/>
            <a:ext cx="1843921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7" name="Text 15"/>
          <p:cNvSpPr/>
          <p:nvPr/>
        </p:nvSpPr>
        <p:spPr>
          <a:xfrm>
            <a:off x="7888248" y="1773079"/>
            <a:ext cx="1710571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Cumul. Solar (GW)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703594" y="1696879"/>
            <a:ext cx="1646634" cy="2819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9" name="Text 17"/>
          <p:cNvSpPr/>
          <p:nvPr/>
        </p:nvSpPr>
        <p:spPr>
          <a:xfrm>
            <a:off x="9732169" y="1773079"/>
            <a:ext cx="1513284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36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Budget Used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9600" y="1978819"/>
            <a:ext cx="979408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600" y="226837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714375" y="2045494"/>
            <a:ext cx="846058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589008" y="1978819"/>
            <a:ext cx="1182767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9008" y="226837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1617583" y="2045494"/>
            <a:ext cx="1049417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71775" y="1978819"/>
            <a:ext cx="1165503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7" name="Shape 25"/>
          <p:cNvSpPr/>
          <p:nvPr/>
        </p:nvSpPr>
        <p:spPr>
          <a:xfrm>
            <a:off x="2771775" y="226837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/>
          <p:nvPr/>
        </p:nvSpPr>
        <p:spPr>
          <a:xfrm>
            <a:off x="2800350" y="2045494"/>
            <a:ext cx="1032153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937278" y="1978819"/>
            <a:ext cx="1947743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7278" y="226837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3965853" y="2045494"/>
            <a:ext cx="1814393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 GW · 8 GWh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85022" y="1978819"/>
            <a:ext cx="1974652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3" name="Shape 31"/>
          <p:cNvSpPr/>
          <p:nvPr/>
        </p:nvSpPr>
        <p:spPr>
          <a:xfrm>
            <a:off x="5885022" y="226837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5913597" y="2045494"/>
            <a:ext cx="1841302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42,000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59673" y="1978819"/>
            <a:ext cx="1843921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6" name="Shape 34"/>
          <p:cNvSpPr/>
          <p:nvPr/>
        </p:nvSpPr>
        <p:spPr>
          <a:xfrm>
            <a:off x="7859673" y="226837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7888248" y="2045494"/>
            <a:ext cx="1710571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178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703594" y="1978819"/>
            <a:ext cx="1646634" cy="29718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9" name="Shape 37"/>
          <p:cNvSpPr/>
          <p:nvPr/>
        </p:nvSpPr>
        <p:spPr>
          <a:xfrm>
            <a:off x="9703594" y="226837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0" name="Text 38"/>
          <p:cNvSpPr/>
          <p:nvPr/>
        </p:nvSpPr>
        <p:spPr>
          <a:xfrm>
            <a:off x="9732169" y="2045494"/>
            <a:ext cx="1513284" cy="194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53%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9600" y="256936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714375" y="2342674"/>
            <a:ext cx="8460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589008" y="256936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617583" y="2342674"/>
            <a:ext cx="10494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71775" y="256936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2800350" y="2342674"/>
            <a:ext cx="10321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937278" y="256936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3965853" y="2342674"/>
            <a:ext cx="18143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GW · 12 GWh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85022" y="256936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5913597" y="2342674"/>
            <a:ext cx="18413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51,000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859673" y="256936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7888248" y="2342674"/>
            <a:ext cx="171057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703594" y="256936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4" name="Text 52"/>
          <p:cNvSpPr/>
          <p:nvPr/>
        </p:nvSpPr>
        <p:spPr>
          <a:xfrm>
            <a:off x="9732169" y="2342674"/>
            <a:ext cx="15132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64%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09600" y="2576989"/>
            <a:ext cx="979408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6" name="Shape 54"/>
          <p:cNvSpPr/>
          <p:nvPr/>
        </p:nvSpPr>
        <p:spPr>
          <a:xfrm>
            <a:off x="609600" y="287035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714375" y="2643664"/>
            <a:ext cx="8460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2027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1589008" y="2576989"/>
            <a:ext cx="1182767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9" name="Shape 57"/>
          <p:cNvSpPr/>
          <p:nvPr/>
        </p:nvSpPr>
        <p:spPr>
          <a:xfrm>
            <a:off x="1589008" y="287035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0" name="Text 58"/>
          <p:cNvSpPr/>
          <p:nvPr/>
        </p:nvSpPr>
        <p:spPr>
          <a:xfrm>
            <a:off x="1617583" y="2643664"/>
            <a:ext cx="10494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38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71775" y="2576989"/>
            <a:ext cx="1165503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2" name="Shape 60"/>
          <p:cNvSpPr/>
          <p:nvPr/>
        </p:nvSpPr>
        <p:spPr>
          <a:xfrm>
            <a:off x="2771775" y="287035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2800350" y="2643664"/>
            <a:ext cx="10321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937278" y="2576989"/>
            <a:ext cx="1947743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5" name="Shape 63"/>
          <p:cNvSpPr/>
          <p:nvPr/>
        </p:nvSpPr>
        <p:spPr>
          <a:xfrm>
            <a:off x="3937278" y="287035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6" name="Text 64"/>
          <p:cNvSpPr/>
          <p:nvPr/>
        </p:nvSpPr>
        <p:spPr>
          <a:xfrm>
            <a:off x="3965853" y="2643664"/>
            <a:ext cx="18143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 GW · 16 GWh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885022" y="2576989"/>
            <a:ext cx="1974652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68" name="Shape 66"/>
          <p:cNvSpPr/>
          <p:nvPr/>
        </p:nvSpPr>
        <p:spPr>
          <a:xfrm>
            <a:off x="5885022" y="287035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Text 67"/>
          <p:cNvSpPr/>
          <p:nvPr/>
        </p:nvSpPr>
        <p:spPr>
          <a:xfrm>
            <a:off x="5913597" y="2643664"/>
            <a:ext cx="18413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62,000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859673" y="2576989"/>
            <a:ext cx="1843921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1" name="Shape 69"/>
          <p:cNvSpPr/>
          <p:nvPr/>
        </p:nvSpPr>
        <p:spPr>
          <a:xfrm>
            <a:off x="7859673" y="287035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2" name="Text 70"/>
          <p:cNvSpPr/>
          <p:nvPr/>
        </p:nvSpPr>
        <p:spPr>
          <a:xfrm>
            <a:off x="7888248" y="2643664"/>
            <a:ext cx="171057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248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9703594" y="2576989"/>
            <a:ext cx="1646634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74" name="Shape 72"/>
          <p:cNvSpPr/>
          <p:nvPr/>
        </p:nvSpPr>
        <p:spPr>
          <a:xfrm>
            <a:off x="9703594" y="287035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Text 73"/>
          <p:cNvSpPr/>
          <p:nvPr/>
        </p:nvSpPr>
        <p:spPr>
          <a:xfrm>
            <a:off x="9732169" y="2643664"/>
            <a:ext cx="15132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78%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609600" y="317134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714375" y="2944654"/>
            <a:ext cx="8460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2028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589008" y="317134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9" name="Text 77"/>
          <p:cNvSpPr/>
          <p:nvPr/>
        </p:nvSpPr>
        <p:spPr>
          <a:xfrm>
            <a:off x="1617583" y="2944654"/>
            <a:ext cx="10494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2771775" y="317134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1" name="Text 79"/>
          <p:cNvSpPr/>
          <p:nvPr/>
        </p:nvSpPr>
        <p:spPr>
          <a:xfrm>
            <a:off x="2800350" y="2944654"/>
            <a:ext cx="10321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3937278" y="317134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3" name="Text 81"/>
          <p:cNvSpPr/>
          <p:nvPr/>
        </p:nvSpPr>
        <p:spPr>
          <a:xfrm>
            <a:off x="3965853" y="2944654"/>
            <a:ext cx="18143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885022" y="317134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5" name="Text 83"/>
          <p:cNvSpPr/>
          <p:nvPr/>
        </p:nvSpPr>
        <p:spPr>
          <a:xfrm>
            <a:off x="5913597" y="2944654"/>
            <a:ext cx="18413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68,000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859673" y="317134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7" name="Text 85"/>
          <p:cNvSpPr/>
          <p:nvPr/>
        </p:nvSpPr>
        <p:spPr>
          <a:xfrm>
            <a:off x="7888248" y="2944654"/>
            <a:ext cx="171057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288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9703594" y="317134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9" name="Text 87"/>
          <p:cNvSpPr/>
          <p:nvPr/>
        </p:nvSpPr>
        <p:spPr>
          <a:xfrm>
            <a:off x="9732169" y="2944654"/>
            <a:ext cx="15132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85%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09600" y="3178969"/>
            <a:ext cx="979408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1" name="Shape 89"/>
          <p:cNvSpPr/>
          <p:nvPr/>
        </p:nvSpPr>
        <p:spPr>
          <a:xfrm>
            <a:off x="609600" y="347233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Text 90"/>
          <p:cNvSpPr/>
          <p:nvPr/>
        </p:nvSpPr>
        <p:spPr>
          <a:xfrm>
            <a:off x="714375" y="3245644"/>
            <a:ext cx="8460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2029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1589008" y="3178969"/>
            <a:ext cx="1182767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4" name="Shape 92"/>
          <p:cNvSpPr/>
          <p:nvPr/>
        </p:nvSpPr>
        <p:spPr>
          <a:xfrm>
            <a:off x="1589008" y="347233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5" name="Text 93"/>
          <p:cNvSpPr/>
          <p:nvPr/>
        </p:nvSpPr>
        <p:spPr>
          <a:xfrm>
            <a:off x="1617583" y="3245644"/>
            <a:ext cx="104941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771775" y="3178969"/>
            <a:ext cx="1165503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97" name="Shape 95"/>
          <p:cNvSpPr/>
          <p:nvPr/>
        </p:nvSpPr>
        <p:spPr>
          <a:xfrm>
            <a:off x="2771775" y="347233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8" name="Text 96"/>
          <p:cNvSpPr/>
          <p:nvPr/>
        </p:nvSpPr>
        <p:spPr>
          <a:xfrm>
            <a:off x="2800350" y="3245644"/>
            <a:ext cx="103215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3937278" y="3178969"/>
            <a:ext cx="1947743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00" name="Shape 98"/>
          <p:cNvSpPr/>
          <p:nvPr/>
        </p:nvSpPr>
        <p:spPr>
          <a:xfrm>
            <a:off x="3937278" y="347233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1" name="Text 99"/>
          <p:cNvSpPr/>
          <p:nvPr/>
        </p:nvSpPr>
        <p:spPr>
          <a:xfrm>
            <a:off x="3965853" y="3245644"/>
            <a:ext cx="181439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885022" y="3178969"/>
            <a:ext cx="1974652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885022" y="347233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4" name="Text 102"/>
          <p:cNvSpPr/>
          <p:nvPr/>
        </p:nvSpPr>
        <p:spPr>
          <a:xfrm>
            <a:off x="5913597" y="3245644"/>
            <a:ext cx="18413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70,000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7859673" y="3178969"/>
            <a:ext cx="1843921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859673" y="347233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7" name="Text 105"/>
          <p:cNvSpPr/>
          <p:nvPr/>
        </p:nvSpPr>
        <p:spPr>
          <a:xfrm>
            <a:off x="7888248" y="3245644"/>
            <a:ext cx="171057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328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9703594" y="3178969"/>
            <a:ext cx="1646634" cy="3009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109" name="Shape 107"/>
          <p:cNvSpPr/>
          <p:nvPr/>
        </p:nvSpPr>
        <p:spPr>
          <a:xfrm>
            <a:off x="9703594" y="347233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0" name="Text 108"/>
          <p:cNvSpPr/>
          <p:nvPr/>
        </p:nvSpPr>
        <p:spPr>
          <a:xfrm>
            <a:off x="9732169" y="3245644"/>
            <a:ext cx="15132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88%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609600" y="377713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2" name="Text 110"/>
          <p:cNvSpPr/>
          <p:nvPr/>
        </p:nvSpPr>
        <p:spPr>
          <a:xfrm>
            <a:off x="714375" y="3546634"/>
            <a:ext cx="846058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2030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1589008" y="377713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4" name="Text 112"/>
          <p:cNvSpPr/>
          <p:nvPr/>
        </p:nvSpPr>
        <p:spPr>
          <a:xfrm>
            <a:off x="1617583" y="3546634"/>
            <a:ext cx="1049417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40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2771775" y="377713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6" name="Text 114"/>
          <p:cNvSpPr/>
          <p:nvPr/>
        </p:nvSpPr>
        <p:spPr>
          <a:xfrm>
            <a:off x="2800350" y="3546634"/>
            <a:ext cx="1032153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3937278" y="377713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8" name="Text 116"/>
          <p:cNvSpPr/>
          <p:nvPr/>
        </p:nvSpPr>
        <p:spPr>
          <a:xfrm>
            <a:off x="3965853" y="3546634"/>
            <a:ext cx="1814393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GW · 20 GWh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5885022" y="377713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0" name="Text 118"/>
          <p:cNvSpPr/>
          <p:nvPr/>
        </p:nvSpPr>
        <p:spPr>
          <a:xfrm>
            <a:off x="5913597" y="3546634"/>
            <a:ext cx="1841302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72,000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7859673" y="377713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2" name="Text 120"/>
          <p:cNvSpPr/>
          <p:nvPr/>
        </p:nvSpPr>
        <p:spPr>
          <a:xfrm>
            <a:off x="7888248" y="3546634"/>
            <a:ext cx="1710571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9703594" y="377713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4" name="Text 122"/>
          <p:cNvSpPr/>
          <p:nvPr/>
        </p:nvSpPr>
        <p:spPr>
          <a:xfrm>
            <a:off x="9732169" y="3546634"/>
            <a:ext cx="1513284" cy="20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90%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609600" y="3784759"/>
            <a:ext cx="979408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09600" y="4104799"/>
            <a:ext cx="979408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09600" y="3784759"/>
            <a:ext cx="979408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28" name="Text 126"/>
          <p:cNvSpPr/>
          <p:nvPr/>
        </p:nvSpPr>
        <p:spPr>
          <a:xfrm>
            <a:off x="714375" y="3866674"/>
            <a:ext cx="846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TOTAL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589008" y="3784759"/>
            <a:ext cx="1182767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589008" y="4104799"/>
            <a:ext cx="1182767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589008" y="3784759"/>
            <a:ext cx="1182767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2" name="Text 130"/>
          <p:cNvSpPr/>
          <p:nvPr/>
        </p:nvSpPr>
        <p:spPr>
          <a:xfrm>
            <a:off x="1617583" y="3866674"/>
            <a:ext cx="104941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218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771775" y="3784759"/>
            <a:ext cx="1165503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34" name="Shape 132"/>
          <p:cNvSpPr/>
          <p:nvPr/>
        </p:nvSpPr>
        <p:spPr>
          <a:xfrm>
            <a:off x="2771775" y="4104799"/>
            <a:ext cx="116550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771775" y="3784759"/>
            <a:ext cx="116550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36" name="Text 134"/>
          <p:cNvSpPr/>
          <p:nvPr/>
        </p:nvSpPr>
        <p:spPr>
          <a:xfrm>
            <a:off x="2800350" y="3866674"/>
            <a:ext cx="103215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3937278" y="3784759"/>
            <a:ext cx="1947743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38" name="Shape 136"/>
          <p:cNvSpPr/>
          <p:nvPr/>
        </p:nvSpPr>
        <p:spPr>
          <a:xfrm>
            <a:off x="3937278" y="4104799"/>
            <a:ext cx="194774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937278" y="3784759"/>
            <a:ext cx="1947743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40" name="Text 138"/>
          <p:cNvSpPr/>
          <p:nvPr/>
        </p:nvSpPr>
        <p:spPr>
          <a:xfrm>
            <a:off x="3965853" y="3866674"/>
            <a:ext cx="181439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24 GW · 96 GWh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5885022" y="3784759"/>
            <a:ext cx="1974652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42" name="Shape 140"/>
          <p:cNvSpPr/>
          <p:nvPr/>
        </p:nvSpPr>
        <p:spPr>
          <a:xfrm>
            <a:off x="5885022" y="4104799"/>
            <a:ext cx="197465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885022" y="3784759"/>
            <a:ext cx="1974652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44" name="Text 142"/>
          <p:cNvSpPr/>
          <p:nvPr/>
        </p:nvSpPr>
        <p:spPr>
          <a:xfrm>
            <a:off x="5913597" y="3866674"/>
            <a:ext cx="18413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3,65,000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7859673" y="3784759"/>
            <a:ext cx="1843921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859673" y="4104799"/>
            <a:ext cx="1843921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859673" y="3784759"/>
            <a:ext cx="1843921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48" name="Text 146"/>
          <p:cNvSpPr/>
          <p:nvPr/>
        </p:nvSpPr>
        <p:spPr>
          <a:xfrm>
            <a:off x="7888248" y="3866674"/>
            <a:ext cx="171057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</a:t>
            </a:r>
            <a:endParaRPr lang="en-US" sz="1050" dirty="0"/>
          </a:p>
        </p:txBody>
      </p:sp>
      <p:sp>
        <p:nvSpPr>
          <p:cNvPr id="149" name="Shape 147"/>
          <p:cNvSpPr/>
          <p:nvPr/>
        </p:nvSpPr>
        <p:spPr>
          <a:xfrm>
            <a:off x="9703594" y="3784759"/>
            <a:ext cx="1646634" cy="327660"/>
          </a:xfrm>
          <a:prstGeom prst="rect">
            <a:avLst/>
          </a:prstGeom>
          <a:solidFill>
            <a:srgbClr val="E8F1ED"/>
          </a:solidFill>
          <a:ln/>
        </p:spPr>
      </p:sp>
      <p:sp>
        <p:nvSpPr>
          <p:cNvPr id="150" name="Shape 148"/>
          <p:cNvSpPr/>
          <p:nvPr/>
        </p:nvSpPr>
        <p:spPr>
          <a:xfrm>
            <a:off x="9703594" y="4104799"/>
            <a:ext cx="1646634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703594" y="3784759"/>
            <a:ext cx="1646634" cy="1524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52" name="Text 150"/>
          <p:cNvSpPr/>
          <p:nvPr/>
        </p:nvSpPr>
        <p:spPr>
          <a:xfrm>
            <a:off x="9732169" y="3866674"/>
            <a:ext cx="15132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A3F3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Ceiling: ₹80k</a:t>
            </a:r>
            <a:endParaRPr lang="en-US" sz="1050" dirty="0"/>
          </a:p>
        </p:txBody>
      </p:sp>
      <p:sp>
        <p:nvSpPr>
          <p:cNvPr id="153" name="Shape 151"/>
          <p:cNvSpPr/>
          <p:nvPr/>
        </p:nvSpPr>
        <p:spPr>
          <a:xfrm>
            <a:off x="609600" y="4230529"/>
            <a:ext cx="10740628" cy="1177290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69620" y="4333399"/>
            <a:ext cx="1073320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ANNUAL CAPEX VS. ₹80,000 CRORE BUDGET CEILING</a:t>
            </a:r>
            <a:endParaRPr lang="en-US" sz="825" dirty="0"/>
          </a:p>
        </p:txBody>
      </p:sp>
      <p:pic>
        <p:nvPicPr>
          <p:cNvPr id="15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4504849"/>
            <a:ext cx="10420588" cy="762000"/>
          </a:xfrm>
          <a:prstGeom prst="rect">
            <a:avLst/>
          </a:prstGeom>
        </p:spPr>
      </p:pic>
      <p:sp>
        <p:nvSpPr>
          <p:cNvPr id="156" name="Shape 153"/>
          <p:cNvSpPr/>
          <p:nvPr/>
        </p:nvSpPr>
        <p:spPr>
          <a:xfrm>
            <a:off x="11540728" y="1696879"/>
            <a:ext cx="3021092" cy="757238"/>
          </a:xfrm>
          <a:prstGeom prst="rect">
            <a:avLst/>
          </a:prstGeom>
          <a:solidFill>
            <a:srgbClr val="0F5B4C"/>
          </a:solidFill>
          <a:ln w="7620">
            <a:solidFill>
              <a:srgbClr val="0F5B4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1719799" y="1837849"/>
            <a:ext cx="2742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218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2100" dirty="0"/>
          </a:p>
        </p:txBody>
      </p:sp>
      <p:sp>
        <p:nvSpPr>
          <p:cNvPr id="158" name="Text 155"/>
          <p:cNvSpPr/>
          <p:nvPr/>
        </p:nvSpPr>
        <p:spPr>
          <a:xfrm>
            <a:off x="11719799" y="2152174"/>
            <a:ext cx="2742841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FFFFFF">
                    <a:alpha val="78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added 2025–30</a:t>
            </a:r>
            <a:endParaRPr lang="en-US" sz="975" dirty="0"/>
          </a:p>
        </p:txBody>
      </p:sp>
      <p:sp>
        <p:nvSpPr>
          <p:cNvPr id="159" name="Shape 156"/>
          <p:cNvSpPr/>
          <p:nvPr/>
        </p:nvSpPr>
        <p:spPr>
          <a:xfrm>
            <a:off x="14657070" y="1696879"/>
            <a:ext cx="3021211" cy="757238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14836140" y="1837849"/>
            <a:ext cx="2742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62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2100" dirty="0"/>
          </a:p>
        </p:txBody>
      </p:sp>
      <p:sp>
        <p:nvSpPr>
          <p:cNvPr id="161" name="Text 158"/>
          <p:cNvSpPr/>
          <p:nvPr/>
        </p:nvSpPr>
        <p:spPr>
          <a:xfrm>
            <a:off x="14836140" y="2152174"/>
            <a:ext cx="2742963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Wind added</a:t>
            </a:r>
            <a:endParaRPr lang="en-US" sz="975" dirty="0"/>
          </a:p>
        </p:txBody>
      </p:sp>
      <p:sp>
        <p:nvSpPr>
          <p:cNvPr id="162" name="Shape 159"/>
          <p:cNvSpPr/>
          <p:nvPr/>
        </p:nvSpPr>
        <p:spPr>
          <a:xfrm>
            <a:off x="11540728" y="3314224"/>
            <a:ext cx="302109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3" name="Shape 160"/>
          <p:cNvSpPr/>
          <p:nvPr/>
        </p:nvSpPr>
        <p:spPr>
          <a:xfrm>
            <a:off x="11540728" y="2549366"/>
            <a:ext cx="3021092" cy="2286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64" name="Shape 161"/>
          <p:cNvSpPr/>
          <p:nvPr/>
        </p:nvSpPr>
        <p:spPr>
          <a:xfrm>
            <a:off x="11540728" y="2549366"/>
            <a:ext cx="9525" cy="77247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5" name="Shape 162"/>
          <p:cNvSpPr/>
          <p:nvPr/>
        </p:nvSpPr>
        <p:spPr>
          <a:xfrm>
            <a:off x="14554200" y="2549366"/>
            <a:ext cx="9525" cy="772477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6" name="Text 163"/>
          <p:cNvSpPr/>
          <p:nvPr/>
        </p:nvSpPr>
        <p:spPr>
          <a:xfrm>
            <a:off x="11719799" y="2705576"/>
            <a:ext cx="27428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96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GWh</a:t>
            </a:r>
            <a:endParaRPr lang="en-US" sz="2100" dirty="0"/>
          </a:p>
        </p:txBody>
      </p:sp>
      <p:sp>
        <p:nvSpPr>
          <p:cNvPr id="167" name="Text 164"/>
          <p:cNvSpPr/>
          <p:nvPr/>
        </p:nvSpPr>
        <p:spPr>
          <a:xfrm>
            <a:off x="11719799" y="3019901"/>
            <a:ext cx="2742841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by 2030</a:t>
            </a:r>
            <a:endParaRPr lang="en-US" sz="975" dirty="0"/>
          </a:p>
        </p:txBody>
      </p:sp>
      <p:sp>
        <p:nvSpPr>
          <p:cNvPr id="168" name="Shape 165"/>
          <p:cNvSpPr/>
          <p:nvPr/>
        </p:nvSpPr>
        <p:spPr>
          <a:xfrm>
            <a:off x="14657070" y="2549366"/>
            <a:ext cx="3021211" cy="77247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4836140" y="2690336"/>
            <a:ext cx="27429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 </a:t>
            </a:r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GW</a:t>
            </a:r>
            <a:endParaRPr lang="en-US" sz="2100" dirty="0"/>
          </a:p>
        </p:txBody>
      </p:sp>
      <p:sp>
        <p:nvSpPr>
          <p:cNvPr id="170" name="Text 167"/>
          <p:cNvSpPr/>
          <p:nvPr/>
        </p:nvSpPr>
        <p:spPr>
          <a:xfrm>
            <a:off x="14836140" y="3004661"/>
            <a:ext cx="2742963" cy="19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Cumulative solar</a:t>
            </a:r>
            <a:endParaRPr lang="en-US" sz="975" dirty="0"/>
          </a:p>
        </p:txBody>
      </p:sp>
      <p:sp>
        <p:nvSpPr>
          <p:cNvPr id="171" name="Shape 168"/>
          <p:cNvSpPr/>
          <p:nvPr/>
        </p:nvSpPr>
        <p:spPr>
          <a:xfrm>
            <a:off x="11540728" y="3417094"/>
            <a:ext cx="6137553" cy="1486853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11681699" y="3539014"/>
            <a:ext cx="60312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LP CONSTRAINTS</a:t>
            </a:r>
            <a:endParaRPr lang="en-US" sz="825" dirty="0"/>
          </a:p>
        </p:txBody>
      </p:sp>
      <p:sp>
        <p:nvSpPr>
          <p:cNvPr id="173" name="Text 170"/>
          <p:cNvSpPr/>
          <p:nvPr/>
        </p:nvSpPr>
        <p:spPr>
          <a:xfrm>
            <a:off x="11732499" y="3729514"/>
            <a:ext cx="597590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Budget ceiling: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₹80,000 Cr/yr — never breached</a:t>
            </a:r>
            <a:endParaRPr lang="en-US" sz="975" dirty="0"/>
          </a:p>
        </p:txBody>
      </p:sp>
      <p:sp>
        <p:nvSpPr>
          <p:cNvPr id="174" name="Text 171"/>
          <p:cNvSpPr/>
          <p:nvPr/>
        </p:nvSpPr>
        <p:spPr>
          <a:xfrm>
            <a:off x="11732499" y="3940016"/>
            <a:ext cx="597590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met every year under SARIMAX forecast</a:t>
            </a:r>
            <a:endParaRPr lang="en-US" sz="975" dirty="0"/>
          </a:p>
        </p:txBody>
      </p:sp>
      <p:sp>
        <p:nvSpPr>
          <p:cNvPr id="175" name="Text 172"/>
          <p:cNvSpPr/>
          <p:nvPr/>
        </p:nvSpPr>
        <p:spPr>
          <a:xfrm>
            <a:off x="11732499" y="4150519"/>
            <a:ext cx="597590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Ramp constraints: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engineering limits on new builds</a:t>
            </a:r>
            <a:endParaRPr lang="en-US" sz="975" dirty="0"/>
          </a:p>
        </p:txBody>
      </p:sp>
      <p:sp>
        <p:nvSpPr>
          <p:cNvPr id="176" name="Text 173"/>
          <p:cNvSpPr/>
          <p:nvPr/>
        </p:nvSpPr>
        <p:spPr>
          <a:xfrm>
            <a:off x="11732499" y="4361021"/>
            <a:ext cx="597590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learning: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5–7%/yr cost decline incorporated</a:t>
            </a:r>
            <a:endParaRPr lang="en-US" sz="975" dirty="0"/>
          </a:p>
        </p:txBody>
      </p:sp>
      <p:sp>
        <p:nvSpPr>
          <p:cNvPr id="177" name="Text 174"/>
          <p:cNvSpPr/>
          <p:nvPr/>
        </p:nvSpPr>
        <p:spPr>
          <a:xfrm>
            <a:off x="11732499" y="4571524"/>
            <a:ext cx="5975909" cy="248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101600" indent="-101600">
              <a:lnSpc>
                <a:spcPct val="170000"/>
              </a:lnSpc>
              <a:buSzPct val="100000"/>
              <a:buChar char="•"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Objective: </a:t>
            </a:r>
            <a:pPr algn="l" indent="0" marL="0">
              <a:lnSpc>
                <a:spcPct val="170000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minimise NPV cost over 6-year horizon</a:t>
            </a:r>
            <a:endParaRPr lang="en-US" sz="975" dirty="0"/>
          </a:p>
        </p:txBody>
      </p:sp>
      <p:sp>
        <p:nvSpPr>
          <p:cNvPr id="178" name="Shape 175"/>
          <p:cNvSpPr/>
          <p:nvPr/>
        </p:nvSpPr>
        <p:spPr>
          <a:xfrm>
            <a:off x="11540728" y="9237345"/>
            <a:ext cx="6137553" cy="401955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179" name="Shape 176"/>
          <p:cNvSpPr/>
          <p:nvPr/>
        </p:nvSpPr>
        <p:spPr>
          <a:xfrm>
            <a:off x="11540728" y="9237345"/>
            <a:ext cx="38100" cy="401955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180" name="Text 177"/>
          <p:cNvSpPr/>
          <p:nvPr/>
        </p:nvSpPr>
        <p:spPr>
          <a:xfrm>
            <a:off x="11731228" y="9370695"/>
            <a:ext cx="696397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OUTCOME</a:t>
            </a:r>
            <a:endParaRPr lang="en-US" sz="750" dirty="0"/>
          </a:p>
        </p:txBody>
      </p:sp>
      <p:sp>
        <p:nvSpPr>
          <p:cNvPr id="181" name="Text 178"/>
          <p:cNvSpPr/>
          <p:nvPr/>
        </p:nvSpPr>
        <p:spPr>
          <a:xfrm>
            <a:off x="12465725" y="9351645"/>
            <a:ext cx="5183265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368 GW solar + 24 GW BESS at ₹3.65 lakh Cr total. Coal at 8 PM: 200 → 110 GW by 2030.</a:t>
            </a:r>
            <a:endParaRPr lang="en-US" sz="975" dirty="0"/>
          </a:p>
        </p:txBody>
      </p:sp>
      <p:sp>
        <p:nvSpPr>
          <p:cNvPr id="182" name="Shape 179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3" name="Text 180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184" name="Text 181"/>
          <p:cNvSpPr/>
          <p:nvPr/>
        </p:nvSpPr>
        <p:spPr>
          <a:xfrm>
            <a:off x="7374493" y="9986010"/>
            <a:ext cx="481376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Multi-period LP · min NPV(cost) · budget ₹80,000 Cr/yr · demand, ramp, learning constraints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17252513" y="9986010"/>
            <a:ext cx="425887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7580864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176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08 · RISKS &amp; MITIGATION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21030"/>
            <a:ext cx="1758086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risks ranked by probability × impact — </a:t>
            </a:r>
            <a:pPr algn="l" indent="0" marL="0">
              <a:lnSpc>
                <a:spcPct val="106000"/>
              </a:lnSpc>
              <a:buNone/>
            </a:pPr>
            <a:r>
              <a:rPr lang="en-US" sz="3450" b="1" spc="-69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two require immediate board attention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75926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5" name="Shape 3"/>
          <p:cNvSpPr/>
          <p:nvPr/>
        </p:nvSpPr>
        <p:spPr>
          <a:xfrm>
            <a:off x="609600" y="1921192"/>
            <a:ext cx="7338298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9620" y="2043113"/>
            <a:ext cx="722880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EXHIBIT 12 · 3×3 HEAT-MAP · PROBABILITY × IMPACT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2149792"/>
            <a:ext cx="7018258" cy="73675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38398" y="1921192"/>
            <a:ext cx="9540002" cy="7718107"/>
          </a:xfrm>
          <a:prstGeom prst="rect">
            <a:avLst/>
          </a:prstGeom>
          <a:ln w="762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46018" y="1928813"/>
            <a:ext cx="9524762" cy="2667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10" name="Text 7"/>
          <p:cNvSpPr/>
          <p:nvPr/>
        </p:nvSpPr>
        <p:spPr>
          <a:xfrm>
            <a:off x="8279368" y="2005013"/>
            <a:ext cx="3048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#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507968" y="2005013"/>
            <a:ext cx="8382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Prob/Impact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9269968" y="2005013"/>
            <a:ext cx="42577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13403699" y="2005013"/>
            <a:ext cx="425774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Mitigation</a:t>
            </a:r>
            <a:endParaRPr lang="en-US" sz="825" dirty="0"/>
          </a:p>
        </p:txBody>
      </p:sp>
      <p:sp>
        <p:nvSpPr>
          <p:cNvPr id="14" name="Shape 11"/>
          <p:cNvSpPr/>
          <p:nvPr/>
        </p:nvSpPr>
        <p:spPr>
          <a:xfrm>
            <a:off x="8146018" y="2641283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8279368" y="227171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07968" y="2304098"/>
            <a:ext cx="453033" cy="148590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8574643" y="2332673"/>
            <a:ext cx="39588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 · HI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9269968" y="2271713"/>
            <a:ext cx="150745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costs remain high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9269968" y="2435542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Threatens entire P1 programme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3403699" y="227171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VGF + import duty waiver + PLI for domestic BESS manufacturing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146018" y="2648903"/>
            <a:ext cx="9524762" cy="4533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22" name="Shape 19"/>
          <p:cNvSpPr/>
          <p:nvPr/>
        </p:nvSpPr>
        <p:spPr>
          <a:xfrm>
            <a:off x="8146018" y="3094673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0"/>
          <p:cNvSpPr/>
          <p:nvPr/>
        </p:nvSpPr>
        <p:spPr>
          <a:xfrm>
            <a:off x="8279368" y="272510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507968" y="2757488"/>
            <a:ext cx="453033" cy="148590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/>
        </p:spPr>
      </p:sp>
      <p:sp>
        <p:nvSpPr>
          <p:cNvPr id="25" name="Text 22"/>
          <p:cNvSpPr/>
          <p:nvPr/>
        </p:nvSpPr>
        <p:spPr>
          <a:xfrm>
            <a:off x="8574643" y="2786063"/>
            <a:ext cx="39588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 · HI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9269968" y="2725103"/>
            <a:ext cx="158972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Grid not upgraded in time</a:t>
            </a:r>
            <a:endParaRPr lang="en-US" sz="975" dirty="0"/>
          </a:p>
        </p:txBody>
      </p:sp>
      <p:sp>
        <p:nvSpPr>
          <p:cNvPr id="27" name="Text 24"/>
          <p:cNvSpPr/>
          <p:nvPr/>
        </p:nvSpPr>
        <p:spPr>
          <a:xfrm>
            <a:off x="9269968" y="2888933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Strands Rajasthan RE surplus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3403699" y="272510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PowerGrid mandate + tariff reform for transmission investment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146018" y="3548063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7"/>
          <p:cNvSpPr/>
          <p:nvPr/>
        </p:nvSpPr>
        <p:spPr>
          <a:xfrm>
            <a:off x="8279368" y="317849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507968" y="3210878"/>
            <a:ext cx="500658" cy="148590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/>
        </p:spPr>
      </p:sp>
      <p:sp>
        <p:nvSpPr>
          <p:cNvPr id="32" name="Text 29"/>
          <p:cNvSpPr/>
          <p:nvPr/>
        </p:nvSpPr>
        <p:spPr>
          <a:xfrm>
            <a:off x="8574643" y="3239453"/>
            <a:ext cx="443508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MD · HI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9269968" y="3178493"/>
            <a:ext cx="223670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grows faster than SARIMAX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9269968" y="3342322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+31 GW CI upper bound by 2030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3403699" y="317849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 programmes + building energy efficiency mandates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146018" y="3555683"/>
            <a:ext cx="9524762" cy="4533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37" name="Shape 34"/>
          <p:cNvSpPr/>
          <p:nvPr/>
        </p:nvSpPr>
        <p:spPr>
          <a:xfrm>
            <a:off x="8146018" y="4001453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5"/>
          <p:cNvSpPr/>
          <p:nvPr/>
        </p:nvSpPr>
        <p:spPr>
          <a:xfrm>
            <a:off x="8279368" y="363188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507968" y="3664268"/>
            <a:ext cx="453033" cy="148590"/>
          </a:xfrm>
          <a:prstGeom prst="roundRect">
            <a:avLst>
              <a:gd name="adj" fmla="val 12821"/>
            </a:avLst>
          </a:prstGeom>
          <a:solidFill>
            <a:srgbClr val="FEE2E2"/>
          </a:solidFill>
          <a:ln/>
        </p:spPr>
      </p:sp>
      <p:sp>
        <p:nvSpPr>
          <p:cNvPr id="40" name="Text 37"/>
          <p:cNvSpPr/>
          <p:nvPr/>
        </p:nvSpPr>
        <p:spPr>
          <a:xfrm>
            <a:off x="8574643" y="3692843"/>
            <a:ext cx="39588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91B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 · HI</a:t>
            </a:r>
            <a:endParaRPr lang="en-US" sz="675" dirty="0"/>
          </a:p>
        </p:txBody>
      </p:sp>
      <p:sp>
        <p:nvSpPr>
          <p:cNvPr id="41" name="Text 38"/>
          <p:cNvSpPr/>
          <p:nvPr/>
        </p:nvSpPr>
        <p:spPr>
          <a:xfrm>
            <a:off x="9269968" y="3631883"/>
            <a:ext cx="228504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DISCOM resistance to BESS mandate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9269968" y="3795713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Payment security concerns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3403699" y="363188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Must-buy regulation + DISCOM payment security mechanism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146018" y="4454842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2"/>
          <p:cNvSpPr/>
          <p:nvPr/>
        </p:nvSpPr>
        <p:spPr>
          <a:xfrm>
            <a:off x="8279368" y="4085272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507968" y="4117658"/>
            <a:ext cx="486370" cy="148590"/>
          </a:xfrm>
          <a:prstGeom prst="roundRect">
            <a:avLst>
              <a:gd name="adj" fmla="val 12821"/>
            </a:avLst>
          </a:prstGeom>
          <a:solidFill>
            <a:srgbClr val="DCFCE7"/>
          </a:solidFill>
          <a:ln/>
        </p:spPr>
      </p:sp>
      <p:sp>
        <p:nvSpPr>
          <p:cNvPr id="47" name="Text 44"/>
          <p:cNvSpPr/>
          <p:nvPr/>
        </p:nvSpPr>
        <p:spPr>
          <a:xfrm>
            <a:off x="8574643" y="4146233"/>
            <a:ext cx="429220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14532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 · HI</a:t>
            </a:r>
            <a:endParaRPr lang="en-US" sz="675" dirty="0"/>
          </a:p>
        </p:txBody>
      </p:sp>
      <p:sp>
        <p:nvSpPr>
          <p:cNvPr id="48" name="Text 45"/>
          <p:cNvSpPr/>
          <p:nvPr/>
        </p:nvSpPr>
        <p:spPr>
          <a:xfrm>
            <a:off x="9269968" y="4085272"/>
            <a:ext cx="2120027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PLF collapse (financial crisis)</a:t>
            </a:r>
            <a:endParaRPr lang="en-US" sz="975" dirty="0"/>
          </a:p>
        </p:txBody>
      </p:sp>
      <p:sp>
        <p:nvSpPr>
          <p:cNvPr id="49" name="Text 46"/>
          <p:cNvSpPr/>
          <p:nvPr/>
        </p:nvSpPr>
        <p:spPr>
          <a:xfrm>
            <a:off x="9269968" y="4249103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Cluster C state utilities at risk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3403699" y="4085272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Minimum offtake guarantee for coal plants during transition period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146018" y="4462463"/>
            <a:ext cx="9524762" cy="453390"/>
          </a:xfrm>
          <a:prstGeom prst="rect">
            <a:avLst/>
          </a:prstGeom>
          <a:solidFill>
            <a:srgbClr val="FAFBFB"/>
          </a:solidFill>
          <a:ln/>
        </p:spPr>
      </p:sp>
      <p:sp>
        <p:nvSpPr>
          <p:cNvPr id="52" name="Shape 49"/>
          <p:cNvSpPr/>
          <p:nvPr/>
        </p:nvSpPr>
        <p:spPr>
          <a:xfrm>
            <a:off x="8146018" y="4908233"/>
            <a:ext cx="9524762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0"/>
          <p:cNvSpPr/>
          <p:nvPr/>
        </p:nvSpPr>
        <p:spPr>
          <a:xfrm>
            <a:off x="8279368" y="453866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507968" y="4571047"/>
            <a:ext cx="548283" cy="148590"/>
          </a:xfrm>
          <a:prstGeom prst="roundRect">
            <a:avLst>
              <a:gd name="adj" fmla="val 12821"/>
            </a:avLst>
          </a:prstGeom>
          <a:solidFill>
            <a:srgbClr val="FEF3C7"/>
          </a:solidFill>
          <a:ln/>
        </p:spPr>
      </p:sp>
      <p:sp>
        <p:nvSpPr>
          <p:cNvPr id="55" name="Text 52"/>
          <p:cNvSpPr/>
          <p:nvPr/>
        </p:nvSpPr>
        <p:spPr>
          <a:xfrm>
            <a:off x="8574643" y="4599622"/>
            <a:ext cx="491133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2400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MD · MD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9269968" y="4538663"/>
            <a:ext cx="1755458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reversal post-election</a:t>
            </a:r>
            <a:endParaRPr lang="en-US" sz="975" dirty="0"/>
          </a:p>
        </p:txBody>
      </p:sp>
      <p:sp>
        <p:nvSpPr>
          <p:cNvPr id="57" name="Text 54"/>
          <p:cNvSpPr/>
          <p:nvPr/>
        </p:nvSpPr>
        <p:spPr>
          <a:xfrm>
            <a:off x="9269968" y="4702493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BESS targets are discretionary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3403699" y="453866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Embed BESS targets in NEP as statutory requirements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8146018" y="4915853"/>
            <a:ext cx="9524762" cy="445770"/>
          </a:xfrm>
          <a:prstGeom prst="rect">
            <a:avLst/>
          </a:prstGeom>
          <a:solidFill>
            <a:srgbClr val="F8FAF7"/>
          </a:solidFill>
          <a:ln/>
        </p:spPr>
      </p:sp>
      <p:sp>
        <p:nvSpPr>
          <p:cNvPr id="60" name="Text 57"/>
          <p:cNvSpPr/>
          <p:nvPr/>
        </p:nvSpPr>
        <p:spPr>
          <a:xfrm>
            <a:off x="8279368" y="4992053"/>
            <a:ext cx="30480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FA0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8507968" y="5033963"/>
            <a:ext cx="428625" cy="12954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62" name="Text 59"/>
          <p:cNvSpPr/>
          <p:nvPr/>
        </p:nvSpPr>
        <p:spPr>
          <a:xfrm>
            <a:off x="8565118" y="5053012"/>
            <a:ext cx="390525" cy="12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14532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 · LO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9269968" y="4992053"/>
            <a:ext cx="2172176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FA01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Technology breakthrough (UPSIDE)</a:t>
            </a:r>
            <a:endParaRPr lang="en-US" sz="975" dirty="0"/>
          </a:p>
        </p:txBody>
      </p:sp>
      <p:sp>
        <p:nvSpPr>
          <p:cNvPr id="64" name="Text 61"/>
          <p:cNvSpPr/>
          <p:nvPr/>
        </p:nvSpPr>
        <p:spPr>
          <a:xfrm>
            <a:off x="9269968" y="5155882"/>
            <a:ext cx="425774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e.g. solid-state BESS cost halves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13403699" y="4992053"/>
            <a:ext cx="4257743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flexibility clauses into all contracts — avoid technology lock-in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85800" y="9883140"/>
            <a:ext cx="169164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4"/>
          <p:cNvSpPr/>
          <p:nvPr/>
        </p:nvSpPr>
        <p:spPr>
          <a:xfrm>
            <a:off x="685800" y="9986010"/>
            <a:ext cx="156043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54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839194" y="9986010"/>
            <a:ext cx="386298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Authors' risk register · cross-referenced NITI Aayog energy risk framework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7258824" y="9986010"/>
            <a:ext cx="419576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 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312706" cy="10287000"/>
          </a:xfrm>
          <a:prstGeom prst="rect">
            <a:avLst/>
          </a:prstGeom>
          <a:solidFill>
            <a:srgbClr val="0F5B4C"/>
          </a:solidFill>
          <a:ln/>
        </p:spPr>
      </p:sp>
      <p:sp>
        <p:nvSpPr>
          <p:cNvPr id="3" name="Text 1"/>
          <p:cNvSpPr/>
          <p:nvPr/>
        </p:nvSpPr>
        <p:spPr>
          <a:xfrm>
            <a:off x="5638086" y="95250"/>
            <a:ext cx="2465070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0" b="1" spc="-600" kern="0" dirty="0">
                <a:solidFill>
                  <a:srgbClr val="FFFFFF">
                    <a:alpha val="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09600" y="1897856"/>
            <a:ext cx="730631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82" kern="0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FINAL THESIS · 4 WKS · 9 DATASETS · 5 MODELS · 1 ANSWER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609600" y="2145506"/>
            <a:ext cx="7306311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Renewables solved the capacity gap.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609600" y="3166586"/>
            <a:ext cx="7306311" cy="100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Storage solves the timing gap.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09600" y="4187666"/>
            <a:ext cx="7306311" cy="5200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50" b="1" spc="-69" kern="0" dirty="0">
                <a:solidFill>
                  <a:srgbClr val="FFFFFF">
                    <a:alpha val="82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Policy makes it happen.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609600" y="4879181"/>
            <a:ext cx="495300" cy="381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5088731"/>
            <a:ext cx="7306311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 models: 300 GWh BESS + ₹572/MWh carbon tax + LP build plan → </a:t>
            </a:r>
            <a:pPr algn="l" indent="0" marL="0">
              <a:lnSpc>
                <a:spcPct val="15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coal 8 PM: 200 GW → 70 GW by 2030 (−65%)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600" y="5732622"/>
            <a:ext cx="7093506" cy="162401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81050" y="5865972"/>
            <a:ext cx="695312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TOP 5 POLICIES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52475" y="6056472"/>
            <a:ext cx="697655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75000"/>
              </a:lnSpc>
              <a:buSzPct val="100000"/>
              <a:buFont typeface="+mj-lt"/>
              <a:buAutoNum type="arabicPeriod" startAt="1"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P1: </a:t>
            </a:r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300 GWh BESS mandate · NPV +₹11.7k Cr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2475" y="6289834"/>
            <a:ext cx="697655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75000"/>
              </a:lnSpc>
              <a:buSzPct val="100000"/>
              <a:buFont typeface="+mj-lt"/>
              <a:buAutoNum type="arabicPeriod" startAt="2"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P2: </a:t>
            </a:r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HVDC grid fast-track · ₹45,000 Cr self-funded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2475" y="6523197"/>
            <a:ext cx="697655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75000"/>
              </a:lnSpc>
              <a:buSzPct val="100000"/>
              <a:buFont typeface="+mj-lt"/>
              <a:buAutoNum type="arabicPeriod" startAt="3"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P3: </a:t>
            </a:r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₹572/MWh carbon tax · ₹80k Cr/yr revenue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2475" y="6756559"/>
            <a:ext cx="697655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75000"/>
              </a:lnSpc>
              <a:buSzPct val="100000"/>
              <a:buFont typeface="+mj-lt"/>
              <a:buAutoNum type="arabicPeriod" startAt="4"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P4: </a:t>
            </a:r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400 GW by 2028 · LCOE ₹1.8/kWh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52475" y="6989922"/>
            <a:ext cx="697655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00025" indent="-200025">
              <a:lnSpc>
                <a:spcPct val="175000"/>
              </a:lnSpc>
              <a:buSzPct val="100000"/>
              <a:buFont typeface="+mj-lt"/>
              <a:buAutoNum type="arabicPeriod" startAt="5"/>
            </a:pPr>
            <a:r>
              <a:rPr lang="en-US" sz="10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P5: </a:t>
            </a:r>
            <a:pPr algn="l" indent="0" marL="0">
              <a:lnSpc>
                <a:spcPct val="17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EOQ coal norms · prevents ₹30k Cr GDP loss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600" y="7489984"/>
            <a:ext cx="3508653" cy="411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23900" y="7566184"/>
            <a:ext cx="33853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W1 DATA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 datasets · solar 37× · deficit &lt;1%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94453" y="7489984"/>
            <a:ext cx="3508653" cy="411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08753" y="7566184"/>
            <a:ext cx="33853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W2 DIAGNOSIS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 mismatches · solar=0 @ 8pm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9600" y="7977664"/>
            <a:ext cx="3508653" cy="411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23900" y="8053864"/>
            <a:ext cx="33853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W3 MODELS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SARIMAX · EOQ · LP · K-Means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94453" y="7977664"/>
            <a:ext cx="3508653" cy="411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308753" y="8053864"/>
            <a:ext cx="338531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BC2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W4 ECONOMICS </a:t>
            </a:r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highlight>
                  <a:srgbClr val="FFFFFF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CBA · Pigou · Wright · LP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08006" y="381000"/>
            <a:ext cx="925423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7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COMPLETE EVIDENCE CHAIN — 10 QUESTIONS, 10 MODEL-BACKED ANSWERS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8808006" y="107823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5"/>
          <p:cNvSpPr/>
          <p:nvPr/>
        </p:nvSpPr>
        <p:spPr>
          <a:xfrm>
            <a:off x="8808006" y="70675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65206" y="70675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Did renewables solve the capacity gap?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9265206" y="85153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42% share, deficit &lt;1%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744950" y="70675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Wk1 · CEA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808006" y="152400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30"/>
          <p:cNvSpPr/>
          <p:nvPr/>
        </p:nvSpPr>
        <p:spPr>
          <a:xfrm>
            <a:off x="8808006" y="115252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265206" y="115252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solar available at the 8 PM peak?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265206" y="129730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0 GW, every single day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6744950" y="115252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Wk2 · POSOCO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808006" y="196977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8808006" y="159829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65206" y="159829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peak demand in 2030?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9265206" y="174307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295 GW (+3.5% CAGR) · ±31 GW CI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6744950" y="159829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Wk3 · SARIMAX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808006" y="241554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8808006" y="204406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65206" y="204406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Cheapest dispatch at 8 PM?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265206" y="218884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200 GW coal today · 70 GW with BESS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6744950" y="204406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Wk3 · LP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808006" y="286131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8808006" y="248983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265206" y="248983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Was Oct 2021 a coal shortage?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9265206" y="263461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EOQ supply chain failure (100+ plants · 4 days)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6744950" y="248983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Wk3 · EOQ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808006" y="330708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2" name="Text 50"/>
          <p:cNvSpPr/>
          <p:nvPr/>
        </p:nvSpPr>
        <p:spPr>
          <a:xfrm>
            <a:off x="8808006" y="293560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9265206" y="293560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 all states share the same problem?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265206" y="308038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4 distinct clusters (silhouette=0.61)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6744950" y="293560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Wk3 · KMeans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808006" y="375285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Text 55"/>
          <p:cNvSpPr/>
          <p:nvPr/>
        </p:nvSpPr>
        <p:spPr>
          <a:xfrm>
            <a:off x="8808006" y="338137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9265206" y="338137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BESS investment financially justified?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9265206" y="352615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Yes — NPV +₹11,700 Cr @ 10% WACC · 7.1yr payback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6744950" y="338137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Wk4 · CBA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808006" y="419862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2" name="Text 60"/>
          <p:cNvSpPr/>
          <p:nvPr/>
        </p:nvSpPr>
        <p:spPr>
          <a:xfrm>
            <a:off x="8808006" y="382714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265206" y="382714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Is coal priced correctly?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9265206" y="397192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underpriced ₹572/MWh vs. social cost ₹2,747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6744950" y="382714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Wk4 · Pigou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8808006" y="464439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7" name="Text 65"/>
          <p:cNvSpPr/>
          <p:nvPr/>
        </p:nvSpPr>
        <p:spPr>
          <a:xfrm>
            <a:off x="8808006" y="427291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Q09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9265206" y="427291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Solar LCOE at 400 GW?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9265206" y="441769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₹1.5/kWh — cheapest energy in India's history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6744950" y="427291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Wk4 · Wright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808006" y="4718685"/>
            <a:ext cx="4381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Q10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9265206" y="4718685"/>
            <a:ext cx="7606029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Does 500 GW solar eliminate coal at peak?</a:t>
            </a:r>
            <a:endParaRPr lang="en-US" sz="975" dirty="0"/>
          </a:p>
        </p:txBody>
      </p:sp>
      <p:sp>
        <p:nvSpPr>
          <p:cNvPr id="73" name="Text 71"/>
          <p:cNvSpPr/>
          <p:nvPr/>
        </p:nvSpPr>
        <p:spPr>
          <a:xfrm>
            <a:off x="9265206" y="4863465"/>
            <a:ext cx="760602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— coal 200 → 70 GW (not zero). Needs BESS + tax.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6744950" y="4718685"/>
            <a:ext cx="1123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Wk4 · Counter-LP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808006" y="9688830"/>
            <a:ext cx="8984695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6" name="Text 74"/>
          <p:cNvSpPr/>
          <p:nvPr/>
        </p:nvSpPr>
        <p:spPr>
          <a:xfrm>
            <a:off x="8808006" y="9791700"/>
            <a:ext cx="220920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0F5B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STRATEGY &amp; OPERATIONS PRACTICE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12409289" y="9791700"/>
            <a:ext cx="37025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India Data Portal · CEA · NPP · POSOCO · CICERO · All official Govt of India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17472184" y="9791700"/>
            <a:ext cx="3967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556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 </a:t>
            </a:r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/ 12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2026-05-02T06:34:57Z</dcterms:created>
  <dcterms:modified xsi:type="dcterms:W3CDTF">2026-05-02T06:34:57Z</dcterms:modified>
</cp:coreProperties>
</file>
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91A"/>
          </a:solidFill>
          <a:ln w="12700">
            <a:solidFill>
              <a:srgbClr val="0409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3657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0D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8191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MBA Project  ·  Operations Management + Managerial Economics  ·  4 Weeks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Renewable Energy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11480" y="2651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 India's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11480" y="3383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Peak Demand Problem?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411480" y="4315968"/>
            <a:ext cx="11365992" cy="0"/>
          </a:xfrm>
          <a:prstGeom prst="line">
            <a:avLst/>
          </a:prstGeom>
          <a:noFill/>
          <a:ln w="10160">
            <a:solidFill>
              <a:srgbClr val="1A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407408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complete data-driven study using 9 government datasets, 5 ML/MBA models, and 4 years of official CEA/POSOCO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5120640"/>
            <a:ext cx="2788920" cy="1508760"/>
          </a:xfrm>
          <a:prstGeom prst="rect">
            <a:avLst>
              <a:gd name="adj" fmla="val 7273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52120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241 GW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02920" y="5943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 Peak Demand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55848" y="5120640"/>
            <a:ext cx="2788920" cy="1508760"/>
          </a:xfrm>
          <a:prstGeom prst="rect">
            <a:avLst>
              <a:gd name="adj" fmla="val 7273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47288" y="52120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 GW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447288" y="5943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Installed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0216" y="5120640"/>
            <a:ext cx="2788920" cy="1508760"/>
          </a:xfrm>
          <a:prstGeom prst="rect">
            <a:avLst>
              <a:gd name="adj" fmla="val 7273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91656" y="52120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GW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391656" y="5943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at 8 PM Peak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244584" y="5120640"/>
            <a:ext cx="2788920" cy="1508760"/>
          </a:xfrm>
          <a:prstGeom prst="rect">
            <a:avLst>
              <a:gd name="adj" fmla="val 7273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36024" y="52120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~350 GWh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336024" y="5943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Gap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POSOCO · CICERO  · 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9"/>
          </a:solidFill>
          <a:ln w="12700">
            <a:solidFill>
              <a:srgbClr val="F0F7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D5C6E"/>
          </a:solidFill>
          <a:ln w="12700">
            <a:solidFill>
              <a:srgbClr val="0D5C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→ Data → Analysis → Models → Policy → Recommendations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5669280" cy="150876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17320"/>
            <a:ext cx="64008" cy="1508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1856232"/>
            <a:ext cx="502920" cy="502920"/>
          </a:xfrm>
          <a:prstGeom prst="ellipse">
            <a:avLst/>
          </a:prstGeom>
          <a:solidFill>
            <a:srgbClr val="E74C3C">
              <a:alpha val="85000"/>
            </a:srgbClr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24712" y="150876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The Problem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24712" y="1920240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India's peak demand hits 241 GW at 8 PM — solar is zero. Why does this matter?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417320"/>
            <a:ext cx="5669280" cy="150876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417320"/>
            <a:ext cx="64008" cy="150876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1856232"/>
            <a:ext cx="502920" cy="502920"/>
          </a:xfrm>
          <a:prstGeom prst="ellipse">
            <a:avLst/>
          </a:prstGeom>
          <a:solidFill>
            <a:srgbClr val="1A7A8A">
              <a:alpha val="85000"/>
            </a:srgbClr>
          </a:solidFill>
          <a:ln w="19050">
            <a:solidFill>
              <a:srgbClr val="1A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22592" y="150876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The 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22592" y="1920240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official govt datasets: CEA, NPP, IDP (ISB/BMGF), POSOCO, CICERO. How we built the pipeline.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081528"/>
            <a:ext cx="5669280" cy="150876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081528"/>
            <a:ext cx="64008" cy="150876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" y="3520440"/>
            <a:ext cx="502920" cy="502920"/>
          </a:xfrm>
          <a:prstGeom prst="ellipse">
            <a:avLst/>
          </a:prstGeom>
          <a:solidFill>
            <a:srgbClr val="F4D03F">
              <a:alpha val="85000"/>
            </a:srgbClr>
          </a:solidFill>
          <a:ln w="19050">
            <a:solidFill>
              <a:srgbClr val="F4D0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24712" y="317296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Descriptive Analysis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24712" y="3584448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growth, state-wise gaps, CUF by source, seasonal mismatch quantified.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3081528"/>
            <a:ext cx="5669280" cy="150876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3081528"/>
            <a:ext cx="64008" cy="15087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3520440"/>
            <a:ext cx="502920" cy="502920"/>
          </a:xfrm>
          <a:prstGeom prst="ellipse">
            <a:avLst/>
          </a:prstGeom>
          <a:solidFill>
            <a:srgbClr val="2ECC71">
              <a:alpha val="85000"/>
            </a:srgbClr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022592" y="317296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ML &amp; MBA Models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022592" y="3584448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SARIMAX forecast · EOQ coal inventory · LP dispatch · K-Means clustering · BESS sizing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4745736"/>
            <a:ext cx="5669280" cy="150876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" y="4745736"/>
            <a:ext cx="64008" cy="1508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1208" y="5184648"/>
            <a:ext cx="502920" cy="502920"/>
          </a:xfrm>
          <a:prstGeom prst="ellipse">
            <a:avLst/>
          </a:prstGeom>
          <a:solidFill>
            <a:srgbClr val="E67E22">
              <a:alpha val="85000"/>
            </a:srgbClr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" y="5184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124712" y="483717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Economics &amp; Policy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24712" y="5248656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BESS cost-benefit (NPV+) · Pigouvian tax · Wright's law LCOE forecast · LP expansion plan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4745736"/>
            <a:ext cx="5669280" cy="150876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09360" y="4745736"/>
            <a:ext cx="64008" cy="15087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19088" y="5184648"/>
            <a:ext cx="502920" cy="502920"/>
          </a:xfrm>
          <a:prstGeom prst="ellipse">
            <a:avLst/>
          </a:prstGeom>
          <a:solidFill>
            <a:srgbClr val="9B59B6">
              <a:alpha val="85000"/>
            </a:srgbClr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19088" y="5184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022592" y="483717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Recommendations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022592" y="5248656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ranked policies with costs, owners, timelines. Final thesis answer.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POSOCO · CICERO  · 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THE PROBLEM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Central Tension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generates enough power — but not at the right time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5394960" cy="5120640"/>
          </a:xfrm>
          <a:prstGeom prst="rect">
            <a:avLst>
              <a:gd name="adj" fmla="val 2143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5087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during a typical day?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93852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27632" y="193852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starts rising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77640" y="2084832"/>
            <a:ext cx="658368" cy="2743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20848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262432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PM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27632" y="262432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at PEAK — cheap energy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77640" y="2770632"/>
            <a:ext cx="1645920" cy="2743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78424" y="27706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331012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PM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27632" y="331012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high + wind medium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77640" y="3456432"/>
            <a:ext cx="1316736" cy="27432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34564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399592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PM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27632" y="399592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DROPPING fast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77640" y="4142232"/>
            <a:ext cx="493776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41422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6928" y="468172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PM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27632" y="468172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= ZERO 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= MAXIMUM 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977640" y="4846320"/>
            <a:ext cx="73152" cy="23774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536752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PM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27632" y="536752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+ hydro carry everything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977640" y="5532120"/>
            <a:ext cx="73152" cy="23774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9320" y="1417320"/>
            <a:ext cx="5852160" cy="1554480"/>
          </a:xfrm>
          <a:prstGeom prst="rect">
            <a:avLst>
              <a:gd name="adj" fmla="val 7059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89320" y="1417320"/>
            <a:ext cx="64008" cy="1554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0760" y="1856232"/>
            <a:ext cx="502920" cy="502920"/>
          </a:xfrm>
          <a:prstGeom prst="ellipse">
            <a:avLst/>
          </a:prstGeom>
          <a:solidFill>
            <a:srgbClr val="E74C3C">
              <a:alpha val="85000"/>
            </a:srgbClr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675120" y="15270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Diurnal Mismatch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75120" y="1920240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= 0 GW at 8 PM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Evening peak is completely unmet by solar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989320" y="3136392"/>
            <a:ext cx="5852160" cy="1554480"/>
          </a:xfrm>
          <a:prstGeom prst="rect">
            <a:avLst>
              <a:gd name="adj" fmla="val 7059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89320" y="3136392"/>
            <a:ext cx="64008" cy="155448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80760" y="3575304"/>
            <a:ext cx="502920" cy="502920"/>
          </a:xfrm>
          <a:prstGeom prst="ellipse">
            <a:avLst/>
          </a:prstGeom>
          <a:solidFill>
            <a:srgbClr val="F4D03F">
              <a:alpha val="85000"/>
            </a:srgbClr>
          </a:solidFill>
          <a:ln w="19050">
            <a:solidFill>
              <a:srgbClr val="F4D03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3575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675120" y="3246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Seasonal Mismatch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675120" y="3639312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 peaks Jul-Sep (monsoon)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peaks Apr-Jun and Oct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989320" y="4855464"/>
            <a:ext cx="5852160" cy="1554480"/>
          </a:xfrm>
          <a:prstGeom prst="rect">
            <a:avLst>
              <a:gd name="adj" fmla="val 7059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989320" y="4855464"/>
            <a:ext cx="64008" cy="15544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80760" y="5294376"/>
            <a:ext cx="502920" cy="502920"/>
          </a:xfrm>
          <a:prstGeom prst="ellipse">
            <a:avLst/>
          </a:prstGeom>
          <a:solidFill>
            <a:srgbClr val="2ECC71">
              <a:alpha val="85000"/>
            </a:srgbClr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80760" y="5294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675120" y="49651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 Mismatch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675120" y="5358384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Rajasthan has 28% of solar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 only 6% of national demand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POSOCO · CICERO  · 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9"/>
          </a:solidFill>
          <a:ln w="12700">
            <a:solidFill>
              <a:srgbClr val="F0F7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D5C6E"/>
          </a:solidFill>
          <a:ln w="12700">
            <a:solidFill>
              <a:srgbClr val="0D5C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DATA SOURCES  —  9 Official Govt of India Datasets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Real Government Data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Data Portal (ISB + BMGF) · CEA · NPP · POSOCO · CICERO/Robbie Andrew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5669280" cy="1143000"/>
          </a:xfrm>
          <a:prstGeom prst="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17320"/>
            <a:ext cx="64008" cy="114300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472184"/>
            <a:ext cx="5413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Power Generation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6072" y="1801368"/>
            <a:ext cx="5413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NPP / CEA  via  India Data Portal (ISB/BMGF)  ·  2017–2025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6072" y="2057400"/>
            <a:ext cx="5413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3D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date, state_name, generation_mw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679192"/>
            <a:ext cx="5669280" cy="1143000"/>
          </a:xfrm>
          <a:prstGeom prst="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679192"/>
            <a:ext cx="64008" cy="11430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734056"/>
            <a:ext cx="5413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Req &amp; Availability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76072" y="3063240"/>
            <a:ext cx="5413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CEA  via  India Data Portal (ISB/BMGF)  ·  2001–2024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6072" y="3319272"/>
            <a:ext cx="5413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3D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month, state_name, energy_requirement, energy_availability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941064"/>
            <a:ext cx="5669280" cy="1143000"/>
          </a:xfrm>
          <a:prstGeom prst="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941064"/>
            <a:ext cx="64008" cy="114300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995928"/>
            <a:ext cx="5413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Installed Capacity Statewise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76072" y="4325112"/>
            <a:ext cx="5413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NPP / CEA  via  India Data Portal (ISB/BMGF)  ·  2014–2025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6072" y="4581144"/>
            <a:ext cx="5413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3D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date, state_name, coal_cap, hydro_cap, res_cap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5202936"/>
            <a:ext cx="5669280" cy="1143000"/>
          </a:xfrm>
          <a:prstGeom prst="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5202936"/>
            <a:ext cx="64008" cy="1143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5257800"/>
            <a:ext cx="5413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Coal Stocks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76072" y="5586984"/>
            <a:ext cx="5413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NPP / MoP  via  India Data Portal (ISB/BMGF)  ·  2014–2025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" y="5843016"/>
            <a:ext cx="5413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3D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date, daily_requirement, total_stock, stock_days, is_critical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09360" y="1417320"/>
            <a:ext cx="5669280" cy="1143000"/>
          </a:xfrm>
          <a:prstGeom prst="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1417320"/>
            <a:ext cx="64008" cy="11430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1472184"/>
            <a:ext cx="5413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Power Outage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73952" y="1801368"/>
            <a:ext cx="5413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NPP / MoP  via  India Data Portal (ISB/BMGF)  ·  2014–2025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73952" y="2057400"/>
            <a:ext cx="5413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3D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date, monitored_capacity, outage_capacity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09360" y="2679192"/>
            <a:ext cx="5669280" cy="1143000"/>
          </a:xfrm>
          <a:prstGeom prst="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09360" y="2679192"/>
            <a:ext cx="64008" cy="11430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2734056"/>
            <a:ext cx="5413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Renewable Generation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73952" y="3063240"/>
            <a:ext cx="5413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CEA  via  India Data Portal (ISB/BMGF)  ·  2019–2025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73952" y="3319272"/>
            <a:ext cx="5413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3D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date, state_name, wind_energy, solar_energy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09360" y="3941064"/>
            <a:ext cx="5669280" cy="1143000"/>
          </a:xfrm>
          <a:prstGeom prst="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09360" y="3941064"/>
            <a:ext cx="64008" cy="11430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3995928"/>
            <a:ext cx="5413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Capacity (national)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73952" y="4325112"/>
            <a:ext cx="5413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CEA / POSOCO  via  CICERO / Robbie Andrew  ·  1947–2026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73952" y="4581144"/>
            <a:ext cx="5413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3D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YYYYMM, Solar, Wind, Coal_Lignite, Hydro, Nuclear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11480" y="6492240"/>
            <a:ext cx="11365992" cy="274320"/>
          </a:xfrm>
          <a:prstGeom prst="rect">
            <a:avLst>
              <a:gd name="adj" fmla="val 26667"/>
            </a:avLst>
          </a:prstGeom>
          <a:solidFill>
            <a:srgbClr val="0A3D47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519672"/>
            <a:ext cx="11091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API: IDP CKAN /datastore/dump/&lt;resource_id&gt;?bom=True  |  No auth required  |  Open Data Commons Attribution License  |  Data is 100% official Govt of India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POSOCO · CICERO  · 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DESCRIPTIVE ANALYSIS  —  The Renewable Revolution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India's Capacity Mix 2015–2026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grew 37× in 10 years — world's fastest energy buildout</a:t>
            </a:r>
            <a:endParaRPr lang="en-US" sz="1400" dirty="0"/>
          </a:p>
        </p:txBody>
      </p:sp>
      <p:pic>
        <p:nvPicPr>
          <p:cNvPr id="7" name="Image 0" descr="/home/claude/ppt_charts/cap_m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11457432" cy="4846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6309360"/>
            <a:ext cx="2743200" cy="411480"/>
          </a:xfrm>
          <a:prstGeom prst="rect">
            <a:avLst>
              <a:gd name="adj" fmla="val 22222"/>
            </a:avLst>
          </a:prstGeom>
          <a:solidFill>
            <a:srgbClr val="0D5C6E"/>
          </a:solidFill>
          <a:ln w="12700">
            <a:solidFill>
              <a:srgbClr val="A8CD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6327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GW  Solar 2015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47288" y="6309360"/>
            <a:ext cx="2743200" cy="411480"/>
          </a:xfrm>
          <a:prstGeom prst="rect">
            <a:avLst>
              <a:gd name="adj" fmla="val 22222"/>
            </a:avLst>
          </a:prstGeom>
          <a:solidFill>
            <a:srgbClr val="0D5C6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38728" y="6327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 GW  Solar 2026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91656" y="6309360"/>
            <a:ext cx="2743200" cy="411480"/>
          </a:xfrm>
          <a:prstGeom prst="rect">
            <a:avLst>
              <a:gd name="adj" fmla="val 22222"/>
            </a:avLst>
          </a:prstGeom>
          <a:solidFill>
            <a:srgbClr val="0D5C6E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83096" y="6327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37×  Growth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336024" y="6309360"/>
            <a:ext cx="2743200" cy="411480"/>
          </a:xfrm>
          <a:prstGeom prst="rect">
            <a:avLst>
              <a:gd name="adj" fmla="val 22222"/>
            </a:avLst>
          </a:prstGeom>
          <a:solidFill>
            <a:srgbClr val="0D5C6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27464" y="6327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42%  Renewable Share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POSOCO · CICERO  · 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9"/>
          </a:solidFill>
          <a:ln w="12700">
            <a:solidFill>
              <a:srgbClr val="F0F7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DESCRIPTIVE ANALYSIS  —  Timing Mismatch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= 0 GW at the Evening Peak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Left: Every day — solar vanishes by 7 PM, demand peaks at 8 PM     Right: Every year — wind peaks in monsoon, not peak demand season</a:t>
            </a:r>
            <a:endParaRPr lang="en-US" sz="1400" dirty="0"/>
          </a:p>
        </p:txBody>
      </p:sp>
      <p:pic>
        <p:nvPicPr>
          <p:cNvPr id="7" name="Image 0" descr="/home/claude/ppt_charts/core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53312"/>
            <a:ext cx="11457432" cy="5029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6473952"/>
            <a:ext cx="11457432" cy="256032"/>
          </a:xfrm>
          <a:prstGeom prst="rect">
            <a:avLst>
              <a:gd name="adj" fmla="val 28571"/>
            </a:avLst>
          </a:prstGeom>
          <a:solidFill>
            <a:srgbClr val="E74C3C">
              <a:alpha val="85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92240"/>
            <a:ext cx="11183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INSIGHT: No matter how many solar panels India builds, they generate ZERO electricity during the 8 PM demand peak — every single day of the year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POSOCO · CICERO  · 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DESCRIPTIVE ANALYSIS  —  Geographic &amp; State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Renewable Capacity vs Electricity Demand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987552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States that build most solar are NOT the states that need the most power</a:t>
            </a:r>
            <a:endParaRPr lang="en-US" sz="1400" dirty="0"/>
          </a:p>
        </p:txBody>
      </p:sp>
      <p:pic>
        <p:nvPicPr>
          <p:cNvPr id="7" name="Image 0" descr="/home/claude/ppt_charts/state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53312"/>
            <a:ext cx="11457432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5989320"/>
            <a:ext cx="11457432" cy="713232"/>
          </a:xfrm>
          <a:prstGeom prst="rect">
            <a:avLst>
              <a:gd name="adj" fmla="val 15385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603504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Utilisation Factor (CUF) — Why 150 GW solar ≠ 150 GW coal: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3276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Solar: avg 20% · 8pm 0% at 8pm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56432" y="63276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Wind: avg 25% · 8pm 25% at 8pm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64224" y="63276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Coal: avg 58% · 8pm 72% at 8pm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272016" y="63276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Nuclear: avg 82% · 8pm 82% always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POSOCO · CICERO  · 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9"/>
          </a:solidFill>
          <a:ln w="12700">
            <a:solidFill>
              <a:srgbClr val="F0F7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D5C6E"/>
          </a:solidFill>
          <a:ln w="12700">
            <a:solidFill>
              <a:srgbClr val="0D5C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ML &amp; MBA MODELS  —  5 Quantitative Tools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Observation to Quantification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model answers one specific question about India's power problem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3749040" cy="233172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64008" cy="2331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37360"/>
            <a:ext cx="566928" cy="566928"/>
          </a:xfrm>
          <a:prstGeom prst="ellipse">
            <a:avLst/>
          </a:prstGeom>
          <a:solidFill>
            <a:srgbClr val="2ECC71">
              <a:alpha val="85000"/>
            </a:srgbClr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1444752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SARIMAX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Forecast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37744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How much power will India need in 2030?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2834640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A: 241 GW today → 295 GW by 2030 (+3.5% CAGR)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342900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A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statsmodels · SARIMAX(2,1,1)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97680" y="1371600"/>
            <a:ext cx="3749040" cy="233172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371600"/>
            <a:ext cx="64008" cy="233172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1737360"/>
            <a:ext cx="566928" cy="566928"/>
          </a:xfrm>
          <a:prstGeom prst="ellipse">
            <a:avLst/>
          </a:prstGeom>
          <a:solidFill>
            <a:srgbClr val="F4D03F">
              <a:alpha val="85000"/>
            </a:srgbClr>
          </a:solidFill>
          <a:ln w="19050">
            <a:solidFill>
              <a:srgbClr val="F4D0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74920" y="1444752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EOQ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Inventory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07408" y="237744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Why did the 2021 coal crisis happen? Can it be prevented?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07408" y="2834640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A: Supply chain failure, not shortage. EOQ norm violated at 100+ plants.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07408" y="342900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A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sqrt(2DS/H) · IDP coal_stocks data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229600" y="1371600"/>
            <a:ext cx="3749040" cy="233172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0" y="1371600"/>
            <a:ext cx="64008" cy="2331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1737360"/>
            <a:ext cx="566928" cy="566928"/>
          </a:xfrm>
          <a:prstGeom prst="ellipse">
            <a:avLst/>
          </a:prstGeom>
          <a:solidFill>
            <a:srgbClr val="E74C3C">
              <a:alpha val="85000"/>
            </a:srgbClr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06840" y="1444752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Programming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Dispatch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39328" y="237744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What is the cheapest way to meet 8 PM peak demand?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339328" y="2834640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A: Coal covers 200 GW at 8pm. Decarbonising costs +37% without BESS.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339328" y="342900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A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PuLP · CBC Solver · 7 sources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886200"/>
            <a:ext cx="3749040" cy="233172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3886200"/>
            <a:ext cx="64008" cy="2331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251960"/>
            <a:ext cx="566928" cy="566928"/>
          </a:xfrm>
          <a:prstGeom prst="ellipse">
            <a:avLst/>
          </a:prstGeom>
          <a:solidFill>
            <a:srgbClr val="9B59B6">
              <a:alpha val="85000"/>
            </a:srgbClr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251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43000" y="3959352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" y="489204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Do all states have the same power problem?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5488" y="5349240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A: No — 4 distinct clusters, each needing different policy levers.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5488" y="594360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A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 · StandardScaler · silhouette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297680" y="3886200"/>
            <a:ext cx="3749040" cy="233172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297680" y="3886200"/>
            <a:ext cx="64008" cy="2331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0" y="4251960"/>
            <a:ext cx="566928" cy="566928"/>
          </a:xfrm>
          <a:prstGeom prst="ellipse">
            <a:avLst/>
          </a:prstGeom>
          <a:solidFill>
            <a:srgbClr val="E67E22">
              <a:alpha val="85000"/>
            </a:srgbClr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0" y="4251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074920" y="3959352"/>
            <a:ext cx="2880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BESS Sizing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Counterfactual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407408" y="489204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How much storage does India need? What if solar = 500 GW?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407408" y="5349240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A: 300-500 GWh nationally. 500 GW solar cuts coal 200→70 GW (not zero).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407408" y="594360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A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model + LP scenario analysis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POSOCO · CICERO  · 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MODEL 1  —  SARIMAX: Demand Forecast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Needs 295 GW by 2030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987552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SARIMAX(2,1,1) fitted on 15 years of CEA Annual Reports  ·  95% confidence interval</a:t>
            </a:r>
            <a:endParaRPr lang="en-US" sz="1400" dirty="0"/>
          </a:p>
        </p:txBody>
      </p:sp>
      <p:pic>
        <p:nvPicPr>
          <p:cNvPr id="7" name="Image 0" descr="/home/claude/ppt_charts/sarima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8686800" cy="4754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235440" y="1417320"/>
            <a:ext cx="2743200" cy="1143000"/>
          </a:xfrm>
          <a:prstGeom prst="rect">
            <a:avLst>
              <a:gd name="adj" fmla="val 9600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326880" y="15087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295 GW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9326880" y="2240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2030 Forecast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235440" y="2679192"/>
            <a:ext cx="2743200" cy="1143000"/>
          </a:xfrm>
          <a:prstGeom prst="rect">
            <a:avLst>
              <a:gd name="adj" fmla="val 9600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26880" y="277063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3.5%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9326880" y="35021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CAGR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235440" y="3941064"/>
            <a:ext cx="2743200" cy="1143000"/>
          </a:xfrm>
          <a:prstGeom prst="rect">
            <a:avLst>
              <a:gd name="adj" fmla="val 9600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326880" y="4032504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+54 GW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9326880" y="476402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Above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235440" y="5202936"/>
            <a:ext cx="2743200" cy="1143000"/>
          </a:xfrm>
          <a:prstGeom prst="rect">
            <a:avLst>
              <a:gd name="adj" fmla="val 9600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326880" y="5294376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±31 GW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9326880" y="602589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 CI range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POSOCO · CICERO  · 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9"/>
          </a:solidFill>
          <a:ln w="12700">
            <a:solidFill>
              <a:srgbClr val="F0F7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MODEL 2  —  EOQ: Coal Inventory Management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October 2021 Was a Supply Chain Failure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IDP data: stock_days, daily_requirement, normative_stock_days  ·  Not a coal shortage — an EOQ violation</a:t>
            </a:r>
            <a:endParaRPr lang="en-US" sz="1400" dirty="0"/>
          </a:p>
        </p:txBody>
      </p:sp>
      <p:pic>
        <p:nvPicPr>
          <p:cNvPr id="7" name="Image 0" descr="/home/claude/ppt_charts/eo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53312"/>
            <a:ext cx="8686800" cy="4846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235440" y="1417320"/>
            <a:ext cx="2743200" cy="406908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372600" y="15087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EOQ Formula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281160" y="1938528"/>
            <a:ext cx="2651760" cy="594360"/>
          </a:xfrm>
          <a:prstGeom prst="rect">
            <a:avLst/>
          </a:prstGeom>
          <a:solidFill>
            <a:srgbClr val="F8FCFD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0" y="204825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D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Q*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811512" y="1993392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√(2DS / H)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811512" y="2240280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Optimal order qty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281160" y="2596896"/>
            <a:ext cx="2651760" cy="594360"/>
          </a:xfrm>
          <a:prstGeom prst="rect">
            <a:avLst/>
          </a:prstGeom>
          <a:solidFill>
            <a:srgbClr val="F0F7F9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0" y="270662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811512" y="265176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daily_requirement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811512" y="2898648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demand rate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281160" y="3255264"/>
            <a:ext cx="2651760" cy="594360"/>
          </a:xfrm>
          <a:prstGeom prst="rect">
            <a:avLst/>
          </a:prstGeom>
          <a:solidFill>
            <a:srgbClr val="F8FCFD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26880" y="336499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811512" y="3310128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~Rs 3 Cr / rake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811512" y="3557016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Ordering cost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81160" y="3913632"/>
            <a:ext cx="2651760" cy="594360"/>
          </a:xfrm>
          <a:prstGeom prst="rect">
            <a:avLst/>
          </a:prstGeom>
          <a:solidFill>
            <a:srgbClr val="F0F7F9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0" y="40233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811512" y="3968496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~Rs 150/T/day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811512" y="4215384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Holding cost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9281160" y="4572000"/>
            <a:ext cx="2651760" cy="594360"/>
          </a:xfrm>
          <a:prstGeom prst="rect">
            <a:avLst/>
          </a:prstGeom>
          <a:solidFill>
            <a:srgbClr val="F8FCFD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26880" y="468172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ROP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811512" y="4626864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norm_stock × 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811512" y="4873752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Reorder point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9235440" y="5577840"/>
            <a:ext cx="2743200" cy="594360"/>
          </a:xfrm>
          <a:prstGeom prst="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9372600" y="564184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Insight: Oct 2021 crisis was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prevented by EOQ compliance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POSOCO · CICERO  · 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MODEL 3  —  LP Dispatch + MODEL 5B Counterfactual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Minimum-Cost Dispatch &amp; the 500 GW Question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PuLP LP solver · 7 energy sources · 4 carbon scenarios  ·  Left: optimal mix  ·  Right: coal at peak if solar reaches 500 GW</a:t>
            </a:r>
            <a:endParaRPr lang="en-US" sz="1400" dirty="0"/>
          </a:p>
        </p:txBody>
      </p:sp>
      <p:pic>
        <p:nvPicPr>
          <p:cNvPr id="7" name="Image 0" descr="/home/claude/ppt_charts/lp_counterfac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53312"/>
            <a:ext cx="11457432" cy="4754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6199632"/>
            <a:ext cx="11457432" cy="457200"/>
          </a:xfrm>
          <a:prstGeom prst="rect">
            <a:avLst>
              <a:gd name="adj" fmla="val 20000"/>
            </a:avLst>
          </a:prstGeom>
          <a:solidFill>
            <a:srgbClr val="0D5C6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236208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FINDING: Even with 500 GW solar + BESS, coal at 8 PM falls from 200 GW to ~70 GW — not zero.  Coal doesn't disappear without 24/7 battery storage.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POSOCO · CICERO  · 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9"/>
          </a:solidFill>
          <a:ln w="12700">
            <a:solidFill>
              <a:srgbClr val="F0F7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MODEL 4  —  K-Means: State Power Profiles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Clusters — 4 Different Solutions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(k=4 by silhouette score) · Features: RES share, coal cap, deficit %, total cap  ·  One-size-fits-all policy fails</a:t>
            </a:r>
            <a:endParaRPr lang="en-US" sz="1400" dirty="0"/>
          </a:p>
        </p:txBody>
      </p:sp>
      <p:pic>
        <p:nvPicPr>
          <p:cNvPr id="7" name="Image 0" descr="/home/claude/ppt_charts/kme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53312"/>
            <a:ext cx="11457432" cy="4572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007608"/>
            <a:ext cx="2816352" cy="73152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6007608"/>
            <a:ext cx="64008" cy="7315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208" y="60441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 Champions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21208" y="6291072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Rajasthan · Gujarat · Karnataka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355848" y="6007608"/>
            <a:ext cx="2816352" cy="73152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55848" y="6007608"/>
            <a:ext cx="64008" cy="73152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65576" y="60441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Transition Leaders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465576" y="6291072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TN · AP · Telangana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300216" y="6007608"/>
            <a:ext cx="2816352" cy="73152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00216" y="6007608"/>
            <a:ext cx="64008" cy="7315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9944" y="60441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Dependent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9944" y="6291072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 · MH · MP · Jharkhand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6007608"/>
            <a:ext cx="2816352" cy="73152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244584" y="6007608"/>
            <a:ext cx="64008" cy="7315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54312" y="60441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Starved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354312" y="6291072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Bihar · HP · Northeast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POSOCO · CICERO  · 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MODEL 5A  —  BESS Sizing: How Much Storage Does India Need?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Storage Gap: 75–125× What India Has Today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 engineering calculation using solar CUF, round-trip efficiency, and peak discharge duration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5394960" cy="4160520"/>
          </a:xfrm>
          <a:prstGeom prst="rect">
            <a:avLst>
              <a:gd name="adj" fmla="val 2637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4630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calculated BESS requirement: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83664"/>
            <a:ext cx="5303520" cy="320040"/>
          </a:xfrm>
          <a:prstGeom prst="rect">
            <a:avLst/>
          </a:prstGeom>
          <a:solidFill>
            <a:srgbClr val="091D28"/>
          </a:solidFill>
          <a:ln w="6350">
            <a:solidFill>
              <a:srgbClr val="1A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9202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installed (2025)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1920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 GW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231136"/>
            <a:ext cx="5303520" cy="320040"/>
          </a:xfrm>
          <a:prstGeom prst="rect">
            <a:avLst/>
          </a:prstGeom>
          <a:solidFill>
            <a:srgbClr val="091D28"/>
          </a:solidFill>
          <a:ln w="6350">
            <a:solidFill>
              <a:srgbClr val="1A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2677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CUF (annual average)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22677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20%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5303520" cy="320040"/>
          </a:xfrm>
          <a:prstGeom prst="rect">
            <a:avLst/>
          </a:prstGeom>
          <a:solidFill>
            <a:srgbClr val="091D28"/>
          </a:solidFill>
          <a:ln w="6350">
            <a:solidFill>
              <a:srgbClr val="1A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6151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Hours of production per 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261518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8 hours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5303520" cy="320040"/>
          </a:xfrm>
          <a:prstGeom prst="rect">
            <a:avLst/>
          </a:prstGeom>
          <a:solidFill>
            <a:srgbClr val="1A7A8A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9626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Daily solar generation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0" y="296265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240 GWh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73552"/>
            <a:ext cx="5303520" cy="320040"/>
          </a:xfrm>
          <a:prstGeom prst="rect">
            <a:avLst/>
          </a:prstGeom>
          <a:solidFill>
            <a:srgbClr val="091D28"/>
          </a:solidFill>
          <a:ln w="6350">
            <a:solidFill>
              <a:srgbClr val="1A7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3101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Store 50% for evening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33101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50%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621024"/>
            <a:ext cx="5303520" cy="320040"/>
          </a:xfrm>
          <a:prstGeom prst="rect">
            <a:avLst/>
          </a:prstGeom>
          <a:solidFill>
            <a:srgbClr val="091D28"/>
          </a:solidFill>
          <a:ln w="6350">
            <a:solidFill>
              <a:srgbClr val="1A7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6576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Round-trip efficiency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0" y="36576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88%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968496"/>
            <a:ext cx="5303520" cy="320040"/>
          </a:xfrm>
          <a:prstGeom prst="rect">
            <a:avLst/>
          </a:prstGeom>
          <a:solidFill>
            <a:srgbClr val="1A7A8A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0050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Storable energy per day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40050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106 GWh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315968"/>
            <a:ext cx="5303520" cy="320040"/>
          </a:xfrm>
          <a:prstGeom prst="rect">
            <a:avLst/>
          </a:prstGeom>
          <a:solidFill>
            <a:srgbClr val="091D28"/>
          </a:solidFill>
          <a:ln w="6350">
            <a:solidFill>
              <a:srgbClr val="1A7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43525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÷ Discharge duration (4 hrs)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43525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÷ 4 hours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5303520" cy="320040"/>
          </a:xfrm>
          <a:prstGeom prst="rect">
            <a:avLst/>
          </a:prstGeom>
          <a:solidFill>
            <a:srgbClr val="091D28"/>
          </a:solidFill>
          <a:ln w="6350">
            <a:solidFill>
              <a:srgbClr val="1A7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47000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BESS power capacity needed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0" y="470001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26 GW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5010912"/>
            <a:ext cx="5303520" cy="320040"/>
          </a:xfrm>
          <a:prstGeom prst="rect">
            <a:avLst/>
          </a:prstGeom>
          <a:solidFill>
            <a:srgbClr val="1A7A8A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50474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 BESS estimate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0" y="504748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300–500 GWh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989320" y="1417320"/>
            <a:ext cx="5897880" cy="1143000"/>
          </a:xfrm>
          <a:prstGeom prst="rect">
            <a:avLst>
              <a:gd name="adj" fmla="val 9600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080760" y="1508760"/>
            <a:ext cx="5715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 GWh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6080760" y="2240280"/>
            <a:ext cx="5715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BESS today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89320" y="2679192"/>
            <a:ext cx="5897880" cy="1143000"/>
          </a:xfrm>
          <a:prstGeom prst="rect">
            <a:avLst>
              <a:gd name="adj" fmla="val 9600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080760" y="2770632"/>
            <a:ext cx="5715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300-500 GWh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6080760" y="3502152"/>
            <a:ext cx="5715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needs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89320" y="3941064"/>
            <a:ext cx="5897880" cy="1143000"/>
          </a:xfrm>
          <a:prstGeom prst="rect">
            <a:avLst>
              <a:gd name="adj" fmla="val 9600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080760" y="4032504"/>
            <a:ext cx="5715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75-125×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6080760" y="4764024"/>
            <a:ext cx="5715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989320" y="5202936"/>
            <a:ext cx="5897880" cy="1143000"/>
          </a:xfrm>
          <a:prstGeom prst="rect">
            <a:avLst>
              <a:gd name="adj" fmla="val 9600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080760" y="5294376"/>
            <a:ext cx="5715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12k Cr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6080760" y="6025896"/>
            <a:ext cx="5715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Investment needed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POSOCO · CICERO  · 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9"/>
          </a:solidFill>
          <a:ln w="12700">
            <a:solidFill>
              <a:srgbClr val="F0F7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ECONOMICS  —  CBA · Pigouvian · Wright's Law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Financial Case for Action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Left: BESS investment pays back in 7 years (NPV+)  ·  Middle: Coal is underpriced by Rs 572/MWh  ·  Right: Solar hits Rs 1.5/kWh at 400 GW</a:t>
            </a:r>
            <a:endParaRPr lang="en-US" sz="1400" dirty="0"/>
          </a:p>
        </p:txBody>
      </p:sp>
      <p:pic>
        <p:nvPicPr>
          <p:cNvPr id="7" name="Image 0" descr="/home/claude/ppt_charts/econom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53312"/>
            <a:ext cx="11457432" cy="4663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099048"/>
            <a:ext cx="3749040" cy="640080"/>
          </a:xfrm>
          <a:prstGeom prst="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614476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NPV+ Rs 11.7k Cr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194560" y="613562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BESS investment justified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Payback: 7.1 years @10% WACC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43400" y="6099048"/>
            <a:ext cx="3749040" cy="640080"/>
          </a:xfrm>
          <a:prstGeom prst="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434840" y="614476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572/MWh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126480" y="613562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Pigouvian coal tax optimal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Generates Rs 80,000 Cr/yr revenue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275320" y="6099048"/>
            <a:ext cx="3749040" cy="640080"/>
          </a:xfrm>
          <a:prstGeom prst="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366760" y="614476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1.5/kWh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058400" y="613562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LCOE at 400 GW (2030)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28% learning rate (Wright's Law)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POSOCO · CICERO  · 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ECONOMICS  —  Optimal Investment Roadmap 2025-2030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India Should Build Each Year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Multi-period LP: minimise NPV cost subject to demand, budget (Rs 80,000 Cr/yr), and ramp constraints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11365992" cy="4187952"/>
          </a:xfrm>
          <a:prstGeom prst="rect">
            <a:avLst>
              <a:gd name="adj" fmla="val 2620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89888"/>
            <a:ext cx="11365992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417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(GW)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1417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 (GW)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57800" y="1417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BESS (GW)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1417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Invest (Rs Cr)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464040" y="1417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Cumul. Solar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828800"/>
            <a:ext cx="11274552" cy="475488"/>
          </a:xfrm>
          <a:prstGeom prst="rect">
            <a:avLst/>
          </a:prstGeom>
          <a:solidFill>
            <a:srgbClr val="0D5C6E"/>
          </a:solidFill>
          <a:ln w="5080">
            <a:solidFill>
              <a:srgbClr val="1A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92024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192024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192024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7800" y="192024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(8 GWh)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192024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42,000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64040" y="192024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178 GW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350008"/>
            <a:ext cx="11274552" cy="475488"/>
          </a:xfrm>
          <a:prstGeom prst="rect">
            <a:avLst/>
          </a:prstGeom>
          <a:solidFill>
            <a:srgbClr val="091D28"/>
          </a:solidFill>
          <a:ln w="5080">
            <a:solidFill>
              <a:srgbClr val="1A7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441448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11680" y="2441448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2441448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2441448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(12 GWh)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2441448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51,000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64040" y="2441448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210 GW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871216"/>
            <a:ext cx="11274552" cy="475488"/>
          </a:xfrm>
          <a:prstGeom prst="rect">
            <a:avLst/>
          </a:prstGeom>
          <a:solidFill>
            <a:srgbClr val="0D5C6E"/>
          </a:solidFill>
          <a:ln w="5080">
            <a:solidFill>
              <a:srgbClr val="1A7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962656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11680" y="2962656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0" y="2962656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2962656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(16 GWh)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2962656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62,000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464040" y="2962656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248 GW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392424"/>
            <a:ext cx="11274552" cy="475488"/>
          </a:xfrm>
          <a:prstGeom prst="rect">
            <a:avLst/>
          </a:prstGeom>
          <a:solidFill>
            <a:srgbClr val="091D28"/>
          </a:solidFill>
          <a:ln w="5080">
            <a:solidFill>
              <a:srgbClr val="1A7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483864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011680" y="3483864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0" y="3483864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57800" y="3483864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(20 GWh)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58000" y="3483864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68,000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464040" y="3483864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288 GW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3913632"/>
            <a:ext cx="11274552" cy="475488"/>
          </a:xfrm>
          <a:prstGeom prst="rect">
            <a:avLst/>
          </a:prstGeom>
          <a:solidFill>
            <a:srgbClr val="0D5C6E"/>
          </a:solidFill>
          <a:ln w="5080">
            <a:solidFill>
              <a:srgbClr val="1A7A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005072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2029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011680" y="4005072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0" y="4005072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57800" y="4005072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(20 GWh)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58000" y="4005072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70,000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464040" y="4005072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328 GW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4434840"/>
            <a:ext cx="11274552" cy="475488"/>
          </a:xfrm>
          <a:prstGeom prst="rect">
            <a:avLst/>
          </a:prstGeom>
          <a:solidFill>
            <a:srgbClr val="091D28"/>
          </a:solidFill>
          <a:ln w="5080">
            <a:solidFill>
              <a:srgbClr val="1A7A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52628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2030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011680" y="452628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657600" y="452628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57800" y="452628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(20 GWh)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858000" y="452628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72,000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464040" y="452628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368 GW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" y="4983480"/>
            <a:ext cx="11274552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50109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011680" y="50109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218 GW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657600" y="50109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62 GW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257800" y="50109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 GW (96 GWh)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858000" y="50109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3,65,000 Cr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11480" y="5532120"/>
            <a:ext cx="11365992" cy="320040"/>
          </a:xfrm>
          <a:prstGeom prst="rect">
            <a:avLst>
              <a:gd name="adj" fmla="val 22857"/>
            </a:avLst>
          </a:prstGeom>
          <a:solidFill>
            <a:srgbClr val="0D5C6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5568696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Budget: Rs 80,000 Cr/yr ceiling  ·  Budget ceiling is never breached  ·  Solar learning curve incorporated (cost falls 5-7% per year)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POSOCO · CICERO  · 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9"/>
          </a:solidFill>
          <a:ln w="12700">
            <a:solidFill>
              <a:srgbClr val="F0F7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D5C6E"/>
          </a:solidFill>
          <a:ln w="12700">
            <a:solidFill>
              <a:srgbClr val="0D5C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POLICY  —  State-Cluster Differentiated Plan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Clusters Require 4 Different Policy Playbooks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Based on K-Means results — one national policy misses Rs 40,000+ Crore in annual efficiency gains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5687568" cy="2423160"/>
          </a:xfrm>
          <a:prstGeom prst="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89888"/>
            <a:ext cx="64008" cy="24231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1938528"/>
            <a:ext cx="640080" cy="640080"/>
          </a:xfrm>
          <a:prstGeom prst="ellipse">
            <a:avLst/>
          </a:prstGeom>
          <a:solidFill>
            <a:srgbClr val="2ECC71">
              <a:alpha val="85000"/>
            </a:srgbClr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9385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61872" y="1463040"/>
            <a:ext cx="4736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 CHAMPIONS  (Rajasthan · Karnataka · Gujarat (3 states))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2651760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Build HVDC inter-state lines (Rs 45,000 Cr, self-funded)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" y="2971800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BESS co-location mandate for new solar &gt; 500 MW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" y="3291840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Waive wheeling charges for 5 years to stimulate RE trade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" y="3429000"/>
            <a:ext cx="5559552" cy="329184"/>
          </a:xfrm>
          <a:prstGeom prst="rect">
            <a:avLst/>
          </a:prstGeom>
          <a:solidFill>
            <a:srgbClr val="2ECC71">
              <a:alpha val="18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4472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KPI: Export 50 BU/yr to demand states by 2028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09360" y="1389888"/>
            <a:ext cx="5687568" cy="2423160"/>
          </a:xfrm>
          <a:prstGeom prst="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389888"/>
            <a:ext cx="64008" cy="242316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1938528"/>
            <a:ext cx="640080" cy="640080"/>
          </a:xfrm>
          <a:prstGeom prst="ellipse">
            <a:avLst/>
          </a:prstGeom>
          <a:solidFill>
            <a:srgbClr val="F4D03F">
              <a:alpha val="85000"/>
            </a:srgbClr>
          </a:solidFill>
          <a:ln w="19050">
            <a:solidFill>
              <a:srgbClr val="F4D0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19385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59752" y="1463040"/>
            <a:ext cx="4736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TRANSITION LEADERS  (Tamil Nadu · AP · Telangana (4 states))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19088" y="2651760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Offshore wind fast-track (TN coastline: 30+ GW potential)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19088" y="2971800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Priority allocation from national grid upgrade fund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19088" y="3291840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Demand response programmes to flatten the peak curve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73368" y="3429000"/>
            <a:ext cx="5559552" cy="329184"/>
          </a:xfrm>
          <a:prstGeom prst="rect">
            <a:avLst/>
          </a:prstGeom>
          <a:solidFill>
            <a:srgbClr val="F4D03F">
              <a:alpha val="18000"/>
            </a:srgbClr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34472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KPI: Add 15 GW RE + 8 GWh BESS by 2028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968496"/>
            <a:ext cx="5687568" cy="2423160"/>
          </a:xfrm>
          <a:prstGeom prst="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3968496"/>
            <a:ext cx="64008" cy="24231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1208" y="4517136"/>
            <a:ext cx="640080" cy="640080"/>
          </a:xfrm>
          <a:prstGeom prst="ellipse">
            <a:avLst/>
          </a:prstGeom>
          <a:solidFill>
            <a:srgbClr val="E74C3C">
              <a:alpha val="85000"/>
            </a:srgbClr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" y="45171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⚫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261872" y="4041648"/>
            <a:ext cx="4736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COAL DEPENDENT  (UP · Maharashtra · MP · Jharkhand · WB (5 states))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" y="523036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Mandatory BESS installation alongside any new RE permit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1208" y="555040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Coal PLF floor: 55% → 45% by 2027 (smooth transition)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1208" y="587044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Concessional green loans for DISCOMs buying 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" y="6007608"/>
            <a:ext cx="5559552" cy="329184"/>
          </a:xfrm>
          <a:prstGeom prst="rect">
            <a:avLst/>
          </a:prstGeom>
          <a:solidFill>
            <a:srgbClr val="E74C3C">
              <a:alpha val="18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" y="60258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KPI: RES share: 20% → 40% by 2030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09360" y="3968496"/>
            <a:ext cx="5687568" cy="2423160"/>
          </a:xfrm>
          <a:prstGeom prst="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09360" y="3968496"/>
            <a:ext cx="64008" cy="24231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19088" y="4517136"/>
            <a:ext cx="640080" cy="640080"/>
          </a:xfrm>
          <a:prstGeom prst="ellipse">
            <a:avLst/>
          </a:prstGeom>
          <a:solidFill>
            <a:srgbClr val="9B59B6">
              <a:alpha val="85000"/>
            </a:srgbClr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19088" y="45171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7159752" y="4041648"/>
            <a:ext cx="4736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STARVED  (Bihar · HP · Northeast (6+ states))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19088" y="523036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Viability Gap Funding for unviable small solar projects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19088" y="555040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Community solar microgrids for rural areas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19088" y="5870448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Energy access subsidy programme linked to RE generation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73368" y="6007608"/>
            <a:ext cx="5559552" cy="329184"/>
          </a:xfrm>
          <a:prstGeom prst="rect">
            <a:avLst/>
          </a:prstGeom>
          <a:solidFill>
            <a:srgbClr val="9B59B6">
              <a:alpha val="18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19088" y="60258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KPI: Eliminate energy deficit by 2027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POSOCO · CICERO  · 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POLICY  —  5 Recommendations Ranked by Impact × Feasibility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Models to Action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recommendation is time-bound, costed, and assigned to a ministry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11365992" cy="914400"/>
          </a:xfrm>
          <a:prstGeom prst="rect">
            <a:avLst>
              <a:gd name="adj" fmla="val 12000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71600"/>
            <a:ext cx="64008" cy="9144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426464"/>
            <a:ext cx="822960" cy="310896"/>
          </a:xfrm>
          <a:prstGeom prst="rect">
            <a:avLst>
              <a:gd name="adj" fmla="val 23529"/>
            </a:avLst>
          </a:prstGeom>
          <a:solidFill>
            <a:srgbClr val="2ECC71">
              <a:alpha val="8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4356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P1·HIGH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26464" y="142646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🔋  Mandate 300 GWh BESS by 2030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426464" y="179222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NPV+ Rs 11.7k Cr · Payback 7 yrs · Cuts coal at peak 65%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14264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Viability Gap Funding · Competitive BESS tenders · DISCOM must-buy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184708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Cost: Rs 12,000 Cr capex (funded by carbon tax revenue)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738360" y="142646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MNRE + MoP · FY2025 announce · FY2026 tender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395728"/>
            <a:ext cx="11365992" cy="914400"/>
          </a:xfrm>
          <a:prstGeom prst="rect">
            <a:avLst>
              <a:gd name="adj" fmla="val 12000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395728"/>
            <a:ext cx="64008" cy="91440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450592"/>
            <a:ext cx="822960" cy="310896"/>
          </a:xfrm>
          <a:prstGeom prst="rect">
            <a:avLst>
              <a:gd name="adj" fmla="val 23529"/>
            </a:avLst>
          </a:prstGeom>
          <a:solidFill>
            <a:srgbClr val="1A7A8A">
              <a:alpha val="80000"/>
            </a:srgbClr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45973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P2·HIGH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26464" y="245059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 Fast-Track Inter-State HVDC Grid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426464" y="28163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Unlocks Rs 60,000 Cr/yr stranded Rajasthan RE · Cuts grid losses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24505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 Energy Corridors Phase 3 · PowerGrid mandate · TBCB bids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28712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Cost: Rs 45,000 Cr over 5 yrs (self-funded by wheeling revenue)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738360" y="245059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MoP / PowerGrid · Transmission plan Q2 FY2026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3419856"/>
            <a:ext cx="11365992" cy="914400"/>
          </a:xfrm>
          <a:prstGeom prst="rect">
            <a:avLst>
              <a:gd name="adj" fmla="val 12000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419856"/>
            <a:ext cx="64008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3474720"/>
            <a:ext cx="822960" cy="310896"/>
          </a:xfrm>
          <a:prstGeom prst="rect">
            <a:avLst>
              <a:gd name="adj" fmla="val 23529"/>
            </a:avLst>
          </a:prstGeom>
          <a:solidFill>
            <a:srgbClr val="E67E22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4838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P3·MED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426464" y="347472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 Pigouvian Carbon Tax: Rs 572/MWh on Coal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426464" y="38404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Corrects Rs 2,747/MWh market failure · Rs 80,000 Cr/yr revenue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34747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 cess on coal power · Revenue → Green Transition Fund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38953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Cost: Revenue-positive from Day 1 · Funds BESS + grid subsidies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738360" y="34747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Ministry of Finance · Budget 2026-27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4443984"/>
            <a:ext cx="11365992" cy="914400"/>
          </a:xfrm>
          <a:prstGeom prst="rect">
            <a:avLst>
              <a:gd name="adj" fmla="val 12000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1480" y="4443984"/>
            <a:ext cx="64008" cy="91440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" y="4498848"/>
            <a:ext cx="822960" cy="310896"/>
          </a:xfrm>
          <a:prstGeom prst="rect">
            <a:avLst>
              <a:gd name="adj" fmla="val 23529"/>
            </a:avLst>
          </a:prstGeom>
          <a:solidFill>
            <a:srgbClr val="F4D03F">
              <a:alpha val="80000"/>
            </a:srgbClr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45079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P4·MED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426464" y="449884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☀️  Accelerate Solar to 400 GW by 2028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426464" y="486460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LCOE falls to Rs 1.8/kWh · Solar beats coal by Rs 2,747/MWh at social prices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0" y="44988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PM-KUSUM expansion · Rooftop Solar 2.0 · PLI manufacturing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491947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Cost: Rs 30,000 Cr subsidies → Rs 80,000 Cr/yr LCOE savings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738360" y="449884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MNRE · Annual targets in NEP revision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5468112"/>
            <a:ext cx="11365992" cy="914400"/>
          </a:xfrm>
          <a:prstGeom prst="rect">
            <a:avLst>
              <a:gd name="adj" fmla="val 12000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11480" y="5468112"/>
            <a:ext cx="64008" cy="9144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0352" y="5522976"/>
            <a:ext cx="822960" cy="310896"/>
          </a:xfrm>
          <a:prstGeom prst="rect">
            <a:avLst>
              <a:gd name="adj" fmla="val 23529"/>
            </a:avLst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55321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P5·LOW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426464" y="552297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Enforce EOQ Coal Inventory Norms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426464" y="588873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Prevents Oct 2021 repeat (100+ critical plants) — supply chain failure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943600" y="55229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NPP real-time ROP alerts · Penalty for stock &lt; normative_stock_days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43600" y="59436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Cost: Rs 500 Cr implementation · Prevents Rs 30,000 Cr/yr GDP loss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738360" y="5522976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CEA / MoP · Notification within 6 months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POSOCO · CICERO  · 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9"/>
          </a:solidFill>
          <a:ln w="12700">
            <a:solidFill>
              <a:srgbClr val="F0F7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D5C6E"/>
          </a:solidFill>
          <a:ln w="12700">
            <a:solidFill>
              <a:srgbClr val="0D5C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SUMMARY  —  10 Questions, 10 Answers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Complete Evidence Chain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answer is backed by at least one quantitative model on official Govt of India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11457432" cy="475488"/>
          </a:xfrm>
          <a:prstGeom prst="rect">
            <a:avLst/>
          </a:prstGeom>
          <a:solidFill>
            <a:srgbClr val="F8FCFD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527048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4630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Did renewables solve the capacity gap?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64608" y="14630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YES — 42% share, deficit &lt;1%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42832" y="14630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1: CEA capacity data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911096"/>
            <a:ext cx="11457432" cy="475488"/>
          </a:xfrm>
          <a:prstGeom prst="rect">
            <a:avLst/>
          </a:prstGeom>
          <a:solidFill>
            <a:srgbClr val="F0F7F9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048256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1984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solar available at 8 PM peak?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64608" y="19842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ZERO GW — every single day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942832" y="19842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2: Diurnal analysis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1457432" cy="475488"/>
          </a:xfrm>
          <a:prstGeom prst="rect">
            <a:avLst/>
          </a:prstGeom>
          <a:solidFill>
            <a:srgbClr val="F8FCFD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569464"/>
            <a:ext cx="201168" cy="201168"/>
          </a:xfrm>
          <a:prstGeom prst="ellipse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250545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India's demand in 2030?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64608" y="250545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241 → 295 GW (+3.5% CAGR)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42832" y="25054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3: SARIMAX model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953512"/>
            <a:ext cx="11457432" cy="475488"/>
          </a:xfrm>
          <a:prstGeom prst="rect">
            <a:avLst/>
          </a:prstGeom>
          <a:solidFill>
            <a:srgbClr val="F0F7F9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090672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30266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cheapest dispatch at 8 PM?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64608" y="302666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 GW coal (no BESS) → 70 GW (with BESS)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942832" y="30266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3: PuLP LP model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474720"/>
            <a:ext cx="11457432" cy="475488"/>
          </a:xfrm>
          <a:prstGeom prst="rect">
            <a:avLst/>
          </a:prstGeom>
          <a:solidFill>
            <a:srgbClr val="F8FCFD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61188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35478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Oct 2021 a coal shortage?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64608" y="35478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— EOQ supply chain failure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942832" y="35478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3: EOQ analysis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995928"/>
            <a:ext cx="11457432" cy="475488"/>
          </a:xfrm>
          <a:prstGeom prst="rect">
            <a:avLst/>
          </a:prstGeom>
          <a:solidFill>
            <a:srgbClr val="F0F7F9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4133088"/>
            <a:ext cx="201168" cy="20116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" y="4069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all states have same problem?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64608" y="40690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— 4 distinct K-Means clusters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942832" y="40690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3: K-Means clustering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517136"/>
            <a:ext cx="11457432" cy="475488"/>
          </a:xfrm>
          <a:prstGeom prst="rect">
            <a:avLst/>
          </a:prstGeom>
          <a:solidFill>
            <a:srgbClr val="F8FCFD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4654296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45902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BESS investment justified?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64608" y="45902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YES — NPV Rs 11,700 Crore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942832" y="45902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4: Cost-benefit analysis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5038344"/>
            <a:ext cx="11457432" cy="475488"/>
          </a:xfrm>
          <a:prstGeom prst="rect">
            <a:avLst/>
          </a:prstGeom>
          <a:solidFill>
            <a:srgbClr val="F0F7F9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" y="5175504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" y="511149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coal price correct?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64608" y="511149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— underpriced by Rs 572/MWh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942832" y="51114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4: Pigouvian analysis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5559552"/>
            <a:ext cx="11457432" cy="475488"/>
          </a:xfrm>
          <a:prstGeom prst="rect">
            <a:avLst/>
          </a:prstGeom>
          <a:solidFill>
            <a:srgbClr val="F8FCFD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5696712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656" y="563270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LCOE at 500 GW?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64608" y="563270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 1.5/kWh — cheapest energy in history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942832" y="56327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4: Wright's Law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6080760"/>
            <a:ext cx="11457432" cy="475488"/>
          </a:xfrm>
          <a:prstGeom prst="rect">
            <a:avLst/>
          </a:prstGeom>
          <a:solidFill>
            <a:srgbClr val="F0F7F9"/>
          </a:solidFill>
          <a:ln w="6350">
            <a:solidFill>
              <a:srgbClr val="D0E8E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" y="621792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6656" y="61539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Does 500 GW solar eliminate coal at peak?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864608" y="615391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— coal falls 200→70 GW (not zero)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942832" y="61539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4: Counterfactual LP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AA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POSOCO · CICERO  · 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 —  Risk Matrix &amp; Sensitivity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11365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Could Go Wrong?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risks ranked by probability × impact  ·  With mitigation strategies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5486400" cy="5166360"/>
          </a:xfrm>
          <a:prstGeom prst="rect">
            <a:avLst>
              <a:gd name="adj" fmla="val 2124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463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MATRIX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651760" cy="2240280"/>
          </a:xfrm>
          <a:prstGeom prst="rect">
            <a:avLst/>
          </a:prstGeom>
          <a:solidFill>
            <a:srgbClr val="E74C3C">
              <a:alpha val="8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874520"/>
            <a:ext cx="2651760" cy="2240280"/>
          </a:xfrm>
          <a:prstGeom prst="rect">
            <a:avLst/>
          </a:prstGeom>
          <a:solidFill>
            <a:srgbClr val="E67E22">
              <a:alpha val="12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160520"/>
            <a:ext cx="2651760" cy="2194560"/>
          </a:xfrm>
          <a:prstGeom prst="rect">
            <a:avLst/>
          </a:prstGeom>
          <a:solidFill>
            <a:srgbClr val="F4D03F">
              <a:alpha val="10000"/>
            </a:srgbClr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4160520"/>
            <a:ext cx="2651760" cy="2194560"/>
          </a:xfrm>
          <a:prstGeom prst="rect">
            <a:avLst/>
          </a:prstGeom>
          <a:solidFill>
            <a:srgbClr val="2ECC71">
              <a:alpha val="8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20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IMPACT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PROB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0" y="1920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IMPACT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PROB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4206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IMPACT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PROB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IMPACT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PROB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(Opportunities)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673352" y="2221992"/>
            <a:ext cx="219456" cy="21945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73352" y="22219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73352" y="2633472"/>
            <a:ext cx="219456" cy="21945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73352" y="26334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70832" y="2221992"/>
            <a:ext cx="219456" cy="21945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0832" y="22219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70832" y="2816352"/>
            <a:ext cx="219456" cy="21945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0832" y="281635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70832" y="4645152"/>
            <a:ext cx="219456" cy="219456"/>
          </a:xfrm>
          <a:prstGeom prst="ellipse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464515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73352" y="4553712"/>
            <a:ext cx="219456" cy="219456"/>
          </a:xfrm>
          <a:prstGeom prst="ellipse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73352" y="45537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70832" y="5102352"/>
            <a:ext cx="219456" cy="21945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510235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80760" y="1371600"/>
            <a:ext cx="5760720" cy="5166360"/>
          </a:xfrm>
          <a:prstGeom prst="rect">
            <a:avLst>
              <a:gd name="adj" fmla="val 2124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1792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Mitigations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1920240"/>
            <a:ext cx="5623560" cy="594360"/>
          </a:xfrm>
          <a:prstGeom prst="rect">
            <a:avLst/>
          </a:prstGeom>
          <a:solidFill>
            <a:srgbClr val="0D5C6E"/>
          </a:solidFill>
          <a:ln w="5080">
            <a:solidFill>
              <a:srgbClr val="1A7A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2103120"/>
            <a:ext cx="228600" cy="2286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19751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BESS costs stay high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73952" y="222199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VGF + import duty waiver + PLI for domestic BESS manufacturing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26480" y="2578608"/>
            <a:ext cx="5623560" cy="594360"/>
          </a:xfrm>
          <a:prstGeom prst="rect">
            <a:avLst/>
          </a:prstGeom>
          <a:solidFill>
            <a:srgbClr val="091D28"/>
          </a:solidFill>
          <a:ln w="5080">
            <a:solidFill>
              <a:srgbClr val="1A7A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2761488"/>
            <a:ext cx="228600" cy="2286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26334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Grid not upgraded in time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73952" y="288036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PowerGrid mandate + tariff reform for transmission investment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26480" y="3236976"/>
            <a:ext cx="5623560" cy="594360"/>
          </a:xfrm>
          <a:prstGeom prst="rect">
            <a:avLst/>
          </a:prstGeom>
          <a:solidFill>
            <a:srgbClr val="0D5C6E"/>
          </a:solidFill>
          <a:ln w="5080">
            <a:solidFill>
              <a:srgbClr val="1A7A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72200" y="3419856"/>
            <a:ext cx="228600" cy="2286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3291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Demand grows faster than forecast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73952" y="353872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response + energy efficiency mandates in buildings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26480" y="3895344"/>
            <a:ext cx="5623560" cy="594360"/>
          </a:xfrm>
          <a:prstGeom prst="rect">
            <a:avLst/>
          </a:prstGeom>
          <a:solidFill>
            <a:srgbClr val="091D28"/>
          </a:solidFill>
          <a:ln w="5080">
            <a:solidFill>
              <a:srgbClr val="1A7A8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72200" y="4078224"/>
            <a:ext cx="228600" cy="2286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3952" y="39502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 DISCOM resistance to BESS mandate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73952" y="419709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Must-buy regulation + DISCOM payment security mechanism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26480" y="4553712"/>
            <a:ext cx="5623560" cy="594360"/>
          </a:xfrm>
          <a:prstGeom prst="rect">
            <a:avLst/>
          </a:prstGeom>
          <a:solidFill>
            <a:srgbClr val="0D5C6E"/>
          </a:solidFill>
          <a:ln w="5080">
            <a:solidFill>
              <a:srgbClr val="1A7A8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72200" y="4736592"/>
            <a:ext cx="228600" cy="228600"/>
          </a:xfrm>
          <a:prstGeom prst="ellipse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73952" y="46085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 Coal PLF collapses (financial crisis)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73952" y="485546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Minimum offtake guarantee for coal plants during transition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126480" y="5212080"/>
            <a:ext cx="5623560" cy="594360"/>
          </a:xfrm>
          <a:prstGeom prst="rect">
            <a:avLst/>
          </a:prstGeom>
          <a:solidFill>
            <a:srgbClr val="091D28"/>
          </a:solidFill>
          <a:ln w="5080">
            <a:solidFill>
              <a:srgbClr val="1A7A8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72200" y="5394960"/>
            <a:ext cx="228600" cy="228600"/>
          </a:xfrm>
          <a:prstGeom prst="ellipse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73952" y="52669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 Policy reversal after elections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73952" y="551383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 BESS targets in NEP + make them statutory requirements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126480" y="5870448"/>
            <a:ext cx="5623560" cy="594360"/>
          </a:xfrm>
          <a:prstGeom prst="rect">
            <a:avLst/>
          </a:prstGeom>
          <a:solidFill>
            <a:srgbClr val="0D5C6E"/>
          </a:solidFill>
          <a:ln w="5080">
            <a:solidFill>
              <a:srgbClr val="1A7A8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72200" y="6053328"/>
            <a:ext cx="228600" cy="2286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73952" y="59253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 Technology breakthrough (upside)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473952" y="617220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flexibility clauses into contracts — avoid lock-in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POSOCO · CICERO  · 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91A"/>
          </a:solidFill>
          <a:ln w="12700">
            <a:solidFill>
              <a:srgbClr val="0409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743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dirty="0">
                <a:solidFill>
                  <a:srgbClr val="0D5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411480" y="329184"/>
            <a:ext cx="137160" cy="137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3200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THESIS  —  4 Weeks · 9 Datasets · 10 Models · 1 Clear Answer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594360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Renewables solved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capacity gap.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solves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timing gap.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11480" y="310896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makes it happen.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11480" y="4224528"/>
            <a:ext cx="6217920" cy="0"/>
          </a:xfrm>
          <a:prstGeom prst="line">
            <a:avLst/>
          </a:prstGeom>
          <a:noFill/>
          <a:ln w="10160">
            <a:solidFill>
              <a:srgbClr val="1A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334256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models confirmed: 300 GWh BESS + Pigouvian tax + LP expansion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Coal at 8 PM peak: 200 GW today → 70 GW by 2030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530352"/>
            <a:ext cx="5212080" cy="1298448"/>
          </a:xfrm>
          <a:prstGeom prst="rect">
            <a:avLst>
              <a:gd name="adj" fmla="val 8451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20840" y="530352"/>
            <a:ext cx="64008" cy="123444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850392"/>
            <a:ext cx="502920" cy="502920"/>
          </a:xfrm>
          <a:prstGeom prst="ellipse">
            <a:avLst/>
          </a:prstGeom>
          <a:solidFill>
            <a:srgbClr val="1A7A8A">
              <a:alpha val="85000"/>
            </a:srgbClr>
          </a:solidFill>
          <a:ln w="19050">
            <a:solidFill>
              <a:srgbClr val="1A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8503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52360" y="603504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52360" y="987552"/>
            <a:ext cx="4343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37×, deficit &lt;1%, 9 datasets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1947672"/>
            <a:ext cx="5212080" cy="1298448"/>
          </a:xfrm>
          <a:prstGeom prst="rect">
            <a:avLst>
              <a:gd name="adj" fmla="val 8451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1947672"/>
            <a:ext cx="64008" cy="1234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2267712"/>
            <a:ext cx="502920" cy="502920"/>
          </a:xfrm>
          <a:prstGeom prst="ellipse">
            <a:avLst/>
          </a:prstGeom>
          <a:solidFill>
            <a:srgbClr val="F4D03F">
              <a:alpha val="85000"/>
            </a:srgbClr>
          </a:solidFill>
          <a:ln w="19050">
            <a:solidFill>
              <a:srgbClr val="F4D0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267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52360" y="2020824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 Analysis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52360" y="2404872"/>
            <a:ext cx="4343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Solar=0 at 8pm · 3 mismatches quantified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3364992"/>
            <a:ext cx="5212080" cy="1298448"/>
          </a:xfrm>
          <a:prstGeom prst="rect">
            <a:avLst>
              <a:gd name="adj" fmla="val 8451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20840" y="3364992"/>
            <a:ext cx="64008" cy="1234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3685032"/>
            <a:ext cx="502920" cy="502920"/>
          </a:xfrm>
          <a:prstGeom prst="ellipse">
            <a:avLst/>
          </a:prstGeom>
          <a:solidFill>
            <a:srgbClr val="E67E22">
              <a:alpha val="85000"/>
            </a:srgbClr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3685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452360" y="3438144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SARIMAX·EOQ·LP·K-Means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52360" y="3822192"/>
            <a:ext cx="4343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295 GW by 2030 · 4 clusters · coal 200 GW at peak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20840" y="4782312"/>
            <a:ext cx="5212080" cy="1298448"/>
          </a:xfrm>
          <a:prstGeom prst="rect">
            <a:avLst>
              <a:gd name="adj" fmla="val 8451"/>
            </a:avLst>
          </a:prstGeom>
          <a:solidFill>
            <a:srgbClr val="0D5C6E"/>
          </a:solidFill>
          <a:ln w="12700">
            <a:solidFill>
              <a:srgbClr val="1A7A8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20840" y="4782312"/>
            <a:ext cx="64008" cy="1234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12280" y="5102352"/>
            <a:ext cx="502920" cy="502920"/>
          </a:xfrm>
          <a:prstGeom prst="ellipse">
            <a:avLst/>
          </a:prstGeom>
          <a:solidFill>
            <a:srgbClr val="2ECC71">
              <a:alpha val="85000"/>
            </a:srgbClr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51023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3D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452360" y="4855464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CBA·Pigou·Wright·LP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52360" y="5239512"/>
            <a:ext cx="4343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BESS NPV+ · Rs 572 tax · Rs 1.5 solar 2030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1480" y="5559552"/>
            <a:ext cx="11365992" cy="1097280"/>
          </a:xfrm>
          <a:prstGeom prst="rect">
            <a:avLst>
              <a:gd name="adj" fmla="val 12500"/>
            </a:avLst>
          </a:prstGeom>
          <a:solidFill>
            <a:srgbClr val="0D5C6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561441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5 POLICIES: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6928" y="59436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P1: 300 GWh BESS mandate (NPV+)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871216" y="59436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P2: HVDC grid fast-track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75504" y="59436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P3: Rs 572/MWh carbon tax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79792" y="59436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D0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P4: Accelerate to 400 GW solar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784080" y="59436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P5: Enforce EOQ coal norms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" y="6620256"/>
            <a:ext cx="11365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CD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Data: India Data Portal (ISB/BMGF) · CEA · NPP · POSOCO · CICERO  ·  All official Govt of India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2026-04-27T17:33:32Z</dcterms:created>
  <dcterms:modified xsi:type="dcterms:W3CDTF">2026-04-27T17:33:32Z</dcterms:modified>
</cp:coreProperties>
</file>
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91A"/>
          </a:solidFill>
          <a:ln w="12700">
            <a:solidFill>
              <a:srgbClr val="0409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10058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0" dirty="0">
                <a:solidFill>
                  <a:srgbClr val="00D9FF"/>
                </a:solidFill>
              </a:rPr>
              <a:t>⚡</a:t>
            </a:r>
            <a:endParaRPr lang="en-US" sz="9500" dirty="0"/>
          </a:p>
        </p:txBody>
      </p:sp>
      <p:sp>
        <p:nvSpPr>
          <p:cNvPr id="21" name="Text 19"/>
          <p:cNvSpPr/>
          <p:nvPr/>
        </p:nvSpPr>
        <p:spPr>
          <a:xfrm>
            <a:off x="2286000" y="914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DEEP ANALYSIS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2286000" y="16002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TRENDS  ·  CUF  ·  DEFICIT MAP  ·  EOQ PREVIEW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2286000" y="2331720"/>
            <a:ext cx="9326880" cy="0"/>
          </a:xfrm>
          <a:prstGeom prst="line">
            <a:avLst/>
          </a:prstGeom>
          <a:noFill/>
          <a:ln w="12700">
            <a:solidFill>
              <a:srgbClr val="2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4688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Renewable Energy Solve India's Peak Demand Problem?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3931920"/>
            <a:ext cx="2743200" cy="1371600"/>
          </a:xfrm>
          <a:prstGeom prst="rect">
            <a:avLst/>
          </a:prstGeom>
          <a:solidFill>
            <a:srgbClr val="111E35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40050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GW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365760" y="49377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(Mar 2026)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3931920"/>
            <a:ext cx="2743200" cy="1371600"/>
          </a:xfrm>
          <a:prstGeom prst="rect">
            <a:avLst/>
          </a:prstGeom>
          <a:solidFill>
            <a:srgbClr val="111E35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37560" y="40050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~49%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3337560" y="49377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Cap Share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931920"/>
            <a:ext cx="2743200" cy="1371600"/>
          </a:xfrm>
          <a:prstGeom prst="rect">
            <a:avLst/>
          </a:prstGeom>
          <a:solidFill>
            <a:srgbClr val="111E35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09360" y="40050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GW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6309360" y="49377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at 8 PM Peak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89720" y="3931920"/>
            <a:ext cx="2743200" cy="1371600"/>
          </a:xfrm>
          <a:prstGeom prst="rect">
            <a:avLst/>
          </a:prstGeom>
          <a:solidFill>
            <a:srgbClr val="111E35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281160" y="40050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GWh</a:t>
            </a:r>
            <a:endParaRPr lang="en-US" sz="3800" dirty="0"/>
          </a:p>
        </p:txBody>
      </p:sp>
      <p:sp>
        <p:nvSpPr>
          <p:cNvPr id="36" name="Text 34"/>
          <p:cNvSpPr/>
          <p:nvPr/>
        </p:nvSpPr>
        <p:spPr>
          <a:xfrm>
            <a:off x="9281160" y="49377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Gap (national)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86000" y="6263640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IDP CKAN API (5 datasets)  +  CICERO/CEA  ·  All columns verified from IDP data dictionary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6620256"/>
            <a:ext cx="11640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NPP · CICERO/Robbie Andrew  ·  All official Govt of India data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— IDP CKAN API + CICERO FALLBACK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11480" y="9144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 names verified from IDP data dictionary pages · ckandev.indiadataportal.com/dataset/power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1325880"/>
            <a:ext cx="5715000" cy="1508760"/>
          </a:xfrm>
          <a:prstGeom prst="rect">
            <a:avLst/>
          </a:prstGeom>
          <a:solidFill>
            <a:srgbClr val="111E35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1325880"/>
            <a:ext cx="54864" cy="1508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399032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Capacity Statewise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1728216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IDP CKAN API /datastore/dump/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196596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date, state_name, coal_cap, gas_cap, diesel_cap, lignite_cap,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nuclear_cap, hydro_cap, res_cap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2560320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 · Monthly · 2017–2025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5715000" cy="1508760"/>
          </a:xfrm>
          <a:prstGeom prst="rect">
            <a:avLst/>
          </a:prstGeom>
          <a:solidFill>
            <a:srgbClr val="111E35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017520"/>
            <a:ext cx="54864" cy="150876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090672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Renewable Generation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419856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IDP CKAN API /datastore/dump/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65760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date, state_name, region, wind_energy, solar_energy,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other_renewable_energy, total_renewable_energy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251960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 DGR · Daily · 2019–2025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4709160"/>
            <a:ext cx="5715000" cy="1508760"/>
          </a:xfrm>
          <a:prstGeom prst="rect">
            <a:avLst/>
          </a:prstGeom>
          <a:solidFill>
            <a:srgbClr val="111E35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709160"/>
            <a:ext cx="54864" cy="15087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82312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Req &amp; Availability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5111496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IDP CKAN API /datastore/dump/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534924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month, state_name, state_code,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energy_requirement, energy_availability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5943600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 · Monthly · 2019–2023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09360" y="1325880"/>
            <a:ext cx="5715000" cy="1508760"/>
          </a:xfrm>
          <a:prstGeom prst="rect">
            <a:avLst/>
          </a:prstGeom>
          <a:solidFill>
            <a:srgbClr val="111E35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09360" y="1325880"/>
            <a:ext cx="54864" cy="150876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1399032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Coal Stocks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92240" y="1728216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IDP CKAN API /datastore/dump/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92240" y="196596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date, state_name, capacity, daily_requirement,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total_stock, stock_days, plf_prcnt, is_critical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2560320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 · Daily · 2014–2025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09360" y="3017520"/>
            <a:ext cx="5715000" cy="1508760"/>
          </a:xfrm>
          <a:prstGeom prst="rect">
            <a:avLst/>
          </a:prstGeom>
          <a:solidFill>
            <a:srgbClr val="111E35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09360" y="3017520"/>
            <a:ext cx="54864" cy="150876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3090672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Power Outage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92240" y="3419856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IDP CKAN API /datastore/dump/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92240" y="365760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date, state_name, station_type, power_station,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monitored_capacity, outage_capacity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92240" y="4251960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 · Daily · 2014–2025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09360" y="4709160"/>
            <a:ext cx="5715000" cy="1508760"/>
          </a:xfrm>
          <a:prstGeom prst="rect">
            <a:avLst/>
          </a:prstGeom>
          <a:solidFill>
            <a:srgbClr val="111E35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09360" y="4709160"/>
            <a:ext cx="54864" cy="150876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0" y="4782312"/>
            <a:ext cx="5440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Capacity (national)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492240" y="5111496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CICERO/CEA CSV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92240" y="534924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YYYYMM, Coal_Lignite, Gas, Nuclear, Hydro,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Small_hydro, Wind, Biomass, Solar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92240" y="5943600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 via Robbie Andrew · Monthly · 1947–2026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74320" y="6446520"/>
            <a:ext cx="11640312" cy="292608"/>
          </a:xfrm>
          <a:prstGeom prst="rect">
            <a:avLst/>
          </a:prstGeom>
          <a:solidFill>
            <a:srgbClr val="050D1A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57200" y="6473952"/>
            <a:ext cx="1127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Loader: Method 1 → /datastore/dump/&lt;id&gt;?bom=True (full CSV)   |   Method 2 → /api/3/action/datastore_search (paginated 10k rows)   |   Method 3 → CICERO CSV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74320" y="6620256"/>
            <a:ext cx="11640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NPP · CICERO/Robbie Andrew  ·  All official Govt of India data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CAPACITY MIX — THE RENEWABLE REVOLUTION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11480" y="9144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 Monthly Installed Capacity · CICERO mirror · YYYYMM, Coal_Lignite, Solar, Wind, Hydro, Nuclear (all in MW)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1423721"/>
            <a:ext cx="1371600" cy="625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Coal+Lignite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0240" y="1371600"/>
            <a:ext cx="3730752" cy="347472"/>
          </a:xfrm>
          <a:prstGeom prst="rect">
            <a:avLst/>
          </a:prstGeom>
          <a:solidFill>
            <a:srgbClr val="FF5252">
              <a:alpha val="50000"/>
            </a:srgbClr>
          </a:solidFill>
          <a:ln w="10160">
            <a:solidFill>
              <a:srgbClr val="FF52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96712" y="1371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GW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20240" y="1755648"/>
            <a:ext cx="5025542" cy="347472"/>
          </a:xfrm>
          <a:prstGeom prst="rect">
            <a:avLst/>
          </a:prstGeom>
          <a:solidFill>
            <a:srgbClr val="FF5252"/>
          </a:solidFill>
          <a:ln w="10160">
            <a:solidFill>
              <a:srgbClr val="FF52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1502" y="17556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 GW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2319833"/>
            <a:ext cx="1371600" cy="625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Hydro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20240" y="2267712"/>
            <a:ext cx="921715" cy="347472"/>
          </a:xfrm>
          <a:prstGeom prst="rect">
            <a:avLst/>
          </a:prstGeom>
          <a:solidFill>
            <a:srgbClr val="5B9BD5">
              <a:alpha val="50000"/>
            </a:srgbClr>
          </a:solidFill>
          <a:ln w="10160">
            <a:solidFill>
              <a:srgbClr val="5B9B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7675" y="22677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GW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20240" y="2651760"/>
            <a:ext cx="1119226" cy="347472"/>
          </a:xfrm>
          <a:prstGeom prst="rect">
            <a:avLst/>
          </a:prstGeom>
          <a:solidFill>
            <a:srgbClr val="5B9BD5"/>
          </a:solidFill>
          <a:ln w="10160">
            <a:solidFill>
              <a:srgbClr val="5B9B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85186" y="2651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GW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215945"/>
            <a:ext cx="1371600" cy="625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20240" y="3163824"/>
            <a:ext cx="127284" cy="347472"/>
          </a:xfrm>
          <a:prstGeom prst="rect">
            <a:avLst/>
          </a:prstGeom>
          <a:solidFill>
            <a:srgbClr val="C77DFF">
              <a:alpha val="50000"/>
            </a:srgbClr>
          </a:solidFill>
          <a:ln w="10160">
            <a:solidFill>
              <a:srgbClr val="C77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93244" y="316382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GW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20240" y="3547872"/>
            <a:ext cx="193121" cy="347472"/>
          </a:xfrm>
          <a:prstGeom prst="rect">
            <a:avLst/>
          </a:prstGeom>
          <a:solidFill>
            <a:srgbClr val="C77DFF"/>
          </a:solidFill>
          <a:ln w="10160">
            <a:solidFill>
              <a:srgbClr val="C77D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59081" y="35478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 GW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112057"/>
            <a:ext cx="1371600" cy="625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920240" y="4059936"/>
            <a:ext cx="548640" cy="347472"/>
          </a:xfrm>
          <a:prstGeom prst="rect">
            <a:avLst/>
          </a:prstGeom>
          <a:solidFill>
            <a:srgbClr val="00FF9F">
              <a:alpha val="50000"/>
            </a:srgbClr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40599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GW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920240" y="4443984"/>
            <a:ext cx="1228954" cy="347472"/>
          </a:xfrm>
          <a:prstGeom prst="rect">
            <a:avLst/>
          </a:prstGeom>
          <a:solidFill>
            <a:srgbClr val="00FF9F"/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94914" y="44439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GW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5008169"/>
            <a:ext cx="1371600" cy="625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920240" y="4956048"/>
            <a:ext cx="87782" cy="347472"/>
          </a:xfrm>
          <a:prstGeom prst="rect">
            <a:avLst/>
          </a:prstGeom>
          <a:solidFill>
            <a:srgbClr val="FFB800">
              <a:alpha val="50000"/>
            </a:srgbClr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53742" y="49560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GW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920240" y="5340096"/>
            <a:ext cx="3291840" cy="347472"/>
          </a:xfrm>
          <a:prstGeom prst="rect">
            <a:avLst/>
          </a:prstGeom>
          <a:solidFill>
            <a:srgbClr val="FFB800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534009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GW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5904281"/>
            <a:ext cx="1371600" cy="625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Biomass+SHP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920240" y="5852160"/>
            <a:ext cx="241402" cy="347472"/>
          </a:xfrm>
          <a:prstGeom prst="rect">
            <a:avLst/>
          </a:prstGeom>
          <a:solidFill>
            <a:srgbClr val="888888">
              <a:alpha val="50000"/>
            </a:srgbClr>
          </a:solidFill>
          <a:ln w="10160">
            <a:solidFill>
              <a:srgbClr val="8888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07362" y="58521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920240" y="6236208"/>
            <a:ext cx="329184" cy="347472"/>
          </a:xfrm>
          <a:prstGeom prst="rect">
            <a:avLst/>
          </a:prstGeom>
          <a:solidFill>
            <a:srgbClr val="888888"/>
          </a:solidFill>
          <a:ln w="10160">
            <a:solidFill>
              <a:srgbClr val="8888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95144" y="62362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GW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920240" y="5989320"/>
            <a:ext cx="914400" cy="201168"/>
          </a:xfrm>
          <a:prstGeom prst="rect">
            <a:avLst/>
          </a:prstGeom>
          <a:solidFill>
            <a:srgbClr val="888888">
              <a:alpha val="50000"/>
            </a:srgbClr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80360" y="5989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931920" y="5989320"/>
            <a:ext cx="9144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5989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132320" y="1280160"/>
            <a:ext cx="4663440" cy="14630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FF9F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269480" y="13533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SHARE OF INSTALLED CAPACITY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269480" y="1627632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~49%</a:t>
            </a:r>
            <a:endParaRPr lang="en-US" sz="6000" dirty="0"/>
          </a:p>
        </p:txBody>
      </p:sp>
      <p:sp>
        <p:nvSpPr>
          <p:cNvPr id="58" name="Shape 56"/>
          <p:cNvSpPr/>
          <p:nvPr/>
        </p:nvSpPr>
        <p:spPr>
          <a:xfrm>
            <a:off x="7132320" y="2926080"/>
            <a:ext cx="4663440" cy="777240"/>
          </a:xfrm>
          <a:prstGeom prst="rect">
            <a:avLst/>
          </a:prstGeom>
          <a:solidFill>
            <a:srgbClr val="111E35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132320" y="2926080"/>
            <a:ext cx="54864" cy="77724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0" y="2990088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Solar: 4 → 150 GW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315200" y="327355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37× in 10 years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fastest buildout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132320" y="3822192"/>
            <a:ext cx="4663440" cy="7772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FF9F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132320" y="3822192"/>
            <a:ext cx="54864" cy="77724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15200" y="3886200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 Wind: 25 → 56 GW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315200" y="416966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growth · Slowing (land/grid constraints)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132320" y="4718304"/>
            <a:ext cx="4663440" cy="777240"/>
          </a:xfrm>
          <a:prstGeom prst="rect">
            <a:avLst/>
          </a:prstGeom>
          <a:solidFill>
            <a:srgbClr val="111E35"/>
          </a:solidFill>
          <a:ln w="12700">
            <a:solidFill>
              <a:srgbClr val="FF5252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7132320" y="4718304"/>
            <a:ext cx="54864" cy="77724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00" y="4782312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⚫  Coal share: 59% → 47%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315200" y="506577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GW still growing (+35%)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Phase-out needs storage solution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132320" y="5614416"/>
            <a:ext cx="4663440" cy="7772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7132320" y="5614416"/>
            <a:ext cx="54864" cy="7772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0" y="5678424"/>
            <a:ext cx="4389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Total: 280 → 480+ GW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315200" y="59618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generation mix still 70%+ fossil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≠ Generation (CUF gap)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274320" y="6620256"/>
            <a:ext cx="11640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NPP · CICERO/Robbie Andrew  ·  All official Govt of India data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CAPACITY — WHO HAS WHAT? (IDP: coal_cap, hydro_cap, res_cap)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11480" y="9144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dataset: installed_statewise · Columns: date, state_name, coal_cap, gas_cap, nuclear_cap, hydro_cap, res_cap (MW)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40280" y="1399032"/>
            <a:ext cx="3950208" cy="356616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0488" y="1399032"/>
            <a:ext cx="722376" cy="356616"/>
          </a:xfrm>
          <a:prstGeom prst="rect">
            <a:avLst/>
          </a:prstGeom>
          <a:solidFill>
            <a:srgbClr val="FF5252">
              <a:alpha val="8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12864" y="1399032"/>
            <a:ext cx="45720" cy="356616"/>
          </a:xfrm>
          <a:prstGeom prst="rect">
            <a:avLst/>
          </a:prstGeom>
          <a:solidFill>
            <a:srgbClr val="5B9BD5">
              <a:alpha val="80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0024" y="1371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 GW RES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40280" y="1901952"/>
            <a:ext cx="2203704" cy="356616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43984" y="1901952"/>
            <a:ext cx="1170432" cy="356616"/>
          </a:xfrm>
          <a:prstGeom prst="rect">
            <a:avLst/>
          </a:prstGeom>
          <a:solidFill>
            <a:srgbClr val="FF5252">
              <a:alpha val="8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14416" y="1901952"/>
            <a:ext cx="118872" cy="356616"/>
          </a:xfrm>
          <a:prstGeom prst="rect">
            <a:avLst/>
          </a:prstGeom>
          <a:solidFill>
            <a:srgbClr val="5B9BD5">
              <a:alpha val="80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24728" y="1874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 GW RES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2377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40280" y="2404872"/>
            <a:ext cx="2048256" cy="356616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88536" y="2404872"/>
            <a:ext cx="649224" cy="356616"/>
          </a:xfrm>
          <a:prstGeom prst="rect">
            <a:avLst/>
          </a:prstGeom>
          <a:solidFill>
            <a:srgbClr val="FF5252">
              <a:alpha val="8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37760" y="2404872"/>
            <a:ext cx="813816" cy="356616"/>
          </a:xfrm>
          <a:prstGeom prst="rect">
            <a:avLst/>
          </a:prstGeom>
          <a:solidFill>
            <a:srgbClr val="5B9BD5">
              <a:alpha val="80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43016" y="2377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 GW RES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40280" y="2907792"/>
            <a:ext cx="2029968" cy="356616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70248" y="2907792"/>
            <a:ext cx="786384" cy="356616"/>
          </a:xfrm>
          <a:prstGeom prst="rect">
            <a:avLst/>
          </a:prstGeom>
          <a:solidFill>
            <a:srgbClr val="FF5252">
              <a:alpha val="8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56632" y="2907792"/>
            <a:ext cx="283464" cy="356616"/>
          </a:xfrm>
          <a:prstGeom prst="rect">
            <a:avLst/>
          </a:prstGeom>
          <a:solidFill>
            <a:srgbClr val="5B9BD5">
              <a:alpha val="80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31536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 GW RES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3383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40280" y="3410712"/>
            <a:ext cx="1764792" cy="356616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05072" y="3410712"/>
            <a:ext cx="676656" cy="356616"/>
          </a:xfrm>
          <a:prstGeom prst="rect">
            <a:avLst/>
          </a:prstGeom>
          <a:solidFill>
            <a:srgbClr val="FF5252">
              <a:alpha val="8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81728" y="3410712"/>
            <a:ext cx="530352" cy="356616"/>
          </a:xfrm>
          <a:prstGeom prst="rect">
            <a:avLst/>
          </a:prstGeom>
          <a:solidFill>
            <a:srgbClr val="5B9BD5">
              <a:alpha val="80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 GW RES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5760" y="3886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40280" y="3913632"/>
            <a:ext cx="1700784" cy="356616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41064" y="3913632"/>
            <a:ext cx="1947672" cy="356616"/>
          </a:xfrm>
          <a:prstGeom prst="rect">
            <a:avLst/>
          </a:prstGeom>
          <a:solidFill>
            <a:srgbClr val="FF5252">
              <a:alpha val="8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88736" y="3913632"/>
            <a:ext cx="658368" cy="356616"/>
          </a:xfrm>
          <a:prstGeom prst="rect">
            <a:avLst/>
          </a:prstGeom>
          <a:solidFill>
            <a:srgbClr val="5B9BD5">
              <a:alpha val="80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38544" y="3886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 GW RES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65760" y="4389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240280" y="4416552"/>
            <a:ext cx="1380744" cy="356616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21024" y="4416552"/>
            <a:ext cx="1261872" cy="356616"/>
          </a:xfrm>
          <a:prstGeom prst="rect">
            <a:avLst/>
          </a:prstGeom>
          <a:solidFill>
            <a:srgbClr val="FF5252">
              <a:alpha val="8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82896" y="4416552"/>
            <a:ext cx="310896" cy="356616"/>
          </a:xfrm>
          <a:prstGeom prst="rect">
            <a:avLst/>
          </a:prstGeom>
          <a:solidFill>
            <a:srgbClr val="5B9BD5">
              <a:alpha val="80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85232" y="4389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 GW RES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65760" y="4892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240280" y="4919472"/>
            <a:ext cx="1078992" cy="356616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19272" y="4919472"/>
            <a:ext cx="859536" cy="356616"/>
          </a:xfrm>
          <a:prstGeom prst="rect">
            <a:avLst/>
          </a:prstGeom>
          <a:solidFill>
            <a:srgbClr val="FF5252">
              <a:alpha val="8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78808" y="4919472"/>
            <a:ext cx="210312" cy="356616"/>
          </a:xfrm>
          <a:prstGeom prst="rect">
            <a:avLst/>
          </a:prstGeom>
          <a:solidFill>
            <a:srgbClr val="5B9BD5">
              <a:alpha val="80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80560" y="4892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 GW RES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65760" y="5394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240280" y="5422392"/>
            <a:ext cx="932688" cy="356616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172968" y="5422392"/>
            <a:ext cx="2386584" cy="356616"/>
          </a:xfrm>
          <a:prstGeom prst="rect">
            <a:avLst/>
          </a:prstGeom>
          <a:solidFill>
            <a:srgbClr val="FF5252">
              <a:alpha val="8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559552" y="5422392"/>
            <a:ext cx="27432" cy="356616"/>
          </a:xfrm>
          <a:prstGeom prst="rect">
            <a:avLst/>
          </a:prstGeom>
          <a:solidFill>
            <a:srgbClr val="5B9BD5">
              <a:alpha val="80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78424" y="5394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 GW RES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65760" y="5897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Himachal Pradesh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240280" y="5925312"/>
            <a:ext cx="45720" cy="356616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86000" y="5925312"/>
            <a:ext cx="0" cy="356616"/>
          </a:xfrm>
          <a:prstGeom prst="rect">
            <a:avLst/>
          </a:prstGeom>
          <a:solidFill>
            <a:srgbClr val="FF5252">
              <a:alpha val="8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86000" y="5925312"/>
            <a:ext cx="978408" cy="356616"/>
          </a:xfrm>
          <a:prstGeom prst="rect">
            <a:avLst/>
          </a:prstGeom>
          <a:solidFill>
            <a:srgbClr val="5B9BD5">
              <a:alpha val="80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55848" y="5897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GW RES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240280" y="6492240"/>
            <a:ext cx="274320" cy="18288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60320" y="64922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383280" y="6492240"/>
            <a:ext cx="274320" cy="18288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703320" y="64922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526280" y="6492240"/>
            <a:ext cx="274320" cy="18288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46320" y="64922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772400" y="1280160"/>
            <a:ext cx="4114800" cy="1325880"/>
          </a:xfrm>
          <a:prstGeom prst="rect">
            <a:avLst/>
          </a:prstGeom>
          <a:solidFill>
            <a:srgbClr val="111E35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7772400" y="1280160"/>
            <a:ext cx="54864" cy="13258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936992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Geographic Concentration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7936992" y="171907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 = ~75% of all RES capacity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alone = ~28% of solar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7772400" y="2743200"/>
            <a:ext cx="4114800" cy="1325880"/>
          </a:xfrm>
          <a:prstGeom prst="rect">
            <a:avLst/>
          </a:prstGeom>
          <a:solidFill>
            <a:srgbClr val="111E35"/>
          </a:solidFill>
          <a:ln w="12700">
            <a:solidFill>
              <a:srgbClr val="FF5252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772400" y="2743200"/>
            <a:ext cx="54864" cy="132588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936992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Demand Mismatch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7936992" y="318211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+ MH + Delhi = 40%+ of national demand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only ~10% of RES capacity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massive grid investment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7772400" y="4206240"/>
            <a:ext cx="4114800" cy="1325880"/>
          </a:xfrm>
          <a:prstGeom prst="rect">
            <a:avLst/>
          </a:prstGeom>
          <a:solidFill>
            <a:srgbClr val="111E35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7772400" y="4206240"/>
            <a:ext cx="54864" cy="13258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936992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Transmission Bottleneck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7936992" y="464515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Inter-state lines saturated in summer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loss: 2-5% of renewable power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Effective deficit higher than reported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7772400" y="5669280"/>
            <a:ext cx="4114800" cy="502920"/>
          </a:xfrm>
          <a:prstGeom prst="rect">
            <a:avLst/>
          </a:prstGeom>
          <a:solidFill>
            <a:srgbClr val="111E35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7909560" y="57332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IDP API call: /datastore/dump/4ef9b444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columns: res_cap = Solar+Wind+SHP+Biomass aggregate (MW)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274320" y="6620256"/>
            <a:ext cx="11640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NPP · CICERO/Robbie Andrew  ·  All official Govt of India data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RENEWABLE GENERATION — SEASONALITY &amp; STATE LEADERS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11480" y="9144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IDP: daily_renewable · Columns: date, state_name, wind_energy, solar_energy, total_renewable_energy (MU)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67959"/>
            <a:ext cx="347472" cy="1261241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" y="3389586"/>
            <a:ext cx="347472" cy="1639614"/>
          </a:xfrm>
          <a:prstGeom prst="rect">
            <a:avLst/>
          </a:prstGeom>
          <a:solidFill>
            <a:srgbClr val="00FF9F"/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510235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170432" y="3578772"/>
            <a:ext cx="347472" cy="1450428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45336" y="3578772"/>
            <a:ext cx="347472" cy="1450428"/>
          </a:xfrm>
          <a:prstGeom prst="rect">
            <a:avLst/>
          </a:prstGeom>
          <a:solidFill>
            <a:srgbClr val="00FF9F"/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510235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975104" y="3074276"/>
            <a:ext cx="347472" cy="1954924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0008" y="3767959"/>
            <a:ext cx="347472" cy="1261241"/>
          </a:xfrm>
          <a:prstGeom prst="rect">
            <a:avLst/>
          </a:prstGeom>
          <a:solidFill>
            <a:srgbClr val="00FF9F"/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01952" y="510235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79776" y="1371600"/>
            <a:ext cx="749808" cy="3657600"/>
          </a:xfrm>
          <a:prstGeom prst="rect">
            <a:avLst/>
          </a:prstGeom>
          <a:solidFill>
            <a:srgbClr val="FF5252">
              <a:alpha val="12000"/>
            </a:srgbClr>
          </a:solidFill>
          <a:ln w="6350">
            <a:solidFill>
              <a:srgbClr val="FF5252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79776" y="2822028"/>
            <a:ext cx="347472" cy="2207172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54680" y="3957145"/>
            <a:ext cx="347472" cy="1072055"/>
          </a:xfrm>
          <a:prstGeom prst="rect">
            <a:avLst/>
          </a:prstGeom>
          <a:solidFill>
            <a:srgbClr val="00FF9F"/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06624" y="510235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584448" y="1371600"/>
            <a:ext cx="749808" cy="3657600"/>
          </a:xfrm>
          <a:prstGeom prst="rect">
            <a:avLst/>
          </a:prstGeom>
          <a:solidFill>
            <a:srgbClr val="FF5252">
              <a:alpha val="12000"/>
            </a:srgbClr>
          </a:solidFill>
          <a:ln w="6350">
            <a:solidFill>
              <a:srgbClr val="FF5252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84448" y="2948152"/>
            <a:ext cx="347472" cy="2081048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59352" y="3831021"/>
            <a:ext cx="347472" cy="1198179"/>
          </a:xfrm>
          <a:prstGeom prst="rect">
            <a:avLst/>
          </a:prstGeom>
          <a:solidFill>
            <a:srgbClr val="00FF9F"/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11296" y="510235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389120" y="1371600"/>
            <a:ext cx="749808" cy="3657600"/>
          </a:xfrm>
          <a:prstGeom prst="rect">
            <a:avLst/>
          </a:prstGeom>
          <a:solidFill>
            <a:srgbClr val="FF5252">
              <a:alpha val="12000"/>
            </a:srgbClr>
          </a:solidFill>
          <a:ln w="6350">
            <a:solidFill>
              <a:srgbClr val="FF5252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89120" y="3326524"/>
            <a:ext cx="347472" cy="1702676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64024" y="2948152"/>
            <a:ext cx="347472" cy="2081048"/>
          </a:xfrm>
          <a:prstGeom prst="rect">
            <a:avLst/>
          </a:prstGeom>
          <a:solidFill>
            <a:srgbClr val="00FF9F"/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15968" y="510235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193792" y="3767959"/>
            <a:ext cx="347472" cy="1261241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68696" y="1876097"/>
            <a:ext cx="347472" cy="3153103"/>
          </a:xfrm>
          <a:prstGeom prst="rect">
            <a:avLst/>
          </a:prstGeom>
          <a:solidFill>
            <a:srgbClr val="00FF9F"/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510235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998464" y="3894083"/>
            <a:ext cx="347472" cy="1135117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73368" y="1686910"/>
            <a:ext cx="347472" cy="3342290"/>
          </a:xfrm>
          <a:prstGeom prst="rect">
            <a:avLst/>
          </a:prstGeom>
          <a:solidFill>
            <a:srgbClr val="00FF9F"/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25312" y="510235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03136" y="3704897"/>
            <a:ext cx="347472" cy="1324303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78040" y="2065283"/>
            <a:ext cx="347472" cy="2963917"/>
          </a:xfrm>
          <a:prstGeom prst="rect">
            <a:avLst/>
          </a:prstGeom>
          <a:solidFill>
            <a:srgbClr val="00FF9F"/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29984" y="510235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607808" y="1371600"/>
            <a:ext cx="749808" cy="3657600"/>
          </a:xfrm>
          <a:prstGeom prst="rect">
            <a:avLst/>
          </a:prstGeom>
          <a:solidFill>
            <a:srgbClr val="FF5252">
              <a:alpha val="12000"/>
            </a:srgbClr>
          </a:solidFill>
          <a:ln w="6350">
            <a:solidFill>
              <a:srgbClr val="FF5252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07808" y="3452648"/>
            <a:ext cx="347472" cy="1576552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82712" y="3074276"/>
            <a:ext cx="347472" cy="1954924"/>
          </a:xfrm>
          <a:prstGeom prst="rect">
            <a:avLst/>
          </a:prstGeom>
          <a:solidFill>
            <a:srgbClr val="00FF9F"/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34656" y="510235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412480" y="1371600"/>
            <a:ext cx="749808" cy="3657600"/>
          </a:xfrm>
          <a:prstGeom prst="rect">
            <a:avLst/>
          </a:prstGeom>
          <a:solidFill>
            <a:srgbClr val="FF5252">
              <a:alpha val="12000"/>
            </a:srgbClr>
          </a:solidFill>
          <a:ln w="6350">
            <a:solidFill>
              <a:srgbClr val="FF5252">
                <a:alpha val="3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12480" y="3704897"/>
            <a:ext cx="347472" cy="1324303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87384" y="3515710"/>
            <a:ext cx="347472" cy="1513490"/>
          </a:xfrm>
          <a:prstGeom prst="rect">
            <a:avLst/>
          </a:prstGeom>
          <a:solidFill>
            <a:srgbClr val="00FF9F"/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39328" y="510235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217152" y="3919308"/>
            <a:ext cx="347472" cy="1109892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592056" y="3578772"/>
            <a:ext cx="347472" cy="1450428"/>
          </a:xfrm>
          <a:prstGeom prst="rect">
            <a:avLst/>
          </a:prstGeom>
          <a:solidFill>
            <a:srgbClr val="00FF9F"/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44000" y="510235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65760" y="5413248"/>
            <a:ext cx="256032" cy="1828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6656" y="54132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MU/day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286000" y="5413248"/>
            <a:ext cx="256032" cy="18288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96896" y="54132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MU/day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114800" y="5413248"/>
            <a:ext cx="256032" cy="182880"/>
          </a:xfrm>
          <a:prstGeom prst="rect">
            <a:avLst/>
          </a:prstGeom>
          <a:solidFill>
            <a:srgbClr val="FF5252">
              <a:alpha val="3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25696" y="54132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season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503920" y="1280160"/>
            <a:ext cx="3383280" cy="2423160"/>
          </a:xfrm>
          <a:prstGeom prst="rect">
            <a:avLst/>
          </a:prstGeom>
          <a:solidFill>
            <a:srgbClr val="111E35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8503920" y="1280160"/>
            <a:ext cx="54864" cy="24231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68512" y="13716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Top Solar Gen States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8668512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Rajasthan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0698480" y="1783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34.8 BU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668512" y="21305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Gujarat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0698480" y="21305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 BU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668512" y="24780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Karnataka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0698480" y="247802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 BU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668512" y="28254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Tamil Nadu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10698480" y="282549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 BU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668512" y="31729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Andhra Pradesh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698480" y="31729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 BU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503920" y="3840480"/>
            <a:ext cx="3383280" cy="2286000"/>
          </a:xfrm>
          <a:prstGeom prst="rect">
            <a:avLst/>
          </a:prstGeom>
          <a:solidFill>
            <a:srgbClr val="111E35"/>
          </a:solidFill>
          <a:ln w="12700">
            <a:solidFill>
              <a:srgbClr val="00FF9F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8503920" y="3840480"/>
            <a:ext cx="54864" cy="228600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668512" y="39319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 Top Wind Gen States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8668512" y="434340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Tamil Nadu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10698480" y="434340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 BU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8668512" y="4672584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Gujarat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698480" y="4672584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 BU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8668512" y="500176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Rajasthan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10698480" y="500176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 BU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8668512" y="5330952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Andhra Pradesh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10698480" y="5330952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 BU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668512" y="5660136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Karnataka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10698480" y="5660136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 BU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389120" y="2103120"/>
            <a:ext cx="3657600" cy="914400"/>
          </a:xfrm>
          <a:prstGeom prst="rect">
            <a:avLst/>
          </a:prstGeom>
          <a:solidFill>
            <a:srgbClr val="0A1A00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434840" y="21488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peaks Jul-Sep (monsoon)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peaks Mar-May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peak demand = Apr-Jun + Oct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Timing mismatch confirmed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274320" y="6620256"/>
            <a:ext cx="11640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NPP · CICERO/Robbie Andrew  ·  All official Govt of India data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DEFICIT MAP — WHERE IS POWER SCARCE?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11480" y="9144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IDP: energy_req_avail · Columns: month, state_name, energy_requirement, energy_availability (MU)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128016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14600" y="1325880"/>
            <a:ext cx="54864" cy="23774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42616" y="128016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170078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1746504"/>
            <a:ext cx="109728" cy="23774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17007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212140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Bengal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14600" y="2167128"/>
            <a:ext cx="329184" cy="23774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16936" y="212140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254203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Odisha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14600" y="2587752"/>
            <a:ext cx="603504" cy="23774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91256" y="254203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296265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Jharkhand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14600" y="3008376"/>
            <a:ext cx="1042416" cy="23774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30168" y="296265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338328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14600" y="3429000"/>
            <a:ext cx="1316736" cy="23774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04488" y="338328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380390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14600" y="3849624"/>
            <a:ext cx="1700784" cy="23774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88536" y="380390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422452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Arunachal Pradesh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14600" y="4270248"/>
            <a:ext cx="2304288" cy="23774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422452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64515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Meghalaya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14600" y="4690872"/>
            <a:ext cx="2578608" cy="23774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66360" y="464515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" y="50657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Himachal Pradesh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14600" y="5111496"/>
            <a:ext cx="2798064" cy="237744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85816" y="506577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5760" y="54864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514600" y="5532120"/>
            <a:ext cx="3730752" cy="237744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18504" y="548640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590702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Jammu &amp; Kashmir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514600" y="5952744"/>
            <a:ext cx="4498848" cy="237744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86600" y="590702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514600" y="64739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% of energy requirement (avg 2019–2023)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412480" y="1280160"/>
            <a:ext cx="3520440" cy="2011680"/>
          </a:xfrm>
          <a:prstGeom prst="rect">
            <a:avLst/>
          </a:prstGeom>
          <a:solidFill>
            <a:srgbClr val="111E35"/>
          </a:solidFill>
          <a:ln w="12700">
            <a:solidFill>
              <a:srgbClr val="FF5252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412480" y="1280160"/>
            <a:ext cx="54864" cy="201168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77072" y="1371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Economics of Deficit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577072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deficit formula: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0515600" y="1783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- Avail = deficit_mu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577072" y="20756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J&amp;K deficit (2022):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0515600" y="207568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~590 MU / year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577072" y="23682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deficit (2022):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0515600" y="236829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~2,100 MU / year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8577072" y="2660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GDP loss rate: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10515600" y="266090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5,000 / MU unmet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577072" y="2953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DWL = area under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10515600" y="29535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curve above supply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412480" y="3429000"/>
            <a:ext cx="3520440" cy="1645920"/>
          </a:xfrm>
          <a:prstGeom prst="rect">
            <a:avLst/>
          </a:prstGeom>
          <a:solidFill>
            <a:srgbClr val="111E35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8412480" y="3429000"/>
            <a:ext cx="54864" cy="16459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577072" y="3520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Thesis Connection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8577072" y="393192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data shows deficit is concentrated 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north/northeast India — precisely where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from solar-rich Rajasthan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most constrained.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built in wrong geography.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8412480" y="5212080"/>
            <a:ext cx="3520440" cy="685800"/>
          </a:xfrm>
          <a:prstGeom prst="rect">
            <a:avLst/>
          </a:prstGeom>
          <a:solidFill>
            <a:srgbClr val="111E35"/>
          </a:solidFill>
          <a:ln w="12700">
            <a:solidFill>
              <a:srgbClr val="2A305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8549640" y="5285232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deficit_mu = energy_requirement - energy_availability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deficit_pct = deficit_mu / energy_requirement × 100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IDP resource c8defaeb · CEA monthly state-level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274320" y="6620256"/>
            <a:ext cx="11640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NPP · CICERO/Robbie Andrew  ·  All official Govt of India data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STOCKS — EOQ PREVIEW (IDP: stock_days, plf_prcnt, is_critical)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11480" y="9144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IDP: coal_stocks · Columns: daily_requirement, total_stock, stock_days, normative_stock_days, plf_prcnt, is_critical (22 fields total)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301240"/>
            <a:ext cx="264414" cy="2682240"/>
          </a:xfrm>
          <a:prstGeom prst="rect">
            <a:avLst/>
          </a:prstGeom>
          <a:solidFill>
            <a:srgbClr val="00FF9F">
              <a:alpha val="85000"/>
            </a:srgbClr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5038344"/>
            <a:ext cx="9029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5760" y="5257800"/>
            <a:ext cx="1203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6750" y="2545080"/>
            <a:ext cx="264414" cy="2438400"/>
          </a:xfrm>
          <a:prstGeom prst="rect">
            <a:avLst/>
          </a:prstGeom>
          <a:solidFill>
            <a:srgbClr val="00FF9F">
              <a:alpha val="85000"/>
            </a:srgbClr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7740" y="2788920"/>
            <a:ext cx="264414" cy="2194560"/>
          </a:xfrm>
          <a:prstGeom prst="rect">
            <a:avLst/>
          </a:prstGeom>
          <a:solidFill>
            <a:srgbClr val="00FF9F">
              <a:alpha val="85000"/>
            </a:srgbClr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68730" y="3276600"/>
            <a:ext cx="264414" cy="1706880"/>
          </a:xfrm>
          <a:prstGeom prst="rect">
            <a:avLst/>
          </a:prstGeom>
          <a:solidFill>
            <a:srgbClr val="00FF9F">
              <a:alpha val="85000"/>
            </a:srgbClr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3010" y="5038344"/>
            <a:ext cx="9029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569720" y="3642360"/>
            <a:ext cx="264414" cy="1341120"/>
          </a:xfrm>
          <a:prstGeom prst="rect">
            <a:avLst/>
          </a:prstGeom>
          <a:solidFill>
            <a:srgbClr val="FFB800">
              <a:alpha val="85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70710" y="4008120"/>
            <a:ext cx="264414" cy="975360"/>
          </a:xfrm>
          <a:prstGeom prst="rect">
            <a:avLst/>
          </a:prstGeom>
          <a:solidFill>
            <a:srgbClr val="FFB800">
              <a:alpha val="85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71700" y="3886200"/>
            <a:ext cx="264414" cy="1097280"/>
          </a:xfrm>
          <a:prstGeom prst="rect">
            <a:avLst/>
          </a:prstGeom>
          <a:solidFill>
            <a:srgbClr val="FFB800">
              <a:alpha val="85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25980" y="5038344"/>
            <a:ext cx="9029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472690" y="3520440"/>
            <a:ext cx="264414" cy="1463040"/>
          </a:xfrm>
          <a:prstGeom prst="rect">
            <a:avLst/>
          </a:prstGeom>
          <a:solidFill>
            <a:srgbClr val="FFB800">
              <a:alpha val="85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73680" y="3032760"/>
            <a:ext cx="264414" cy="1950720"/>
          </a:xfrm>
          <a:prstGeom prst="rect">
            <a:avLst/>
          </a:prstGeom>
          <a:solidFill>
            <a:srgbClr val="00FF9F">
              <a:alpha val="85000"/>
            </a:srgbClr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74670" y="2788920"/>
            <a:ext cx="264414" cy="2194560"/>
          </a:xfrm>
          <a:prstGeom prst="rect">
            <a:avLst/>
          </a:prstGeom>
          <a:solidFill>
            <a:srgbClr val="00FF9F">
              <a:alpha val="85000"/>
            </a:srgbClr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28950" y="5038344"/>
            <a:ext cx="9029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375660" y="2545080"/>
            <a:ext cx="264414" cy="2438400"/>
          </a:xfrm>
          <a:prstGeom prst="rect">
            <a:avLst/>
          </a:prstGeom>
          <a:solidFill>
            <a:srgbClr val="00FF9F">
              <a:alpha val="85000"/>
            </a:srgbClr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76650" y="2301240"/>
            <a:ext cx="264414" cy="2682240"/>
          </a:xfrm>
          <a:prstGeom prst="rect">
            <a:avLst/>
          </a:prstGeom>
          <a:solidFill>
            <a:srgbClr val="00FF9F">
              <a:alpha val="85000"/>
            </a:srgbClr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77640" y="2545080"/>
            <a:ext cx="264414" cy="2438400"/>
          </a:xfrm>
          <a:prstGeom prst="rect">
            <a:avLst/>
          </a:prstGeom>
          <a:solidFill>
            <a:srgbClr val="00FF9F">
              <a:alpha val="85000"/>
            </a:srgbClr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0" y="5038344"/>
            <a:ext cx="9029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977640" y="5257800"/>
            <a:ext cx="1203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78630" y="2788920"/>
            <a:ext cx="264414" cy="2194560"/>
          </a:xfrm>
          <a:prstGeom prst="rect">
            <a:avLst/>
          </a:prstGeom>
          <a:solidFill>
            <a:srgbClr val="00FF9F">
              <a:alpha val="85000"/>
            </a:srgbClr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9620" y="3032760"/>
            <a:ext cx="264414" cy="1950720"/>
          </a:xfrm>
          <a:prstGeom prst="rect">
            <a:avLst/>
          </a:prstGeom>
          <a:solidFill>
            <a:srgbClr val="00FF9F">
              <a:alpha val="85000"/>
            </a:srgbClr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80610" y="3642360"/>
            <a:ext cx="264414" cy="1341120"/>
          </a:xfrm>
          <a:prstGeom prst="rect">
            <a:avLst/>
          </a:prstGeom>
          <a:solidFill>
            <a:srgbClr val="FFB800">
              <a:alpha val="85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34890" y="5038344"/>
            <a:ext cx="9029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181600" y="4008120"/>
            <a:ext cx="264414" cy="975360"/>
          </a:xfrm>
          <a:prstGeom prst="rect">
            <a:avLst/>
          </a:prstGeom>
          <a:solidFill>
            <a:srgbClr val="FFB800">
              <a:alpha val="85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2590" y="4495800"/>
            <a:ext cx="264414" cy="487680"/>
          </a:xfrm>
          <a:prstGeom prst="rect">
            <a:avLst/>
          </a:prstGeom>
          <a:solidFill>
            <a:srgbClr val="FF5252"/>
          </a:solidFill>
          <a:ln w="6350">
            <a:solidFill>
              <a:srgbClr val="FF525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83580" y="4373880"/>
            <a:ext cx="264414" cy="609600"/>
          </a:xfrm>
          <a:prstGeom prst="rect">
            <a:avLst/>
          </a:prstGeom>
          <a:solidFill>
            <a:srgbClr val="FF5252"/>
          </a:solidFill>
          <a:ln w="6350">
            <a:solidFill>
              <a:srgbClr val="FF525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37860" y="5038344"/>
            <a:ext cx="9029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084570" y="4008120"/>
            <a:ext cx="264414" cy="975360"/>
          </a:xfrm>
          <a:prstGeom prst="rect">
            <a:avLst/>
          </a:prstGeom>
          <a:solidFill>
            <a:srgbClr val="FFB800">
              <a:alpha val="85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85560" y="3520440"/>
            <a:ext cx="264414" cy="1463040"/>
          </a:xfrm>
          <a:prstGeom prst="rect">
            <a:avLst/>
          </a:prstGeom>
          <a:solidFill>
            <a:srgbClr val="FFB800">
              <a:alpha val="85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86550" y="3032760"/>
            <a:ext cx="264414" cy="1950720"/>
          </a:xfrm>
          <a:prstGeom prst="rect">
            <a:avLst/>
          </a:prstGeom>
          <a:solidFill>
            <a:srgbClr val="00FF9F">
              <a:alpha val="85000"/>
            </a:srgbClr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40830" y="5038344"/>
            <a:ext cx="9029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987540" y="2667000"/>
            <a:ext cx="264414" cy="2316480"/>
          </a:xfrm>
          <a:prstGeom prst="rect">
            <a:avLst/>
          </a:prstGeom>
          <a:solidFill>
            <a:srgbClr val="00FF9F">
              <a:alpha val="85000"/>
            </a:srgbClr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88530" y="2423160"/>
            <a:ext cx="264414" cy="2560320"/>
          </a:xfrm>
          <a:prstGeom prst="rect">
            <a:avLst/>
          </a:prstGeom>
          <a:solidFill>
            <a:srgbClr val="00FF9F">
              <a:alpha val="85000"/>
            </a:srgbClr>
          </a:solidFill>
          <a:ln w="6350">
            <a:solidFill>
              <a:srgbClr val="00FF9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4130040"/>
            <a:ext cx="7315200" cy="0"/>
          </a:xfrm>
          <a:prstGeom prst="line">
            <a:avLst/>
          </a:prstGeom>
          <a:noFill/>
          <a:ln w="25400">
            <a:solidFill>
              <a:srgbClr val="FF5252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6583680" y="3874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CRITICAL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3276600"/>
            <a:ext cx="7315200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6675120" y="30205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safe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65760" y="10698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Stock Days at Thermal Plants (2021–2022) · Crisis Period Highlighted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001000" y="1280160"/>
            <a:ext cx="3886200" cy="4937760"/>
          </a:xfrm>
          <a:prstGeom prst="rect">
            <a:avLst/>
          </a:prstGeom>
          <a:solidFill>
            <a:srgbClr val="111E35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001000" y="1280160"/>
            <a:ext cx="54864" cy="49377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65592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EOQ MODEL (Week 3 Build)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165592" y="1874520"/>
            <a:ext cx="3657600" cy="475488"/>
          </a:xfrm>
          <a:prstGeom prst="rect">
            <a:avLst/>
          </a:prstGeom>
          <a:solidFill>
            <a:srgbClr val="091525"/>
          </a:solidFill>
          <a:ln w="10160">
            <a:solidFill>
              <a:srgbClr val="00D9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75320" y="19202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(Demand Rate)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784080" y="19202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daily_requirement (Th T/day)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165592" y="2441448"/>
            <a:ext cx="3657600" cy="475488"/>
          </a:xfrm>
          <a:prstGeom prst="rect">
            <a:avLst/>
          </a:prstGeom>
          <a:solidFill>
            <a:srgbClr val="091525"/>
          </a:solidFill>
          <a:ln w="10160">
            <a:solidFill>
              <a:srgbClr val="00D9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75320" y="248716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 (Holding Cost)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9784080" y="24871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~Rs 150/tonne/day (CEA estimate)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165592" y="3008376"/>
            <a:ext cx="3657600" cy="475488"/>
          </a:xfrm>
          <a:prstGeom prst="rect">
            <a:avLst/>
          </a:prstGeom>
          <a:solidFill>
            <a:srgbClr val="091525"/>
          </a:solidFill>
          <a:ln w="10160">
            <a:solidFill>
              <a:srgbClr val="00D9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75320" y="305409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 (Order Cost)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784080" y="30540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~Rs 3 Cr / coal rake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165592" y="3575304"/>
            <a:ext cx="3657600" cy="475488"/>
          </a:xfrm>
          <a:prstGeom prst="rect">
            <a:avLst/>
          </a:prstGeom>
          <a:solidFill>
            <a:srgbClr val="091525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75320" y="3621024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Q* (EOQ)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784080" y="36210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sqrt(2 × D × S / H)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165592" y="4142232"/>
            <a:ext cx="3657600" cy="475488"/>
          </a:xfrm>
          <a:prstGeom prst="rect">
            <a:avLst/>
          </a:prstGeom>
          <a:solidFill>
            <a:srgbClr val="091525"/>
          </a:solidFill>
          <a:ln w="10160">
            <a:solidFill>
              <a:srgbClr val="FF525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75320" y="418795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ROP (Reorder Pt)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9784080" y="41879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stock = normative_stock_days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8165592" y="4709160"/>
            <a:ext cx="3657600" cy="475488"/>
          </a:xfrm>
          <a:prstGeom prst="rect">
            <a:avLst/>
          </a:prstGeom>
          <a:solidFill>
            <a:srgbClr val="091525"/>
          </a:solidFill>
          <a:ln w="10160">
            <a:solidFill>
              <a:srgbClr val="FF525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75320" y="47548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(Safety Stock)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9784080" y="4754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normative_stock (Th T)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001000" y="5440680"/>
            <a:ext cx="3886200" cy="685800"/>
          </a:xfrm>
          <a:prstGeom prst="rect">
            <a:avLst/>
          </a:prstGeom>
          <a:solidFill>
            <a:srgbClr val="111E35"/>
          </a:solidFill>
          <a:ln w="12700">
            <a:solidFill>
              <a:srgbClr val="FF5252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8165592" y="550468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2021: stock_days &lt; 4 at 100+ stations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EOQ violated + rail supply disruption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actual coal shortage → supply chain failure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274320" y="6620256"/>
            <a:ext cx="11640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NPP · CICERO/Robbie Andrew  ·  All official Govt of India data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510"/>
          </a:solidFill>
          <a:ln w="12700">
            <a:solidFill>
              <a:srgbClr val="0805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11480" y="164592"/>
            <a:ext cx="11365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GAP — SOLAR IS ZERO AT 8 PM PEAK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11480" y="9144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CICERO: capacity data · IDP: daily_renewable · CEA Peak Demand (Annual Reports) · Column: wind_energy (MU)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526909"/>
            <a:ext cx="960120" cy="2817055"/>
          </a:xfrm>
          <a:prstGeom prst="rect">
            <a:avLst/>
          </a:prstGeom>
          <a:solidFill>
            <a:srgbClr val="FF5252">
              <a:alpha val="75000"/>
            </a:srgbClr>
          </a:solidFill>
          <a:ln w="10160">
            <a:solidFill>
              <a:srgbClr val="FF52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5343965"/>
            <a:ext cx="960120" cy="142435"/>
          </a:xfrm>
          <a:prstGeom prst="rect">
            <a:avLst/>
          </a:prstGeom>
          <a:solidFill>
            <a:srgbClr val="00FF9F"/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" y="2453757"/>
            <a:ext cx="146304" cy="146304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555955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463040" y="2479431"/>
            <a:ext cx="960120" cy="2856621"/>
          </a:xfrm>
          <a:prstGeom prst="rect">
            <a:avLst/>
          </a:prstGeom>
          <a:solidFill>
            <a:srgbClr val="FF5252">
              <a:alpha val="75000"/>
            </a:srgbClr>
          </a:solidFill>
          <a:ln w="10160">
            <a:solidFill>
              <a:srgbClr val="FF52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63040" y="5336052"/>
            <a:ext cx="960120" cy="150348"/>
          </a:xfrm>
          <a:prstGeom prst="rect">
            <a:avLst/>
          </a:prstGeom>
          <a:solidFill>
            <a:srgbClr val="00FF9F"/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69948" y="2406279"/>
            <a:ext cx="146304" cy="146304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555955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0" y="2305343"/>
            <a:ext cx="960120" cy="3022795"/>
          </a:xfrm>
          <a:prstGeom prst="rect">
            <a:avLst/>
          </a:prstGeom>
          <a:solidFill>
            <a:srgbClr val="FF5252">
              <a:alpha val="75000"/>
            </a:srgbClr>
          </a:solidFill>
          <a:ln w="10160">
            <a:solidFill>
              <a:srgbClr val="FF52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0" y="5328138"/>
            <a:ext cx="960120" cy="158262"/>
          </a:xfrm>
          <a:prstGeom prst="rect">
            <a:avLst/>
          </a:prstGeom>
          <a:solidFill>
            <a:srgbClr val="00FF9F"/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67228" y="2232191"/>
            <a:ext cx="146304" cy="146304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555955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0" y="2067951"/>
            <a:ext cx="960120" cy="3247527"/>
          </a:xfrm>
          <a:prstGeom prst="rect">
            <a:avLst/>
          </a:prstGeom>
          <a:solidFill>
            <a:srgbClr val="FF5252">
              <a:alpha val="75000"/>
            </a:srgbClr>
          </a:solidFill>
          <a:ln w="10160">
            <a:solidFill>
              <a:srgbClr val="FF52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0" y="5315478"/>
            <a:ext cx="960120" cy="170922"/>
          </a:xfrm>
          <a:prstGeom prst="rect">
            <a:avLst/>
          </a:prstGeom>
          <a:solidFill>
            <a:srgbClr val="00FF9F"/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64508" y="1994799"/>
            <a:ext cx="146304" cy="146304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555955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1941342"/>
            <a:ext cx="960120" cy="3366223"/>
          </a:xfrm>
          <a:prstGeom prst="rect">
            <a:avLst/>
          </a:prstGeom>
          <a:solidFill>
            <a:srgbClr val="FF5252">
              <a:alpha val="75000"/>
            </a:srgbClr>
          </a:solidFill>
          <a:ln w="10160">
            <a:solidFill>
              <a:srgbClr val="FF525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5307564"/>
            <a:ext cx="960120" cy="178836"/>
          </a:xfrm>
          <a:prstGeom prst="rect">
            <a:avLst/>
          </a:prstGeom>
          <a:solidFill>
            <a:srgbClr val="00FF9F"/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61788" y="1868190"/>
            <a:ext cx="146304" cy="146304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555955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852160" y="1798906"/>
            <a:ext cx="960120" cy="3489667"/>
          </a:xfrm>
          <a:prstGeom prst="rect">
            <a:avLst/>
          </a:prstGeom>
          <a:solidFill>
            <a:srgbClr val="FF5252">
              <a:alpha val="75000"/>
            </a:srgbClr>
          </a:solidFill>
          <a:ln w="10160">
            <a:solidFill>
              <a:srgbClr val="FF525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52160" y="5288573"/>
            <a:ext cx="960120" cy="197827"/>
          </a:xfrm>
          <a:prstGeom prst="rect">
            <a:avLst/>
          </a:prstGeom>
          <a:solidFill>
            <a:srgbClr val="00FF9F"/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59068" y="1725754"/>
            <a:ext cx="146304" cy="146304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52160" y="555955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949440" y="1672297"/>
            <a:ext cx="960120" cy="3592537"/>
          </a:xfrm>
          <a:prstGeom prst="rect">
            <a:avLst/>
          </a:prstGeom>
          <a:solidFill>
            <a:srgbClr val="FF5252">
              <a:alpha val="75000"/>
            </a:srgbClr>
          </a:solidFill>
          <a:ln w="10160">
            <a:solidFill>
              <a:srgbClr val="FF525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49440" y="5264834"/>
            <a:ext cx="960120" cy="221566"/>
          </a:xfrm>
          <a:prstGeom prst="rect">
            <a:avLst/>
          </a:prstGeom>
          <a:solidFill>
            <a:srgbClr val="00FF9F"/>
          </a:solidFill>
          <a:ln w="10160">
            <a:solidFill>
              <a:srgbClr val="00FF9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56348" y="1599145"/>
            <a:ext cx="146304" cy="146304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5559552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0" y="455793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GW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47472" y="4695092"/>
            <a:ext cx="91440" cy="0"/>
          </a:xfrm>
          <a:prstGeom prst="line">
            <a:avLst/>
          </a:prstGeom>
          <a:noFill/>
          <a:ln w="6350">
            <a:solidFill>
              <a:srgbClr val="8899B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0" y="3766625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47472" y="3903785"/>
            <a:ext cx="91440" cy="0"/>
          </a:xfrm>
          <a:prstGeom prst="line">
            <a:avLst/>
          </a:prstGeom>
          <a:noFill/>
          <a:ln w="6350">
            <a:solidFill>
              <a:srgbClr val="8899B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0" y="2975317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47472" y="3112477"/>
            <a:ext cx="91440" cy="0"/>
          </a:xfrm>
          <a:prstGeom prst="line">
            <a:avLst/>
          </a:prstGeom>
          <a:noFill/>
          <a:ln w="6350">
            <a:solidFill>
              <a:srgbClr val="8899B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0" y="2184009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47472" y="2321169"/>
            <a:ext cx="91440" cy="0"/>
          </a:xfrm>
          <a:prstGeom prst="line">
            <a:avLst/>
          </a:prstGeom>
          <a:noFill/>
          <a:ln w="6350">
            <a:solidFill>
              <a:srgbClr val="8899B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0" y="139270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47472" y="1529862"/>
            <a:ext cx="91440" cy="0"/>
          </a:xfrm>
          <a:prstGeom prst="line">
            <a:avLst/>
          </a:prstGeom>
          <a:noFill/>
          <a:ln w="6350">
            <a:solidFill>
              <a:srgbClr val="8899B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5760" y="5833872"/>
            <a:ext cx="256032" cy="16459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7512" y="58247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at 8pm (~25% CUF)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108960" y="5833872"/>
            <a:ext cx="256032" cy="164592"/>
          </a:xfrm>
          <a:prstGeom prst="rect">
            <a:avLst/>
          </a:prstGeom>
          <a:solidFill>
            <a:srgbClr val="FF5252">
              <a:alpha val="75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29000" y="58247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come from Coal/Hydro/BESS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00800" y="5833872"/>
            <a:ext cx="164592" cy="16459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11112" y="5824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Peak Demand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65760" y="5230368"/>
            <a:ext cx="7223760" cy="237744"/>
          </a:xfrm>
          <a:prstGeom prst="rect">
            <a:avLst/>
          </a:prstGeom>
          <a:solidFill>
            <a:srgbClr val="1A0A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5257800"/>
            <a:ext cx="7040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SOLAR CONTRIBUTION AT 8 PM = 0 GW (every year, every day)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046720" y="1280160"/>
            <a:ext cx="3840480" cy="5212080"/>
          </a:xfrm>
          <a:prstGeom prst="rect">
            <a:avLst/>
          </a:prstGeom>
          <a:solidFill>
            <a:srgbClr val="111E35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8046720" y="1280160"/>
            <a:ext cx="54864" cy="521208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11312" y="1371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 BESS SIZING ESTIMATE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8229600" y="18745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installed (2025):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10241280" y="18745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GW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211312" y="2331720"/>
            <a:ext cx="3520440" cy="0"/>
          </a:xfrm>
          <a:prstGeom prst="line">
            <a:avLst/>
          </a:prstGeom>
          <a:noFill/>
          <a:ln w="6350">
            <a:solidFill>
              <a:srgbClr val="2A305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29600" y="24048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CUF (avg):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0241280" y="240487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211312" y="2862072"/>
            <a:ext cx="3520440" cy="0"/>
          </a:xfrm>
          <a:prstGeom prst="line">
            <a:avLst/>
          </a:prstGeom>
          <a:noFill/>
          <a:ln w="6350">
            <a:solidFill>
              <a:srgbClr val="2A305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29600" y="293522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solar gen/day: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10241280" y="293522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GWh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8211312" y="3392424"/>
            <a:ext cx="3520440" cy="0"/>
          </a:xfrm>
          <a:prstGeom prst="line">
            <a:avLst/>
          </a:prstGeom>
          <a:noFill/>
          <a:ln w="6350">
            <a:solidFill>
              <a:srgbClr val="2A305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29600" y="346557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50% for evening: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10241280" y="346557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GWh/day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8211312" y="3922776"/>
            <a:ext cx="3520440" cy="0"/>
          </a:xfrm>
          <a:prstGeom prst="line">
            <a:avLst/>
          </a:prstGeom>
          <a:noFill/>
          <a:ln w="6350">
            <a:solidFill>
              <a:srgbClr val="2A30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29600" y="399592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×4hr evening discharge: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10241280" y="399592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GW capacity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211312" y="4453128"/>
            <a:ext cx="3520440" cy="0"/>
          </a:xfrm>
          <a:prstGeom prst="line">
            <a:avLst/>
          </a:prstGeom>
          <a:noFill/>
          <a:ln w="6350">
            <a:solidFill>
              <a:srgbClr val="2A305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229600" y="45262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needed (national):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10241280" y="452628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~300-500 GWh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8211312" y="4983480"/>
            <a:ext cx="3520440" cy="0"/>
          </a:xfrm>
          <a:prstGeom prst="line">
            <a:avLst/>
          </a:prstGeom>
          <a:noFill/>
          <a:ln w="6350">
            <a:solidFill>
              <a:srgbClr val="2A305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0" y="505663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BESS today: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10241280" y="505663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GWh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8211312" y="5513832"/>
            <a:ext cx="3520440" cy="0"/>
          </a:xfrm>
          <a:prstGeom prst="line">
            <a:avLst/>
          </a:prstGeom>
          <a:noFill/>
          <a:ln w="6350">
            <a:solidFill>
              <a:srgbClr val="2A305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229600" y="558698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FACTOR: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10241280" y="558698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75-125×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8046720" y="6455664"/>
            <a:ext cx="3840480" cy="274320"/>
          </a:xfrm>
          <a:prstGeom prst="rect">
            <a:avLst/>
          </a:prstGeom>
          <a:solidFill>
            <a:srgbClr val="111E35"/>
          </a:solidFill>
          <a:ln w="12700">
            <a:solidFill>
              <a:srgbClr val="00FF9F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8211312" y="648309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LP model will find optimal BESS + dispatch mix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274320" y="6620256"/>
            <a:ext cx="11640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NPP · CICERO/Robbie Andrew  ·  All official Govt of India data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UTILISATION — CUF BY SOURCE &amp; OUTAGE ANALYSIS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11480" y="9144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IDP: power_outage · Columns: monitored_capacity, outage_capacity · Derived: available_cap = monitored - outage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1371600"/>
            <a:ext cx="7132320" cy="347472"/>
          </a:xfrm>
          <a:prstGeom prst="rect">
            <a:avLst/>
          </a:prstGeom>
          <a:solidFill>
            <a:srgbClr val="111E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417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1417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Avg CUF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0" y="1417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Peak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77840" y="1417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1737360"/>
            <a:ext cx="7132320" cy="603504"/>
          </a:xfrm>
          <a:prstGeom prst="rect">
            <a:avLst/>
          </a:prstGeom>
          <a:solidFill>
            <a:srgbClr val="0D1526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73736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Solar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920240" y="1874520"/>
            <a:ext cx="365760" cy="32918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31720" y="1737360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0" y="1737360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77840" y="1737360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2395728"/>
            <a:ext cx="7132320" cy="603504"/>
          </a:xfrm>
          <a:prstGeom prst="rect">
            <a:avLst/>
          </a:prstGeom>
          <a:solidFill>
            <a:srgbClr val="111E35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395728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Wind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920240" y="2532888"/>
            <a:ext cx="457200" cy="32918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23160" y="2395728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40480" y="2395728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77840" y="2395728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054096"/>
            <a:ext cx="7132320" cy="603504"/>
          </a:xfrm>
          <a:prstGeom prst="rect">
            <a:avLst/>
          </a:prstGeom>
          <a:solidFill>
            <a:srgbClr val="0D1526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054096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⚫ Coal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920240" y="3191256"/>
            <a:ext cx="1060704" cy="329184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26664" y="3054096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40480" y="3054096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77840" y="3054096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3712464"/>
            <a:ext cx="7132320" cy="603504"/>
          </a:xfrm>
          <a:prstGeom prst="rect">
            <a:avLst/>
          </a:prstGeom>
          <a:solidFill>
            <a:srgbClr val="111E35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712464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Hydro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920240" y="3849624"/>
            <a:ext cx="694944" cy="32918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60904" y="3712464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840480" y="3712464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577840" y="3712464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5760" y="4370832"/>
            <a:ext cx="7132320" cy="603504"/>
          </a:xfrm>
          <a:prstGeom prst="rect">
            <a:avLst/>
          </a:prstGeom>
          <a:solidFill>
            <a:srgbClr val="0D1526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370832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☢️ Nuclear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920240" y="4507992"/>
            <a:ext cx="1499616" cy="32918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65576" y="4370832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840480" y="4370832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577840" y="4370832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65760" y="5029200"/>
            <a:ext cx="7132320" cy="603504"/>
          </a:xfrm>
          <a:prstGeom prst="rect">
            <a:avLst/>
          </a:prstGeom>
          <a:solidFill>
            <a:srgbClr val="111E35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502920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Gas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920240" y="5166360"/>
            <a:ext cx="402336" cy="32918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68296" y="5029200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840480" y="5029200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577840" y="5029200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65760" y="5806440"/>
            <a:ext cx="7132320" cy="7772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65760" y="5806440"/>
            <a:ext cx="54864" cy="7772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0352" y="58704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Week 3 LP Model Connection: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30352" y="61264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available_capacity = monitored_capacity - outage_capacity  (from IDP power_outage)  →  upper bound in dispatch LP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CUF × installed_cap → generation constraint  ·  Coal PLF must stay &gt; technical minimum (40%)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772400" y="1280160"/>
            <a:ext cx="4114800" cy="1554480"/>
          </a:xfrm>
          <a:prstGeom prst="rect">
            <a:avLst/>
          </a:prstGeom>
          <a:solidFill>
            <a:srgbClr val="111E35"/>
          </a:solidFill>
          <a:ln w="12700">
            <a:solidFill>
              <a:srgbClr val="FF5252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7772400" y="1280160"/>
            <a:ext cx="54864" cy="155448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36992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Coal: PLF Falling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936992" y="17556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68% (2018) to 55% (2024)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displacing coal in daytime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coal must run nights → min. PLF constraint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7772400" y="3017520"/>
            <a:ext cx="4114800" cy="1554480"/>
          </a:xfrm>
          <a:prstGeom prst="rect">
            <a:avLst/>
          </a:prstGeom>
          <a:solidFill>
            <a:srgbClr val="111E35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7772400" y="3017520"/>
            <a:ext cx="54864" cy="15544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36992" y="3108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Solar: High CUF Months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936992" y="34930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Mar-May: CUF peaks to 24%+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Dec-Jan: drops to 12%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drives storage requirement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772400" y="4754880"/>
            <a:ext cx="4114800" cy="1554480"/>
          </a:xfrm>
          <a:prstGeom prst="rect">
            <a:avLst/>
          </a:prstGeom>
          <a:solidFill>
            <a:srgbClr val="111E35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7772400" y="4754880"/>
            <a:ext cx="54864" cy="155448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936992" y="4846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Nuclear: Baseload Hero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7936992" y="523036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CUF — most reliable source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8.8 GW total → too little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takes 8-10 years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274320" y="6620256"/>
            <a:ext cx="11640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NPP · CICERO/Robbie Andrew  ·  All official Govt of India data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7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2862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14350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000750"/>
            <a:ext cx="12188952" cy="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18895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437790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668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87558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9447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3371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532266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751162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970057" y="0"/>
            <a:ext cx="0" cy="6858000"/>
          </a:xfrm>
          <a:prstGeom prst="line">
            <a:avLst/>
          </a:prstGeom>
          <a:noFill/>
          <a:ln w="3810">
            <a:solidFill>
              <a:srgbClr val="2A305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11480" y="164592"/>
            <a:ext cx="11365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FINDINGS + WEEK 3 ROADMAP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274320" y="1188720"/>
            <a:ext cx="5669280" cy="1508760"/>
          </a:xfrm>
          <a:prstGeom prst="rect">
            <a:avLst/>
          </a:prstGeom>
          <a:solidFill>
            <a:srgbClr val="111E35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1188720"/>
            <a:ext cx="54864" cy="15087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12801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☀️  Solar: 150 GW — But CUF Only 20%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16916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needs 5 GW solar to equal 1 GW coal output. Geographic mismatch adds further efficiency loss.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880360"/>
            <a:ext cx="5669280" cy="1508760"/>
          </a:xfrm>
          <a:prstGeom prst="rect">
            <a:avLst/>
          </a:prstGeom>
          <a:solidFill>
            <a:srgbClr val="111E35"/>
          </a:solidFill>
          <a:ln w="12700">
            <a:solidFill>
              <a:srgbClr val="FF5252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880360"/>
            <a:ext cx="54864" cy="150876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9718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⚡  Evening Peak Gap: 200+ GW unmet by renewables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8912" y="33832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= 0 at 8pm. Wind = 25% CUF. Thermal/hydro covers 95%+ of evening peak. BESS gap: 300-500 GWh.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1188720"/>
            <a:ext cx="5669280" cy="1508760"/>
          </a:xfrm>
          <a:prstGeom prst="rect">
            <a:avLst/>
          </a:prstGeom>
          <a:solidFill>
            <a:srgbClr val="111E35"/>
          </a:solidFill>
          <a:ln w="12700">
            <a:solidFill>
              <a:srgbClr val="00FF9F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1188720"/>
            <a:ext cx="54864" cy="150876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8232" y="12801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🗺️  Geographic Mismatch Quantified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28232" y="16916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Rajasthan/Gujarat = 52% of solar. UP/MH = 40% of demand. Transmission is the constraint.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2880360"/>
            <a:ext cx="5669280" cy="1508760"/>
          </a:xfrm>
          <a:prstGeom prst="rect">
            <a:avLst/>
          </a:prstGeom>
          <a:solidFill>
            <a:srgbClr val="111E35"/>
          </a:solidFill>
          <a:ln w="12700">
            <a:solidFill>
              <a:srgbClr val="8899B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63640" y="2880360"/>
            <a:ext cx="54864" cy="150876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29718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⚫  Coal: stock_days = 4 (2021 Crisis) — EOQ Was Violated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28232" y="33832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data shows daily_requirement vs total_stock per station. Week 3 EOQ model will find optimal Q*.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617720"/>
            <a:ext cx="11640312" cy="1783080"/>
          </a:xfrm>
          <a:prstGeom prst="rect">
            <a:avLst/>
          </a:prstGeom>
          <a:solidFill>
            <a:srgbClr val="111E35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468172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WEEK 3 PLAN — ML MODELS + MBA TOOLS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11480" y="5074920"/>
            <a:ext cx="2743200" cy="118872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5138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SARIMAX/Prophet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5422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peak demand 2025-2030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" y="5788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POSOCO daily, IDP ERA monthly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364992" y="5074920"/>
            <a:ext cx="2743200" cy="1188720"/>
          </a:xfrm>
          <a:prstGeom prst="rect">
            <a:avLst/>
          </a:prstGeom>
          <a:solidFill>
            <a:srgbClr val="0D1526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456432" y="5138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EOQ Model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456432" y="5422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coal buffer per station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56432" y="5788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IDP coal_stocks: daily_requirement, normative_stock_days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18504" y="5074920"/>
            <a:ext cx="2743200" cy="1188720"/>
          </a:xfrm>
          <a:prstGeom prst="rect">
            <a:avLst/>
          </a:prstGeom>
          <a:solidFill>
            <a:srgbClr val="0D1526"/>
          </a:solidFill>
          <a:ln w="12700">
            <a:solidFill>
              <a:srgbClr val="00FF9F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409944" y="5138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LP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9944" y="5422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Min-cost dispatch: solar+wind+coal+hydro+BESS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09944" y="5788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IDP outage: monitored_capacity - outage_capacity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272016" y="5074920"/>
            <a:ext cx="2743200" cy="1188720"/>
          </a:xfrm>
          <a:prstGeom prst="rect">
            <a:avLst/>
          </a:prstGeom>
          <a:solidFill>
            <a:srgbClr val="0D1526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9363456" y="5138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363456" y="5422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states by power profile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363456" y="5788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IDP statewise: coal_cap, res_cap, deficit_pct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74320" y="6620256"/>
            <a:ext cx="11640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 Data Portal (ISB/BMGF) · CEA / Ministry of Power · NPP · CICERO/Robbie Andrew  ·  All official Govt of India data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Peak Power — Week 2 Deep Analysis</dc:title>
  <dc:subject>PptxGenJS Presentation</dc:subject>
  <dc:creator>PptxGenJS</dc:creator>
  <cp:lastModifiedBy>PptxGenJS</cp:lastModifiedBy>
  <cp:revision>1</cp:revision>
  <dcterms:created xsi:type="dcterms:W3CDTF">2026-04-25T15:37:58Z</dcterms:created>
  <dcterms:modified xsi:type="dcterms:W3CDTF">2026-04-25T15:37:58Z</dcterms:modified>
</cp:coreProperties>
</file>
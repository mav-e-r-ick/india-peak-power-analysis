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1A7A8A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Pt>
            <c:idx val="5"/>
            <c:bubble3D val="0"/>
            <c:spPr>
              <a:solidFill>
                <a:srgbClr val="F4D03F"/>
              </a:solidFill>
              <a:effectLst/>
            </c:spPr>
          </c:dPt>
          <c:dPt>
            <c:idx val="6"/>
            <c:bubble3D val="0"/>
            <c:spPr>
              <a:solidFill>
                <a:srgbClr val="0D5C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Coal+Lignite</c:v>
                </c:pt>
                <c:pt idx="1">
                  <c:v>Solar</c:v>
                </c:pt>
                <c:pt idx="2">
                  <c:v>Wind</c:v>
                </c:pt>
                <c:pt idx="3">
                  <c:v>Large Hydro</c:v>
                </c:pt>
                <c:pt idx="4">
                  <c:v>Nuclear</c:v>
                </c:pt>
                <c:pt idx="5">
                  <c:v>Gas+Diesel</c:v>
                </c:pt>
                <c:pt idx="6">
                  <c:v>Biomass+SHP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229</c:v>
                </c:pt>
                <c:pt idx="1">
                  <c:v>150</c:v>
                </c:pt>
                <c:pt idx="2">
                  <c:v>56</c:v>
                </c:pt>
                <c:pt idx="3">
                  <c:v>51</c:v>
                </c:pt>
                <c:pt idx="4">
                  <c:v>9</c:v>
                </c:pt>
                <c:pt idx="5">
                  <c:v>27</c:v>
                </c:pt>
                <c:pt idx="6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(GW)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19</c:v>
                </c:pt>
                <c:pt idx="3">
                  <c:v>27</c:v>
                </c:pt>
                <c:pt idx="4">
                  <c:v>35</c:v>
                </c:pt>
                <c:pt idx="5">
                  <c:v>40</c:v>
                </c:pt>
                <c:pt idx="6">
                  <c:v>55</c:v>
                </c:pt>
                <c:pt idx="7">
                  <c:v>67</c:v>
                </c:pt>
                <c:pt idx="8">
                  <c:v>83</c:v>
                </c:pt>
                <c:pt idx="9">
                  <c:v>100</c:v>
                </c:pt>
                <c:pt idx="10">
                  <c:v>125</c:v>
                </c:pt>
                <c:pt idx="11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(GW)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</c:v>
                </c:pt>
                <c:pt idx="1">
                  <c:v>29</c:v>
                </c:pt>
                <c:pt idx="2">
                  <c:v>33</c:v>
                </c:pt>
                <c:pt idx="3">
                  <c:v>36</c:v>
                </c:pt>
                <c:pt idx="4">
                  <c:v>38</c:v>
                </c:pt>
                <c:pt idx="5">
                  <c:v>40</c:v>
                </c:pt>
                <c:pt idx="6">
                  <c:v>41</c:v>
                </c:pt>
                <c:pt idx="7">
                  <c:v>43</c:v>
                </c:pt>
                <c:pt idx="8">
                  <c:v>45</c:v>
                </c:pt>
                <c:pt idx="9">
                  <c:v>48</c:v>
                </c:pt>
                <c:pt idx="10">
                  <c:v>52</c:v>
                </c:pt>
                <c:pt idx="11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(MU/day)</c:v>
                </c:pt>
              </c:strCache>
            </c:strRef>
          </c:tx>
          <c:spPr>
            <a:solidFill>
              <a:srgbClr val="F4D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115</c:v>
                </c:pt>
                <c:pt idx="2">
                  <c:v>155</c:v>
                </c:pt>
                <c:pt idx="3">
                  <c:v>175</c:v>
                </c:pt>
                <c:pt idx="4">
                  <c:v>165</c:v>
                </c:pt>
                <c:pt idx="5">
                  <c:v>135</c:v>
                </c:pt>
                <c:pt idx="6">
                  <c:v>100</c:v>
                </c:pt>
                <c:pt idx="7">
                  <c:v>90</c:v>
                </c:pt>
                <c:pt idx="8">
                  <c:v>105</c:v>
                </c:pt>
                <c:pt idx="9">
                  <c:v>125</c:v>
                </c:pt>
                <c:pt idx="10">
                  <c:v>105</c:v>
                </c:pt>
                <c:pt idx="11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(MU/day)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130</c:v>
                </c:pt>
                <c:pt idx="1">
                  <c:v>115</c:v>
                </c:pt>
                <c:pt idx="2">
                  <c:v>100</c:v>
                </c:pt>
                <c:pt idx="3">
                  <c:v>85</c:v>
                </c:pt>
                <c:pt idx="4">
                  <c:v>95</c:v>
                </c:pt>
                <c:pt idx="5">
                  <c:v>165</c:v>
                </c:pt>
                <c:pt idx="6">
                  <c:v>250</c:v>
                </c:pt>
                <c:pt idx="7">
                  <c:v>265</c:v>
                </c:pt>
                <c:pt idx="8">
                  <c:v>235</c:v>
                </c:pt>
                <c:pt idx="9">
                  <c:v>155</c:v>
                </c:pt>
                <c:pt idx="10">
                  <c:v>120</c:v>
                </c:pt>
                <c:pt idx="11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Medium deficit</c:v>
                </c:pt>
              </c:strCache>
            </c:strRef>
          </c:tx>
          <c:spPr>
            <a:solidFill>
              <a:srgbClr val="E74C3C"/>
            </a:solidFill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deficit / surplus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Avg CUF (%)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Solar</c:v>
                  </c:pt>
                  <c:pt idx="1">
                    <c:v>Wind</c:v>
                  </c:pt>
                  <c:pt idx="2">
                    <c:v>Coal</c:v>
                  </c:pt>
                  <c:pt idx="3">
                    <c:v>Hydro</c:v>
                  </c:pt>
                  <c:pt idx="4">
                    <c:v>Nuclear</c:v>
                  </c:pt>
                  <c:pt idx="5">
                    <c:v>Gas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25</c:v>
                </c:pt>
                <c:pt idx="2">
                  <c:v>58</c:v>
                </c:pt>
                <c:pt idx="3">
                  <c:v>38</c:v>
                </c:pt>
                <c:pt idx="4">
                  <c:v>82</c:v>
                </c:pt>
                <c:pt idx="5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Summer Peak CUF (%)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Solar</c:v>
                  </c:pt>
                  <c:pt idx="1">
                    <c:v>Wind</c:v>
                  </c:pt>
                  <c:pt idx="2">
                    <c:v>Coal</c:v>
                  </c:pt>
                  <c:pt idx="3">
                    <c:v>Hydro</c:v>
                  </c:pt>
                  <c:pt idx="4">
                    <c:v>Nuclear</c:v>
                  </c:pt>
                  <c:pt idx="5">
                    <c:v>Gas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</c:v>
                </c:pt>
                <c:pt idx="1">
                  <c:v>18</c:v>
                </c:pt>
                <c:pt idx="2">
                  <c:v>72</c:v>
                </c:pt>
                <c:pt idx="3">
                  <c:v>52</c:v>
                </c:pt>
                <c:pt idx="4">
                  <c:v>82</c:v>
                </c:pt>
                <c:pt idx="5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Monsoon CUF (%)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Solar</c:v>
                  </c:pt>
                  <c:pt idx="1">
                    <c:v>Wind</c:v>
                  </c:pt>
                  <c:pt idx="2">
                    <c:v>Coal</c:v>
                  </c:pt>
                  <c:pt idx="3">
                    <c:v>Hydro</c:v>
                  </c:pt>
                  <c:pt idx="4">
                    <c:v>Nuclear</c:v>
                  </c:pt>
                  <c:pt idx="5">
                    <c:v>Gas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</c:v>
                </c:pt>
                <c:pt idx="1">
                  <c:v>30</c:v>
                </c:pt>
                <c:pt idx="2">
                  <c:v>48</c:v>
                </c:pt>
                <c:pt idx="3">
                  <c:v>28</c:v>
                </c:pt>
                <c:pt idx="4">
                  <c:v>82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Days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3D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Jan21</c:v>
                  </c:pt>
                  <c:pt idx="1">
                    <c:v>Mar21</c:v>
                  </c:pt>
                  <c:pt idx="2">
                    <c:v>May21</c:v>
                  </c:pt>
                  <c:pt idx="3">
                    <c:v>Jul21</c:v>
                  </c:pt>
                  <c:pt idx="4">
                    <c:v>Sep21</c:v>
                  </c:pt>
                  <c:pt idx="5">
                    <c:v>Oct21</c:v>
                  </c:pt>
                  <c:pt idx="6">
                    <c:v>Nov21</c:v>
                  </c:pt>
                  <c:pt idx="7">
                    <c:v>Jan22</c:v>
                  </c:pt>
                  <c:pt idx="8">
                    <c:v>Mar22</c:v>
                  </c:pt>
                  <c:pt idx="9">
                    <c:v>May22</c:v>
                  </c:pt>
                  <c:pt idx="10">
                    <c:v>Jul22</c:v>
                  </c:pt>
                  <c:pt idx="11">
                    <c:v>Oct22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18</c:v>
                </c:pt>
                <c:pt idx="2">
                  <c:v>14</c:v>
                </c:pt>
                <c:pt idx="3">
                  <c:v>10</c:v>
                </c:pt>
                <c:pt idx="4">
                  <c:v>12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9</c:v>
                </c:pt>
                <c:pt idx="9">
                  <c:v>12</c:v>
                </c:pt>
                <c:pt idx="10">
                  <c:v>16</c:v>
                </c:pt>
                <c:pt idx="1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3D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0D8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3D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Thermal/Hydro needed (GW)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178</c:v>
                </c:pt>
                <c:pt idx="1">
                  <c:v>180.5</c:v>
                </c:pt>
                <c:pt idx="2">
                  <c:v>191</c:v>
                </c:pt>
                <c:pt idx="3">
                  <c:v>205.2</c:v>
                </c:pt>
                <c:pt idx="4">
                  <c:v>212.7</c:v>
                </c:pt>
                <c:pt idx="5">
                  <c:v>220.5</c:v>
                </c:pt>
                <c:pt idx="6">
                  <c:v>227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at 8pm ~25% CUF (GW)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</c:v>
                </c:pt>
                <c:pt idx="1">
                  <c:v>9.5</c:v>
                </c:pt>
                <c:pt idx="2">
                  <c:v>10</c:v>
                </c:pt>
                <c:pt idx="3">
                  <c:v>10.8</c:v>
                </c:pt>
                <c:pt idx="4">
                  <c:v>11.3</c:v>
                </c:pt>
                <c:pt idx="5">
                  <c:v>12.5</c:v>
                </c:pt>
                <c:pt idx="6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D5C6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7A8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D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09728"/>
            <a:ext cx="5669280" cy="3474720"/>
          </a:xfrm>
          <a:prstGeom prst="rect">
            <a:avLst>
              <a:gd name="adj" fmla="val 9211"/>
            </a:avLst>
          </a:prstGeom>
          <a:solidFill>
            <a:srgbClr val="1A7A8A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25603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5603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25603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25603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5603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5603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25603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5603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09960" y="25603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786384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786384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786384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786384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786384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786384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1240" y="786384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0" y="786384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9960" y="786384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316736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316736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316736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316736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1316736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1316736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1316736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0" y="1316736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1316736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1847088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1847088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1847088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1847088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2520" y="1847088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1847088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21240" y="1847088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600" y="1847088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09960" y="1847088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377440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2377440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2377440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2377440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2377440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0" y="2377440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21240" y="2377440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0" y="2377440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09960" y="2377440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290779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290779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290779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290779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32520" y="290779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26880" y="290779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21240" y="290779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15600" y="2907792"/>
            <a:ext cx="530352" cy="457200"/>
          </a:xfrm>
          <a:prstGeom prst="rect">
            <a:avLst/>
          </a:prstGeom>
          <a:solidFill>
            <a:srgbClr val="0A4A5A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09960" y="2907792"/>
            <a:ext cx="530352" cy="457200"/>
          </a:xfrm>
          <a:prstGeom prst="rect">
            <a:avLst/>
          </a:prstGeom>
          <a:solidFill>
            <a:srgbClr val="0B5568"/>
          </a:solidFill>
          <a:ln w="6350">
            <a:solidFill>
              <a:srgbClr val="0A3D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☀️</a:t>
            </a:r>
            <a:endParaRPr lang="en-US" sz="7200" dirty="0"/>
          </a:p>
        </p:txBody>
      </p:sp>
      <p:sp>
        <p:nvSpPr>
          <p:cNvPr id="59" name="Text 57"/>
          <p:cNvSpPr/>
          <p:nvPr/>
        </p:nvSpPr>
        <p:spPr>
          <a:xfrm>
            <a:off x="91440" y="3200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60" name="Shape 58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1993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MBA Project  ·  Operations + Economics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11480" y="2304288"/>
            <a:ext cx="274320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Peak</a:t>
            </a:r>
            <a:endParaRPr lang="en-US" sz="7200" dirty="0"/>
          </a:p>
        </p:txBody>
      </p:sp>
      <p:sp>
        <p:nvSpPr>
          <p:cNvPr id="64" name="Text 62"/>
          <p:cNvSpPr/>
          <p:nvPr/>
        </p:nvSpPr>
        <p:spPr>
          <a:xfrm>
            <a:off x="411480" y="3246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7200" dirty="0"/>
          </a:p>
        </p:txBody>
      </p:sp>
      <p:sp>
        <p:nvSpPr>
          <p:cNvPr id="65" name="Shape 63"/>
          <p:cNvSpPr/>
          <p:nvPr/>
        </p:nvSpPr>
        <p:spPr>
          <a:xfrm>
            <a:off x="6217920" y="3749040"/>
            <a:ext cx="5029200" cy="658368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37490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 · Deep Analysis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21792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Trends  ·  CUF by Source  ·  Deficit Map  ·  Coal EOQ  ·  Evening Peak Gap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217920" y="4956048"/>
            <a:ext cx="502920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1480" y="5212080"/>
            <a:ext cx="2743200" cy="1417320"/>
          </a:xfrm>
          <a:prstGeom prst="rect">
            <a:avLst>
              <a:gd name="adj" fmla="val 9677"/>
            </a:avLst>
          </a:prstGeom>
          <a:solidFill>
            <a:srgbClr val="0D5C6E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532180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</a:t>
            </a:r>
            <a:endParaRPr lang="en-US" sz="4000" dirty="0"/>
          </a:p>
        </p:txBody>
      </p:sp>
      <p:sp>
        <p:nvSpPr>
          <p:cNvPr id="71" name="Text 69"/>
          <p:cNvSpPr/>
          <p:nvPr/>
        </p:nvSpPr>
        <p:spPr>
          <a:xfrm>
            <a:off x="502920" y="60807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Installed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337560" y="5212080"/>
            <a:ext cx="2743200" cy="1417320"/>
          </a:xfrm>
          <a:prstGeom prst="rect">
            <a:avLst>
              <a:gd name="adj" fmla="val 9677"/>
            </a:avLst>
          </a:prstGeom>
          <a:solidFill>
            <a:srgbClr val="0D5C6E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29000" y="532180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~49%</a:t>
            </a:r>
            <a:endParaRPr lang="en-US" sz="4000" dirty="0"/>
          </a:p>
        </p:txBody>
      </p:sp>
      <p:sp>
        <p:nvSpPr>
          <p:cNvPr id="74" name="Text 72"/>
          <p:cNvSpPr/>
          <p:nvPr/>
        </p:nvSpPr>
        <p:spPr>
          <a:xfrm>
            <a:off x="3429000" y="60807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Share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263640" y="5212080"/>
            <a:ext cx="2743200" cy="1417320"/>
          </a:xfrm>
          <a:prstGeom prst="rect">
            <a:avLst>
              <a:gd name="adj" fmla="val 9677"/>
            </a:avLst>
          </a:prstGeom>
          <a:solidFill>
            <a:srgbClr val="0D5C6E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55080" y="532180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GW</a:t>
            </a:r>
            <a:endParaRPr lang="en-US" sz="4000" dirty="0"/>
          </a:p>
        </p:txBody>
      </p:sp>
      <p:sp>
        <p:nvSpPr>
          <p:cNvPr id="77" name="Text 75"/>
          <p:cNvSpPr/>
          <p:nvPr/>
        </p:nvSpPr>
        <p:spPr>
          <a:xfrm>
            <a:off x="6355080" y="60807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at 8 PM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189720" y="5212080"/>
            <a:ext cx="2743200" cy="1417320"/>
          </a:xfrm>
          <a:prstGeom prst="rect">
            <a:avLst>
              <a:gd name="adj" fmla="val 9677"/>
            </a:avLst>
          </a:prstGeom>
          <a:solidFill>
            <a:srgbClr val="0D5C6E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532180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75-125×</a:t>
            </a:r>
            <a:endParaRPr lang="en-US" sz="4000" dirty="0"/>
          </a:p>
        </p:txBody>
      </p:sp>
      <p:sp>
        <p:nvSpPr>
          <p:cNvPr id="80" name="Text 78"/>
          <p:cNvSpPr/>
          <p:nvPr/>
        </p:nvSpPr>
        <p:spPr>
          <a:xfrm>
            <a:off x="9281160" y="60807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Gap Factor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>
              <a:gd name="adj" fmla="val 2500"/>
            </a:avLst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01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INSTALLED CAPACITY MIX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Generates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Power?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3749040" cy="1051560"/>
          </a:xfrm>
          <a:prstGeom prst="rect">
            <a:avLst>
              <a:gd name="adj" fmla="val 1043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480 GW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Installed (Mar 2026)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3749040" cy="1051560"/>
          </a:xfrm>
          <a:prstGeom prst="rect">
            <a:avLst>
              <a:gd name="adj" fmla="val 1043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— 26× growth since 2015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4754880"/>
            <a:ext cx="3749040" cy="1051560"/>
          </a:xfrm>
          <a:prstGeom prst="rect">
            <a:avLst>
              <a:gd name="adj" fmla="val 1043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~49%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" y="5349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share of capacity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663440" y="457200"/>
          <a:ext cx="47548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217920" y="21031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0" y="731520"/>
            <a:ext cx="2331720" cy="256032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738360" y="868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38360" y="1234440"/>
            <a:ext cx="2103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still largest single source at 48% but falling.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Solar+Wind = 43% of total — nearly equal to coal for first time.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generation ≠ capacity. CUF of solar is 20% vs coal at 58%.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01200" y="3429000"/>
            <a:ext cx="2331720" cy="13716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738360" y="356616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 / CICERO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Column: YYYYMM,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Coal_Lignite, Solar,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Wind, Hydro, Nuclear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(all in MW)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TREND 2015-2026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Renewable Revolution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37×, Wind 2× in 10 Years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54480"/>
          <a:ext cx="7772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463040"/>
            <a:ext cx="5349240" cy="1078992"/>
          </a:xfrm>
          <a:prstGeom prst="rect">
            <a:avLst>
              <a:gd name="adj" fmla="val 1271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1737360"/>
            <a:ext cx="502920" cy="50292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F4D0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205472" y="15544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05472" y="190195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capital — 43 GW RES, 28% of India's solar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2697480"/>
            <a:ext cx="5349240" cy="1078992"/>
          </a:xfrm>
          <a:prstGeom prst="rect">
            <a:avLst>
              <a:gd name="adj" fmla="val 1271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971800"/>
            <a:ext cx="502920" cy="50292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05472" y="27889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Tamil Nadu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205472" y="313639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capital — 39 BU wind generation, top generator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3931920"/>
            <a:ext cx="5349240" cy="1078992"/>
          </a:xfrm>
          <a:prstGeom prst="rect">
            <a:avLst>
              <a:gd name="adj" fmla="val 1271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4206240"/>
            <a:ext cx="502920" cy="50292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205472" y="40233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Karnataka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05472" y="437083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balanced — solar + wind + hydro all top-5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92240" y="5166360"/>
            <a:ext cx="5349240" cy="1078992"/>
          </a:xfrm>
          <a:prstGeom prst="rect">
            <a:avLst>
              <a:gd name="adj" fmla="val 1271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01968" y="5440680"/>
            <a:ext cx="502920" cy="50292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01968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205472" y="52578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05472" y="560527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hub — 100 GW peak demand, only 16 GW RES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92240" y="6419088"/>
            <a:ext cx="5349240" cy="292608"/>
          </a:xfrm>
          <a:prstGeom prst="rect">
            <a:avLst>
              <a:gd name="adj" fmla="val 31250"/>
            </a:avLst>
          </a:prstGeom>
          <a:solidFill>
            <a:srgbClr val="0A3D47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9400" y="643737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mismatch: Rajasthan generates, UP/MH consume — grid is the bottleneck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SEASONALITY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 Renewables Generate?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&amp; Wind vs Peak Demand Season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5448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2606040" y="1572768"/>
            <a:ext cx="1755648" cy="4041648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2011680"/>
            <a:ext cx="16642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(Apr-Jun)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12280" y="1572768"/>
            <a:ext cx="1170432" cy="4041648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9712" y="228600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A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AA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(Oct-Nov)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46720" y="1664208"/>
            <a:ext cx="3840480" cy="1261872"/>
          </a:xfrm>
          <a:prstGeom prst="rect">
            <a:avLst>
              <a:gd name="adj" fmla="val 1087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56448" y="2011680"/>
            <a:ext cx="548640" cy="548640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644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796528" y="175564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Diurnal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96528" y="21031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0 at 8 PM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peak unmet every day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3127248"/>
            <a:ext cx="3840480" cy="1261872"/>
          </a:xfrm>
          <a:prstGeom prst="rect">
            <a:avLst>
              <a:gd name="adj" fmla="val 1087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56448" y="3474720"/>
            <a:ext cx="548640" cy="548640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56448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796528" y="321868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96528" y="3566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peaks Jul-Sep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peaks Mar-May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demand peaks Apr-Jun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46720" y="4590288"/>
            <a:ext cx="3840480" cy="1261872"/>
          </a:xfrm>
          <a:prstGeom prst="rect">
            <a:avLst>
              <a:gd name="adj" fmla="val 1087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156448" y="4937760"/>
            <a:ext cx="548640" cy="548640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56448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96528" y="46817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796528" y="5029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solar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 reach UP demand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congested grid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DEFICIT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Renewables = Less Deficit?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IDP: energy_requirement vs energy_availability by state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1732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97280" y="5303520"/>
            <a:ext cx="5029200" cy="-1828800"/>
          </a:xfrm>
          <a:prstGeom prst="line">
            <a:avLst/>
          </a:prstGeom>
          <a:noFill/>
          <a:ln w="19050">
            <a:solidFill>
              <a:srgbClr val="1A7A8A"/>
            </a:solidFill>
            <a:prstDash val="dash"/>
            <a:tailEnd type="arrow"/>
          </a:ln>
        </p:spPr>
      </p:sp>
      <p:sp>
        <p:nvSpPr>
          <p:cNvPr id="9" name="Text 6"/>
          <p:cNvSpPr/>
          <p:nvPr/>
        </p:nvSpPr>
        <p:spPr>
          <a:xfrm>
            <a:off x="27432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RES share → Lower deficit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78040" y="1554480"/>
            <a:ext cx="4663440" cy="150876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166420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5,000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269480" y="242316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/MU unmet 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Est. GDP loss rate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3246120"/>
            <a:ext cx="4663440" cy="150876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335584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269480" y="411480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deficit today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(was 12% in 2013)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78040" y="4937760"/>
            <a:ext cx="4663440" cy="150876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504748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J&amp;K 8.2%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7269480" y="580644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Highest deficit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(IDP: energy_req - avail)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78040" y="6419088"/>
            <a:ext cx="4663440" cy="292608"/>
          </a:xfrm>
          <a:prstGeom prst="rect">
            <a:avLst>
              <a:gd name="adj" fmla="val 31250"/>
            </a:avLst>
          </a:prstGeom>
          <a:solidFill>
            <a:srgbClr val="E8F4F6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0" y="64373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 col: energy_requirement, energy_availability (MU) · monthly · state-level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UTILISATION FACTOR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CUF: Capacity is Not Generation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20% CUF means 5 GW solar = 1 GW coal output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087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1572768"/>
            <a:ext cx="3657600" cy="1078992"/>
          </a:xfrm>
          <a:prstGeom prst="rect">
            <a:avLst>
              <a:gd name="adj" fmla="val 12712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339328" y="164592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Solar  20%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39328" y="1993392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5 GW solar to replace 1 GW coal (at same output). Higher capex per unit generation.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0" y="2816352"/>
            <a:ext cx="3657600" cy="1078992"/>
          </a:xfrm>
          <a:prstGeom prst="rect">
            <a:avLst>
              <a:gd name="adj" fmla="val 12712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28895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💨 Wind  25%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39328" y="323697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Peaks in monsoon (Jul-Sep), lowest in summer peak season. Opposite of when needed.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0" y="4059936"/>
            <a:ext cx="3657600" cy="1078992"/>
          </a:xfrm>
          <a:prstGeom prst="rect">
            <a:avLst>
              <a:gd name="adj" fmla="val 12712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41330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⚫ Coal  58%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39328" y="448056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PLF falling from 68%→55% as renewables displace daytime. Still needed for nights.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5303520"/>
            <a:ext cx="3657600" cy="1078992"/>
          </a:xfrm>
          <a:prstGeom prst="rect">
            <a:avLst>
              <a:gd name="adj" fmla="val 12712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39328" y="537667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☢️ Nuclear  82%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39328" y="572414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reliable. Only 8.8 GW — too small. 8-10 yr expansion timeline.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STOCKS &amp; EOQ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Inventory Crisis 2021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IDP: stock_days, daily_requirement, normative_stock_days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716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36746"/>
            <a:ext cx="640080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029200" y="3880714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(7 days)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3061411"/>
            <a:ext cx="640080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303520" y="2805379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(14 days)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0"/>
            <a:ext cx="5239512" cy="6858000"/>
          </a:xfrm>
          <a:prstGeom prst="rect">
            <a:avLst>
              <a:gd name="adj" fmla="val 2094"/>
            </a:avLst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320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MODEL (Week 3)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32320" y="86868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05472" y="99669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5472" y="996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54112" y="9235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Rate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54112" y="12344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daily_requirement (Th T/day)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32320" y="169164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05472" y="181965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05472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54112" y="1746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Cost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54112" y="2057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3 Cr / coal rake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132320" y="251460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205472" y="264261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05472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54112" y="2569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Cost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754112" y="28803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150 / tonne / day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132320" y="333756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05472" y="346557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05472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Q*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754112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Formula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754112" y="3703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sqrt(2 × D × S / H)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132320" y="416052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05472" y="428853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05472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ROP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754112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 Point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754112" y="45262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normative_stock_days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132320" y="4983480"/>
            <a:ext cx="4846320" cy="713232"/>
          </a:xfrm>
          <a:prstGeom prst="rect">
            <a:avLst>
              <a:gd name="adj" fmla="val 12821"/>
            </a:avLst>
          </a:prstGeom>
          <a:solidFill>
            <a:srgbClr val="0D5C6E"/>
          </a:solidFill>
          <a:ln w="10160">
            <a:solidFill>
              <a:srgbClr val="1A7A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05472" y="5111496"/>
            <a:ext cx="457200" cy="457200"/>
          </a:xfrm>
          <a:prstGeom prst="ellipse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05472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7754112" y="5038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Stock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754112" y="53492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normative_stock (Th T)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132320" y="5897880"/>
            <a:ext cx="4846320" cy="658368"/>
          </a:xfrm>
          <a:prstGeom prst="rect">
            <a:avLst>
              <a:gd name="adj" fmla="val 16667"/>
            </a:avLst>
          </a:prstGeom>
          <a:solidFill>
            <a:srgbClr val="1A0808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69480" y="59436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 2021: stock_days &lt; 4 at 100+ stations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coal shortage — a supply chain (EOQ) failure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237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THESIS — EVENING PEAK GAP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0 GW at 8 PM Peak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11365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covers only 10-15 GW · Gap must be Thermal / BESS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50876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5413248"/>
            <a:ext cx="7132320" cy="256032"/>
          </a:xfrm>
          <a:prstGeom prst="rect">
            <a:avLst/>
          </a:prstGeom>
          <a:solidFill>
            <a:srgbClr val="F4D03F">
              <a:alpha val="85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5431536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 SOLAR = 0 GW at 8 PM  (every year, every day)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0" y="1508760"/>
            <a:ext cx="4206240" cy="2926080"/>
          </a:xfrm>
          <a:prstGeom prst="rect">
            <a:avLst>
              <a:gd name="adj" fmla="val 4688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627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BESS Sizing (2025)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18120" y="2103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installed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378440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235915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CUF (avg)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378440" y="23774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818120" y="263347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solar gen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378440" y="26517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240 GWh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18120" y="290779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50% for PM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378440" y="29260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GWh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818120" y="318211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1812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4-hr PM discharge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37844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GW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818120" y="345643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18120" y="3474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needed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78440" y="34747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~400 GWh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1812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today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378440" y="37490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 GWh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818120" y="4005072"/>
            <a:ext cx="3931920" cy="0"/>
          </a:xfrm>
          <a:prstGeom prst="line">
            <a:avLst/>
          </a:prstGeom>
          <a:noFill/>
          <a:ln w="5080">
            <a:solidFill>
              <a:srgbClr val="1A7A8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8120" y="4023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FACTOR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378440" y="40233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75-125×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680960" y="4617720"/>
            <a:ext cx="4206240" cy="1508760"/>
          </a:xfrm>
          <a:prstGeom prst="rect">
            <a:avLst>
              <a:gd name="adj" fmla="val 909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818120" y="47091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BESS Gap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818120" y="5074920"/>
            <a:ext cx="388620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0" y="5084064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Needed: ~400 GWh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818120" y="5468112"/>
            <a:ext cx="41148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82128" y="54772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~4 GWh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37760" cy="6858000"/>
          </a:xfrm>
          <a:prstGeom prst="rect">
            <a:avLst>
              <a:gd name="adj" fmla="val 2222"/>
            </a:avLst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164592" cy="164592"/>
          </a:xfrm>
          <a:prstGeom prst="rect">
            <a:avLst>
              <a:gd name="adj" fmla="val 5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01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47472" y="2514600"/>
            <a:ext cx="457200" cy="457200"/>
          </a:xfrm>
          <a:prstGeom prst="ellipse">
            <a:avLst/>
          </a:prstGeom>
          <a:solidFill>
            <a:srgbClr val="F4D03F">
              <a:alpha val="80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Solar: 26×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70662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 installed but CUF only 20%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GW solar = 1 GW coal at output level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520440"/>
            <a:ext cx="457200" cy="457200"/>
          </a:xfrm>
          <a:prstGeom prst="ellipse">
            <a:avLst/>
          </a:prstGeom>
          <a:solidFill>
            <a:srgbClr val="E74C3C">
              <a:alpha val="80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0 at 8 PM. BESS gap: 75-125×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needs 300-500 GWh 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4526280"/>
            <a:ext cx="457200" cy="457200"/>
          </a:xfrm>
          <a:prstGeom prst="ellipse">
            <a:avLst/>
          </a:prstGeom>
          <a:solidFill>
            <a:srgbClr val="2ECC71">
              <a:alpha val="8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Mismatch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7183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Rajasthan=52% solar, UP=40% demand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is the binding constraint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5532120"/>
            <a:ext cx="457200" cy="457200"/>
          </a:xfrm>
          <a:prstGeom prst="ellipse">
            <a:avLst/>
          </a:prstGeom>
          <a:solidFill>
            <a:srgbClr val="E67E22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Crisis 2021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7241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stock_days fell to &lt;4 at 100+ plants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violated — supply chain failure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6291072"/>
            <a:ext cx="4206240" cy="347472"/>
          </a:xfrm>
          <a:prstGeom prst="rect">
            <a:avLst>
              <a:gd name="adj" fmla="val 6842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291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 CKAN API + CICERO · CEA · NPP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3657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 — ML Models + MBA Tools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120640" y="1005840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1463040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1115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 / Prophet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14447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 peak demand 2025-2030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POSOCO daily · IDP ERA monthly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549640" y="1005840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86800" y="1463040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F4D0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372600" y="1115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Model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72600" y="14447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coal buffer per station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daily_requirement · normative_stock_days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20640" y="2816352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57800" y="3273552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94360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PuLP LP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32552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Min-cost dispatch mix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4050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monitored_capacity - outage_capacity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549640" y="2816352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686800" y="3273552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3273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372600" y="2926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72600" y="32552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states by power profile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0" y="4050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coal_cap · res_cap · deficit_pct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20640" y="4626864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257800" y="5084064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7800" y="50840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943600" y="47365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Sizing Model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943600" y="5065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GWh storage per state to close gap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57800" y="58613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solar_energy · wind_energy · peak demand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49640" y="4626864"/>
            <a:ext cx="3246120" cy="1627632"/>
          </a:xfrm>
          <a:prstGeom prst="rect">
            <a:avLst>
              <a:gd name="adj" fmla="val 8427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686800" y="5084064"/>
            <a:ext cx="594360" cy="594360"/>
          </a:xfrm>
          <a:prstGeom prst="ellipse">
            <a:avLst/>
          </a:prstGeom>
          <a:solidFill>
            <a:srgbClr val="0A3D47"/>
          </a:solidFill>
          <a:ln w="25400">
            <a:solidFill>
              <a:srgbClr val="1A7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50840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9372600" y="47365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72600" y="5065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solar = 500 GW? Gap closes?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686800" y="58613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LP model + capacity expansion simulation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CICERO/Robbie Andrew ·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Peak Power — Week 2 (Redesigned)</dc:title>
  <dc:subject>PptxGenJS Presentation</dc:subject>
  <dc:creator>PptxGenJS</dc:creator>
  <cp:lastModifiedBy>PptxGenJS</cp:lastModifiedBy>
  <cp:revision>1</cp:revision>
  <dcterms:created xsi:type="dcterms:W3CDTF">2026-04-25T15:54:12Z</dcterms:created>
  <dcterms:modified xsi:type="dcterms:W3CDTF">2026-04-25T15:54:12Z</dcterms:modified>
</cp:coreProperties>
</file>
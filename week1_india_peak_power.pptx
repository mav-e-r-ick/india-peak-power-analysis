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912"/>
          </a:solidFill>
          <a:ln w="12700">
            <a:solidFill>
              <a:srgbClr val="04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1887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D9FF"/>
                </a:solidFill>
              </a:rPr>
              <a:t>⚡</a:t>
            </a:r>
            <a:endParaRPr lang="en-US" sz="9000" dirty="0"/>
          </a:p>
        </p:txBody>
      </p:sp>
      <p:sp>
        <p:nvSpPr>
          <p:cNvPr id="21" name="Text 19"/>
          <p:cNvSpPr/>
          <p:nvPr/>
        </p:nvSpPr>
        <p:spPr>
          <a:xfrm>
            <a:off x="2286000" y="10972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RENEWABLE ENERGY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2286000" y="1828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INDIA'S PEAK DEMAND PROBLEM?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2286000" y="2788920"/>
            <a:ext cx="9326880" cy="0"/>
          </a:xfrm>
          <a:prstGeom prst="line">
            <a:avLst/>
          </a:prstGeom>
          <a:noFill/>
          <a:ln w="12700">
            <a:solidFill>
              <a:srgbClr val="3A4F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9718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Capacity Planning Study · Operations Management + Managerial Economics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377440" y="4023360"/>
            <a:ext cx="2560320" cy="1371600"/>
          </a:xfrm>
          <a:prstGeom prst="rect">
            <a:avLst/>
          </a:prstGeom>
          <a:solidFill>
            <a:srgbClr val="111E35"/>
          </a:solidFill>
          <a:ln w="12700">
            <a:solidFill>
              <a:srgbClr val="3A4F7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468880" y="4114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GW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2468880" y="4800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5074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Demand\n2024–25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4023360"/>
            <a:ext cx="2560320" cy="1371600"/>
          </a:xfrm>
          <a:prstGeom prst="rect">
            <a:avLst/>
          </a:prstGeom>
          <a:solidFill>
            <a:srgbClr val="111E35"/>
          </a:solidFill>
          <a:ln w="12700">
            <a:solidFill>
              <a:srgbClr val="3A4F7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4114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GW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4892040" y="4800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5074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Installed\nMar 2025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23760" y="4023360"/>
            <a:ext cx="2560320" cy="1371600"/>
          </a:xfrm>
          <a:prstGeom prst="rect">
            <a:avLst/>
          </a:prstGeom>
          <a:solidFill>
            <a:srgbClr val="111E35"/>
          </a:solidFill>
          <a:ln w="12700">
            <a:solidFill>
              <a:srgbClr val="3A4F7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15200" y="4114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7315200" y="4800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5074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Renewables\nShare (cap)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646920" y="4023360"/>
            <a:ext cx="2560320" cy="1371600"/>
          </a:xfrm>
          <a:prstGeom prst="rect">
            <a:avLst/>
          </a:prstGeom>
          <a:solidFill>
            <a:srgbClr val="111E35"/>
          </a:solidFill>
          <a:ln w="12700">
            <a:solidFill>
              <a:srgbClr val="3A4F7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738360" y="4114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000" dirty="0"/>
          </a:p>
        </p:txBody>
      </p:sp>
      <p:sp>
        <p:nvSpPr>
          <p:cNvPr id="39" name="Text 37"/>
          <p:cNvSpPr/>
          <p:nvPr/>
        </p:nvSpPr>
        <p:spPr>
          <a:xfrm>
            <a:off x="9738360" y="4800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738360" y="5074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at\nEvening Peak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286000" y="6217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DATA PIPELINE &amp; FACTBASE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" y="6601968"/>
            <a:ext cx="11640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Robbie Andrew (CICERO) · All official Govt of India data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TENSION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00D9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111E35"/>
          </a:solidFill>
          <a:ln w="12700">
            <a:solidFill>
              <a:srgbClr val="3A4F7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11887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WHEN RENEWABLES GENERATE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16916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0876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RISES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0" y="1764792"/>
            <a:ext cx="731520" cy="2743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691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235000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08760" y="23500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PEAK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40480" y="2423160"/>
            <a:ext cx="1463040" cy="2743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2350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00837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08760" y="300837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HIGH + WIND MID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840480" y="3081528"/>
            <a:ext cx="1243584" cy="2743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9784" y="30083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66674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508760" y="366674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DROPS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840480" y="3739896"/>
            <a:ext cx="438912" cy="27432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25112" y="366674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32511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508760" y="43251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= ZERO ❌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886200" y="43251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9834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508760" y="4983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DEMAND! 🔴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886200" y="4983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69280" y="2743200"/>
            <a:ext cx="822960" cy="822960"/>
          </a:xfrm>
          <a:prstGeom prst="ellipse">
            <a:avLst/>
          </a:prstGeom>
          <a:solidFill>
            <a:srgbClr val="1A0505"/>
          </a:solidFill>
          <a:ln w="25400">
            <a:solidFill>
              <a:srgbClr val="FF525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0" y="2743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537960" y="1097280"/>
            <a:ext cx="5303520" cy="5029200"/>
          </a:xfrm>
          <a:prstGeom prst="rect">
            <a:avLst/>
          </a:prstGeom>
          <a:solidFill>
            <a:srgbClr val="111E35"/>
          </a:solidFill>
          <a:ln w="12700">
            <a:solidFill>
              <a:srgbClr val="3A4F7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720840" y="11887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WHEN INDIA NEEDS POWER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720840" y="16916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AM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772400" y="16916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ramp-up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012680" y="1764792"/>
            <a:ext cx="804672" cy="27432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235000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PM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772400" y="23500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(offices)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0012680" y="2423160"/>
            <a:ext cx="950976" cy="27432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0840" y="300837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PM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772400" y="30083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(AC peak)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0012680" y="3081528"/>
            <a:ext cx="1170432" cy="27432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20840" y="366674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PM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772400" y="366674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SURGING — return home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0012680" y="3739896"/>
            <a:ext cx="1316736" cy="27432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20840" y="432511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PM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772400" y="43251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DEMAND 🔴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10012680" y="4398264"/>
            <a:ext cx="1463040" cy="27432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20840" y="49834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PM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772400" y="4983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very high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0012680" y="5056632"/>
            <a:ext cx="1243584" cy="27432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6263640"/>
            <a:ext cx="11640312" cy="411480"/>
          </a:xfrm>
          <a:prstGeom prst="rect">
            <a:avLst/>
          </a:prstGeom>
          <a:solidFill>
            <a:srgbClr val="1A0A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6291072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Research Question: Can solar + wind + storage bridge this timing mismatch — and at what cost?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274320" y="6601968"/>
            <a:ext cx="11640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Robbie Andrew (CICERO) · All official Govt of India data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— 9 OFFICIAL SOURCES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00D9F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96012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from Indian Government ministries. No synthetic data. No Kaggle. Institute-grade sources.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1371600"/>
            <a:ext cx="3794760" cy="10058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1371600"/>
            <a:ext cx="64008" cy="10058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14173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Power Generation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17556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CEA / Min. of Power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200253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India Data Portal (ISB)  ·  2014–2026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560320"/>
            <a:ext cx="3794760" cy="10058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560320"/>
            <a:ext cx="64008" cy="10058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6060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Req. &amp; Availability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29443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CEA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319125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India Data Portal (ISB)  ·  2001–2026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749040"/>
            <a:ext cx="3794760" cy="10058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749040"/>
            <a:ext cx="64008" cy="10058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7947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Capacity (Statewise)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1330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CEA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11480" y="437997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India Data Portal (ISB)  ·  2014–2026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937760"/>
            <a:ext cx="3794760" cy="10058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4937760"/>
            <a:ext cx="64008" cy="10058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9834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Coal Stocks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" y="53218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Min. of Power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11480" y="556869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India Data Portal (ISB)  ·  2014–2026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297680" y="1371600"/>
            <a:ext cx="3794760" cy="10058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297680" y="1371600"/>
            <a:ext cx="64008" cy="100584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34840" y="14173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Power Outage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34840" y="17556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Min. of Power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34840" y="200253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India Data Portal (ISB)  ·  2014–2026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297680" y="2560320"/>
            <a:ext cx="3794760" cy="10058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297680" y="2560320"/>
            <a:ext cx="64008" cy="100584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34840" y="26060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Renewable Generation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434840" y="29443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CEA / MNRE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434840" y="319125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India Data Portal (ISB)  ·  2019–2026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297680" y="3749040"/>
            <a:ext cx="3794760" cy="10058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297680" y="3749040"/>
            <a:ext cx="64008" cy="100584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34840" y="37947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Renewable Generation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434840" y="41330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CEA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434840" y="437997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India Data Portal (ISB)  ·  2019–2026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229600" y="1371600"/>
            <a:ext cx="3794760" cy="10058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229600" y="1371600"/>
            <a:ext cx="64008" cy="100584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66760" y="14173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ISGS Renewable Generation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366760" y="17556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CEA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366760" y="200253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India Data Portal (ISB)  ·  2019–2026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229600" y="2560320"/>
            <a:ext cx="3794760" cy="10058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229600" y="2560320"/>
            <a:ext cx="64008" cy="100584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66760" y="26060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Installed Capacity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366760" y="29443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CEA / POSOCO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366760" y="319125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Robbie Andrew (CICERO)  ·  1947–2026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74320" y="5943600"/>
            <a:ext cx="5486400" cy="594360"/>
          </a:xfrm>
          <a:prstGeom prst="rect">
            <a:avLst/>
          </a:prstGeom>
          <a:solidFill>
            <a:srgbClr val="0A1A0A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57200" y="598932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India Data Portal (indiadataportal.com) — ISB + Bill &amp; Melinda Gates Foundation  ·  Open Data Commons Attribution License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274320" y="6601968"/>
            <a:ext cx="11640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Robbie Andrew (CICERO) · All official Govt of India data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65760" y="182880"/>
            <a:ext cx="2560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RENEWABLE REVOLUTION — INDIA'S CAPACITY MIX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00D9F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96012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capacity (GW) by source · 2015–2025  ·  Source: CEA via India Data Portal / CICERO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1188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20240" y="1463040"/>
            <a:ext cx="3967089" cy="384048"/>
          </a:xfrm>
          <a:prstGeom prst="rect">
            <a:avLst/>
          </a:prstGeom>
          <a:solidFill>
            <a:srgbClr val="FF5252">
              <a:alpha val="5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33049" y="1463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GW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920240" y="1892808"/>
            <a:ext cx="5190978" cy="38404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6938" y="189280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 GW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1539850"/>
            <a:ext cx="1417320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Coal+Gas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20240" y="2414016"/>
            <a:ext cx="865163" cy="384048"/>
          </a:xfrm>
          <a:prstGeom prst="rect">
            <a:avLst/>
          </a:prstGeom>
          <a:solidFill>
            <a:srgbClr val="5B9BD5">
              <a:alpha val="50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1123" y="241401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GW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920240" y="2843784"/>
            <a:ext cx="1012874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8834" y="28437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GW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2490826"/>
            <a:ext cx="1417320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920240" y="3364992"/>
            <a:ext cx="122389" cy="384048"/>
          </a:xfrm>
          <a:prstGeom prst="rect">
            <a:avLst/>
          </a:prstGeom>
          <a:solidFill>
            <a:srgbClr val="C77DFF">
              <a:alpha val="50000"/>
            </a:srgbClr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88349" y="33649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GW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920240" y="3794760"/>
            <a:ext cx="185694" cy="38404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51654" y="3794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GW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3441802"/>
            <a:ext cx="1417320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920240" y="4315968"/>
            <a:ext cx="527538" cy="384048"/>
          </a:xfrm>
          <a:prstGeom prst="rect">
            <a:avLst/>
          </a:prstGeom>
          <a:solidFill>
            <a:srgbClr val="00FF9F">
              <a:alpha val="50000"/>
            </a:srgbClr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93498" y="431596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GW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920240" y="4745736"/>
            <a:ext cx="1097280" cy="384048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63240" y="474573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GW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392778"/>
            <a:ext cx="1417320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920240" y="5266944"/>
            <a:ext cx="84406" cy="384048"/>
          </a:xfrm>
          <a:prstGeom prst="rect">
            <a:avLst/>
          </a:prstGeom>
          <a:solidFill>
            <a:srgbClr val="FFB800">
              <a:alpha val="5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50366" y="526694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GW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920240" y="5696712"/>
            <a:ext cx="2236763" cy="38404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2723" y="56967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GW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5343754"/>
            <a:ext cx="1417320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920240" y="7315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▓ 2015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383280" y="7315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 2025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863840" y="1417320"/>
            <a:ext cx="4023360" cy="114300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863840" y="1417320"/>
            <a:ext cx="64008" cy="11430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28432" y="147218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Solar: 4 → 106 GW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028432" y="183794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26× growth in 10 years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energy buildout in history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863840" y="2715768"/>
            <a:ext cx="4023360" cy="114300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863840" y="2715768"/>
            <a:ext cx="64008" cy="114300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28432" y="27706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Wind: 25 → 52 GW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028432" y="313639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growth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in 7 states (TN, GJ, RJ, MH...)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863840" y="4014216"/>
            <a:ext cx="4023360" cy="114300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7863840" y="4014216"/>
            <a:ext cx="64008" cy="11430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28432" y="4069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⚫  Coal: Still dominant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028432" y="44348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→ 221 GW (+34%)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fell from 59% → 49%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863840" y="5312664"/>
            <a:ext cx="4023360" cy="114300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7863840" y="5312664"/>
            <a:ext cx="64008" cy="1143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28432" y="53675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Total: 270 → 440+ GW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028432" y="57332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capacity growth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peak gap still widens!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74320" y="6601968"/>
            <a:ext cx="11640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Robbie Andrew (CICERO) · All official Govt of India data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508"/>
          </a:solidFill>
          <a:ln w="12700">
            <a:solidFill>
              <a:srgbClr val="0A05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MISMATCH PROBLEM — CORE OPERATIONS CHALLENGE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FFB800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96012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avg generation (MU/day) · India · 2019–2025  ·  Source: CEA Daily Renewable Report / IDP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837214"/>
            <a:ext cx="274320" cy="1054826"/>
          </a:xfrm>
          <a:prstGeom prst="rect">
            <a:avLst/>
          </a:prstGeom>
          <a:solidFill>
            <a:srgbClr val="FFB800">
              <a:alpha val="80000"/>
            </a:srgbClr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278777"/>
            <a:ext cx="274320" cy="1613263"/>
          </a:xfrm>
          <a:prstGeom prst="rect">
            <a:avLst/>
          </a:prstGeom>
          <a:solidFill>
            <a:srgbClr val="00FF9F">
              <a:alpha val="8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96696" y="3651069"/>
            <a:ext cx="274320" cy="1240971"/>
          </a:xfrm>
          <a:prstGeom prst="rect">
            <a:avLst/>
          </a:prstGeom>
          <a:solidFill>
            <a:srgbClr val="FFB800">
              <a:alpha val="80000"/>
            </a:srgbClr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16736" y="3526971"/>
            <a:ext cx="274320" cy="1365069"/>
          </a:xfrm>
          <a:prstGeom prst="rect">
            <a:avLst/>
          </a:prstGeom>
          <a:solidFill>
            <a:srgbClr val="00FF9F">
              <a:alpha val="8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73352" y="3216729"/>
            <a:ext cx="274320" cy="1675311"/>
          </a:xfrm>
          <a:prstGeom prst="rect">
            <a:avLst/>
          </a:prstGeom>
          <a:solidFill>
            <a:srgbClr val="FFB800">
              <a:alpha val="80000"/>
            </a:srgbClr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93392" y="3713117"/>
            <a:ext cx="274320" cy="1178923"/>
          </a:xfrm>
          <a:prstGeom prst="rect">
            <a:avLst/>
          </a:prstGeom>
          <a:solidFill>
            <a:srgbClr val="00FF9F">
              <a:alpha val="8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81912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350008" y="1417320"/>
            <a:ext cx="640080" cy="3474720"/>
          </a:xfrm>
          <a:prstGeom prst="rect">
            <a:avLst/>
          </a:prstGeom>
          <a:solidFill>
            <a:srgbClr val="FF5252">
              <a:alpha val="12000"/>
            </a:srgbClr>
          </a:solidFill>
          <a:ln w="6350">
            <a:solidFill>
              <a:srgbClr val="FF5252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0008" y="2968534"/>
            <a:ext cx="274320" cy="1923506"/>
          </a:xfrm>
          <a:prstGeom prst="rect">
            <a:avLst/>
          </a:prstGeom>
          <a:solidFill>
            <a:srgbClr val="FFB800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3899263"/>
            <a:ext cx="274320" cy="992777"/>
          </a:xfrm>
          <a:prstGeom prst="rect">
            <a:avLst/>
          </a:prstGeom>
          <a:solidFill>
            <a:srgbClr val="00FF9F">
              <a:alpha val="8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8568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026664" y="1417320"/>
            <a:ext cx="640080" cy="3474720"/>
          </a:xfrm>
          <a:prstGeom prst="rect">
            <a:avLst/>
          </a:prstGeom>
          <a:solidFill>
            <a:srgbClr val="FF5252">
              <a:alpha val="12000"/>
            </a:srgbClr>
          </a:solidFill>
          <a:ln w="6350">
            <a:solidFill>
              <a:srgbClr val="FF5252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26664" y="3092631"/>
            <a:ext cx="274320" cy="1799409"/>
          </a:xfrm>
          <a:prstGeom prst="rect">
            <a:avLst/>
          </a:prstGeom>
          <a:solidFill>
            <a:srgbClr val="FFB800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46704" y="3775166"/>
            <a:ext cx="274320" cy="1116874"/>
          </a:xfrm>
          <a:prstGeom prst="rect">
            <a:avLst/>
          </a:prstGeom>
          <a:solidFill>
            <a:srgbClr val="00FF9F">
              <a:alpha val="8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35224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03320" y="1417320"/>
            <a:ext cx="640080" cy="3474720"/>
          </a:xfrm>
          <a:prstGeom prst="rect">
            <a:avLst/>
          </a:prstGeom>
          <a:solidFill>
            <a:srgbClr val="FF5252">
              <a:alpha val="12000"/>
            </a:srgbClr>
          </a:solidFill>
          <a:ln w="6350">
            <a:solidFill>
              <a:srgbClr val="FF5252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03320" y="3402874"/>
            <a:ext cx="274320" cy="1489166"/>
          </a:xfrm>
          <a:prstGeom prst="rect">
            <a:avLst/>
          </a:prstGeom>
          <a:solidFill>
            <a:srgbClr val="FFB800">
              <a:alpha val="80000"/>
            </a:srgbClr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23360" y="2906486"/>
            <a:ext cx="274320" cy="1985554"/>
          </a:xfrm>
          <a:prstGeom prst="rect">
            <a:avLst/>
          </a:prstGeom>
          <a:solidFill>
            <a:srgbClr val="00FF9F">
              <a:alpha val="8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11880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379976" y="3775166"/>
            <a:ext cx="274320" cy="1116874"/>
          </a:xfrm>
          <a:prstGeom prst="rect">
            <a:avLst/>
          </a:prstGeom>
          <a:solidFill>
            <a:srgbClr val="FFB800">
              <a:alpha val="80000"/>
            </a:srgbClr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0016" y="1913709"/>
            <a:ext cx="274320" cy="2978331"/>
          </a:xfrm>
          <a:prstGeom prst="rect">
            <a:avLst/>
          </a:prstGeom>
          <a:solidFill>
            <a:srgbClr val="00FF9F"/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88536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56632" y="3899263"/>
            <a:ext cx="274320" cy="992777"/>
          </a:xfrm>
          <a:prstGeom prst="rect">
            <a:avLst/>
          </a:prstGeom>
          <a:solidFill>
            <a:srgbClr val="FFB800">
              <a:alpha val="80000"/>
            </a:srgbClr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76672" y="1789611"/>
            <a:ext cx="274320" cy="3102429"/>
          </a:xfrm>
          <a:prstGeom prst="rect">
            <a:avLst/>
          </a:prstGeom>
          <a:solidFill>
            <a:srgbClr val="00FF9F"/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65192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733288" y="3775166"/>
            <a:ext cx="274320" cy="1116874"/>
          </a:xfrm>
          <a:prstGeom prst="rect">
            <a:avLst/>
          </a:prstGeom>
          <a:solidFill>
            <a:srgbClr val="FFB800">
              <a:alpha val="80000"/>
            </a:srgbClr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53328" y="2161903"/>
            <a:ext cx="274320" cy="2730137"/>
          </a:xfrm>
          <a:prstGeom prst="rect">
            <a:avLst/>
          </a:prstGeom>
          <a:solidFill>
            <a:srgbClr val="00FF9F">
              <a:alpha val="8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41848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09944" y="1417320"/>
            <a:ext cx="640080" cy="3474720"/>
          </a:xfrm>
          <a:prstGeom prst="rect">
            <a:avLst/>
          </a:prstGeom>
          <a:solidFill>
            <a:srgbClr val="FF5252">
              <a:alpha val="12000"/>
            </a:srgbClr>
          </a:solidFill>
          <a:ln w="6350">
            <a:solidFill>
              <a:srgbClr val="FF5252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9944" y="3589020"/>
            <a:ext cx="274320" cy="1303020"/>
          </a:xfrm>
          <a:prstGeom prst="rect">
            <a:avLst/>
          </a:prstGeom>
          <a:solidFill>
            <a:srgbClr val="FFB800">
              <a:alpha val="80000"/>
            </a:srgbClr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29984" y="3030583"/>
            <a:ext cx="274320" cy="1861457"/>
          </a:xfrm>
          <a:prstGeom prst="rect">
            <a:avLst/>
          </a:prstGeom>
          <a:solidFill>
            <a:srgbClr val="00FF9F">
              <a:alpha val="8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18504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086600" y="1417320"/>
            <a:ext cx="640080" cy="3474720"/>
          </a:xfrm>
          <a:prstGeom prst="rect">
            <a:avLst/>
          </a:prstGeom>
          <a:solidFill>
            <a:srgbClr val="FF5252">
              <a:alpha val="12000"/>
            </a:srgbClr>
          </a:solidFill>
          <a:ln w="6350">
            <a:solidFill>
              <a:srgbClr val="FF5252">
                <a:alpha val="3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86600" y="3837214"/>
            <a:ext cx="274320" cy="1054826"/>
          </a:xfrm>
          <a:prstGeom prst="rect">
            <a:avLst/>
          </a:prstGeom>
          <a:solidFill>
            <a:srgbClr val="FFB800">
              <a:alpha val="80000"/>
            </a:srgbClr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06640" y="3402874"/>
            <a:ext cx="274320" cy="1489166"/>
          </a:xfrm>
          <a:prstGeom prst="rect">
            <a:avLst/>
          </a:prstGeom>
          <a:solidFill>
            <a:srgbClr val="00FF9F">
              <a:alpha val="8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95160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763256" y="3961311"/>
            <a:ext cx="274320" cy="930729"/>
          </a:xfrm>
          <a:prstGeom prst="rect">
            <a:avLst/>
          </a:prstGeom>
          <a:solidFill>
            <a:srgbClr val="FFB800">
              <a:alpha val="80000"/>
            </a:srgbClr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83296" y="3464923"/>
            <a:ext cx="274320" cy="1427117"/>
          </a:xfrm>
          <a:prstGeom prst="rect">
            <a:avLst/>
          </a:prstGeom>
          <a:solidFill>
            <a:srgbClr val="00FF9F">
              <a:alpha val="8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71816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20040" y="5276088"/>
            <a:ext cx="228600" cy="20116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" y="5276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(MU/day)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606040" y="5276088"/>
            <a:ext cx="228600" cy="201168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80360" y="5276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(MU/day)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074920" y="5276088"/>
            <a:ext cx="228600" cy="201168"/>
          </a:xfrm>
          <a:prstGeom prst="rect">
            <a:avLst/>
          </a:prstGeom>
          <a:solidFill>
            <a:srgbClr val="FF5252">
              <a:alpha val="3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49240" y="52760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Peak demand season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412480" y="1371600"/>
            <a:ext cx="3520440" cy="5120640"/>
          </a:xfrm>
          <a:prstGeom prst="rect">
            <a:avLst/>
          </a:prstGeom>
          <a:solidFill>
            <a:srgbClr val="111E35"/>
          </a:solidFill>
          <a:ln w="12700">
            <a:solidFill>
              <a:srgbClr val="3A4F7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8549640" y="14630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THREE MISMATCHES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549640" y="1920240"/>
            <a:ext cx="502920" cy="5029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5496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18972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DIURNAL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9189720" y="226771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= 0 at 8 PM peak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demand surge unmet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8549640" y="3383280"/>
            <a:ext cx="502920" cy="5029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FF9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496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918972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9189720" y="373075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peaks Apr–May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peaks Jul–Sep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peak demand = Apr–Jun + Oct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8549640" y="4846320"/>
            <a:ext cx="502920" cy="5029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54964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918972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9189720" y="519379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 Rajasthan/Gujarat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in Tamil Nadu/AP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peaks in UP/MH/Delhi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412480" y="6400800"/>
            <a:ext cx="3520440" cy="274320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8503920" y="64190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Week 3: Storage sizing model solves #1 &amp; #2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274320" y="6601968"/>
            <a:ext cx="11640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Robbie Andrew (CICERO) · All official Govt of India data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65760" y="182880"/>
            <a:ext cx="2560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ANALYTICAL FRAMEWORK — 4-WEEK ROADMAP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00D9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1143000"/>
            <a:ext cx="2743200" cy="52120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solidFill>
            <a:srgbClr val="0A1020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01  ✅ DONE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17099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OPS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244144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Govt data acquisition (9 sources)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gen + capacity + coal + outage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dataset construction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794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ECON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04164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 facts established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Demand-supply gap quantified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Regional capacity map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5897880"/>
            <a:ext cx="2560320" cy="347472"/>
          </a:xfrm>
          <a:prstGeom prst="rect">
            <a:avLst/>
          </a:prstGeom>
          <a:solidFill>
            <a:srgbClr val="0A1428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59253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Pandas · Matplotlib · Plotly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36976" y="1143000"/>
            <a:ext cx="2743200" cy="52120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36976" y="1143000"/>
            <a:ext cx="2743200" cy="502920"/>
          </a:xfrm>
          <a:prstGeom prst="rect">
            <a:avLst/>
          </a:prstGeom>
          <a:solidFill>
            <a:srgbClr val="0A102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02  ⏭ NEXT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28416" y="17099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ANALYSIS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28416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OPS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28416" y="244144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Capacity utilisation by source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State-level comparisons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Seasonal demand patterns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28416" y="3794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ECON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28416" y="404164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Price-demand correlation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Deficit cost estimation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Transmission bottleneck map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28416" y="5897880"/>
            <a:ext cx="2560320" cy="347472"/>
          </a:xfrm>
          <a:prstGeom prst="rect">
            <a:avLst/>
          </a:prstGeom>
          <a:solidFill>
            <a:srgbClr val="0A1428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74136" y="59253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Seaborn · Plotly Choropleth · Statsmodels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99632" y="1143000"/>
            <a:ext cx="2743200" cy="52120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99632" y="1143000"/>
            <a:ext cx="2743200" cy="502920"/>
          </a:xfrm>
          <a:prstGeom prst="rect">
            <a:avLst/>
          </a:prstGeom>
          <a:solidFill>
            <a:srgbClr val="0A1020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1072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03  📅 WEEK 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91072" y="17099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+ MBA TOOLS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291072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OPS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91072" y="244144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EOQ model: coal inventory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LP: optimal generation mix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BESS sizing for peak shaving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91072" y="3794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ECON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91072" y="404164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SARIMAX: peak demand forecast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K-Means: state clustering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 curve: RE cost trend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91072" y="5897880"/>
            <a:ext cx="2560320" cy="347472"/>
          </a:xfrm>
          <a:prstGeom prst="rect">
            <a:avLst/>
          </a:prstGeom>
          <a:solidFill>
            <a:srgbClr val="0A1428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36792" y="59253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Prophet · Sklearn · PuLP · Scipy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62288" y="1143000"/>
            <a:ext cx="2743200" cy="52120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162288" y="1143000"/>
            <a:ext cx="2743200" cy="502920"/>
          </a:xfrm>
          <a:prstGeom prst="rect">
            <a:avLst/>
          </a:prstGeom>
          <a:solidFill>
            <a:srgbClr val="0A1020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53728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04  📅 WEEK 4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253728" y="17099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253728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OPS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253728" y="244144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Counterfactual: 500 GW solar?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requirement model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cost-benefit analysis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253728" y="3794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ECON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253728" y="404164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Pigouvian subsidy calc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DWL from energy deficit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Executive summary + report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253728" y="5897880"/>
            <a:ext cx="2560320" cy="347472"/>
          </a:xfrm>
          <a:prstGeom prst="rect">
            <a:avLst/>
          </a:prstGeom>
          <a:solidFill>
            <a:srgbClr val="0A1428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99448" y="59253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Full stack · Final PPTX · Report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017520" y="3749040"/>
            <a:ext cx="219456" cy="0"/>
          </a:xfrm>
          <a:prstGeom prst="line">
            <a:avLst/>
          </a:prstGeom>
          <a:noFill/>
          <a:ln w="19050">
            <a:solidFill>
              <a:srgbClr val="2A3050"/>
            </a:solidFill>
            <a:prstDash val="solid"/>
            <a:tailEnd type="arrow"/>
          </a:ln>
        </p:spPr>
      </p:sp>
      <p:sp>
        <p:nvSpPr>
          <p:cNvPr id="62" name="Shape 60"/>
          <p:cNvSpPr/>
          <p:nvPr/>
        </p:nvSpPr>
        <p:spPr>
          <a:xfrm>
            <a:off x="5980176" y="3749040"/>
            <a:ext cx="219456" cy="0"/>
          </a:xfrm>
          <a:prstGeom prst="line">
            <a:avLst/>
          </a:prstGeom>
          <a:noFill/>
          <a:ln w="19050">
            <a:solidFill>
              <a:srgbClr val="2A3050"/>
            </a:solidFill>
            <a:prstDash val="solid"/>
            <a:tailEnd type="arrow"/>
          </a:ln>
        </p:spPr>
      </p:sp>
      <p:sp>
        <p:nvSpPr>
          <p:cNvPr id="63" name="Shape 61"/>
          <p:cNvSpPr/>
          <p:nvPr/>
        </p:nvSpPr>
        <p:spPr>
          <a:xfrm>
            <a:off x="8942832" y="3749040"/>
            <a:ext cx="219456" cy="0"/>
          </a:xfrm>
          <a:prstGeom prst="line">
            <a:avLst/>
          </a:prstGeom>
          <a:noFill/>
          <a:ln w="19050">
            <a:solidFill>
              <a:srgbClr val="2A3050"/>
            </a:solidFill>
            <a:prstDash val="solid"/>
            <a:tailEnd type="arrow"/>
          </a:ln>
        </p:spPr>
      </p:sp>
      <p:sp>
        <p:nvSpPr>
          <p:cNvPr id="64" name="Text 62"/>
          <p:cNvSpPr/>
          <p:nvPr/>
        </p:nvSpPr>
        <p:spPr>
          <a:xfrm>
            <a:off x="274320" y="6601968"/>
            <a:ext cx="11640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Robbie Andrew (CICERO) · All official Govt of India data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65760" y="182880"/>
            <a:ext cx="2377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LENS — COAL INVENTORY AS SYSTEM CONSTRAINT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00D9F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96012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Constraints: Coal stock at thermal plants is the binding constraint for peak supply  ·  IDP / Ministry of Power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1371600"/>
            <a:ext cx="5120640" cy="411480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1481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EOQ MODEL PREVIEW (Week 3)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193852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Demand Rate (D):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19385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MT/month per station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248716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Ordering Cost (S):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24871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₹2–4 Cr per coal rake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0358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Holding Cost (H):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303580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~1.5% of coal value/month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5844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EOQ Formula: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0" y="358444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√(2DS/H) → Optimal order qty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1330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Safety Stock: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41330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norm (CEA mandate)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68172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Reorder Point: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0" y="46817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stock level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5166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EOQ* = √(2 × D × S ÷ H)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577840" y="1371600"/>
            <a:ext cx="6309360" cy="411480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760720" y="148132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COAL CRISIS TIMELINE (2021–22)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52160" y="2765146"/>
            <a:ext cx="441960" cy="2172614"/>
          </a:xfrm>
          <a:prstGeom prst="rect">
            <a:avLst/>
          </a:prstGeom>
          <a:solidFill>
            <a:srgbClr val="00FF9F">
              <a:alpha val="8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2509114"/>
            <a:ext cx="48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806440" y="4983480"/>
            <a:ext cx="57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Q1-21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339840" y="3247949"/>
            <a:ext cx="441960" cy="1689811"/>
          </a:xfrm>
          <a:prstGeom prst="rect">
            <a:avLst/>
          </a:prstGeom>
          <a:solidFill>
            <a:srgbClr val="FFB800">
              <a:alpha val="80000"/>
            </a:srgbClr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9840" y="2991917"/>
            <a:ext cx="48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94120" y="4983480"/>
            <a:ext cx="57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Q2-21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827520" y="3972154"/>
            <a:ext cx="441960" cy="965606"/>
          </a:xfrm>
          <a:prstGeom prst="rect">
            <a:avLst/>
          </a:prstGeom>
          <a:solidFill>
            <a:srgbClr val="FFB800">
              <a:alpha val="80000"/>
            </a:srgbClr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27520" y="3716122"/>
            <a:ext cx="48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81800" y="4983480"/>
            <a:ext cx="57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Q3-21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315200" y="4454957"/>
            <a:ext cx="441960" cy="482803"/>
          </a:xfrm>
          <a:prstGeom prst="rect">
            <a:avLst/>
          </a:prstGeom>
          <a:solidFill>
            <a:srgbClr val="FF5252">
              <a:alpha val="80000"/>
            </a:srgbClr>
          </a:solidFill>
          <a:ln w="10160">
            <a:solidFill>
              <a:srgbClr val="FF52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0" y="4198925"/>
            <a:ext cx="48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269480" y="4983480"/>
            <a:ext cx="57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Q4-21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802880" y="4334256"/>
            <a:ext cx="441960" cy="603504"/>
          </a:xfrm>
          <a:prstGeom prst="rect">
            <a:avLst/>
          </a:prstGeom>
          <a:solidFill>
            <a:srgbClr val="FF5252">
              <a:alpha val="80000"/>
            </a:srgbClr>
          </a:solidFill>
          <a:ln w="10160">
            <a:solidFill>
              <a:srgbClr val="FF525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02880" y="4078224"/>
            <a:ext cx="48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757160" y="4983480"/>
            <a:ext cx="57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Q1-22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290560" y="3851453"/>
            <a:ext cx="441960" cy="1086307"/>
          </a:xfrm>
          <a:prstGeom prst="rect">
            <a:avLst/>
          </a:prstGeom>
          <a:solidFill>
            <a:srgbClr val="FFB800">
              <a:alpha val="80000"/>
            </a:srgbClr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90560" y="3595421"/>
            <a:ext cx="48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244840" y="4983480"/>
            <a:ext cx="57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Q2-22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778240" y="4092854"/>
            <a:ext cx="441960" cy="844906"/>
          </a:xfrm>
          <a:prstGeom prst="rect">
            <a:avLst/>
          </a:prstGeom>
          <a:solidFill>
            <a:srgbClr val="FFB800">
              <a:alpha val="80000"/>
            </a:srgbClr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78240" y="3836822"/>
            <a:ext cx="48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732520" y="4983480"/>
            <a:ext cx="57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Q3-22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9265920" y="3368650"/>
            <a:ext cx="441960" cy="1569110"/>
          </a:xfrm>
          <a:prstGeom prst="rect">
            <a:avLst/>
          </a:prstGeom>
          <a:solidFill>
            <a:srgbClr val="00FF9F">
              <a:alpha val="8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265920" y="3112618"/>
            <a:ext cx="48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220200" y="4983480"/>
            <a:ext cx="57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Q4-22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9753600" y="3006547"/>
            <a:ext cx="441960" cy="1931213"/>
          </a:xfrm>
          <a:prstGeom prst="rect">
            <a:avLst/>
          </a:prstGeom>
          <a:solidFill>
            <a:srgbClr val="00FF9F">
              <a:alpha val="8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753600" y="2750515"/>
            <a:ext cx="48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16d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707880" y="4983480"/>
            <a:ext cx="57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Q1-23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0241280" y="3489350"/>
            <a:ext cx="441960" cy="1448410"/>
          </a:xfrm>
          <a:prstGeom prst="rect">
            <a:avLst/>
          </a:prstGeom>
          <a:solidFill>
            <a:srgbClr val="00FF9F">
              <a:alpha val="8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241280" y="3233318"/>
            <a:ext cx="48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12d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0195560" y="4983480"/>
            <a:ext cx="57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Q2-23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728960" y="3127248"/>
            <a:ext cx="441960" cy="1810512"/>
          </a:xfrm>
          <a:prstGeom prst="rect">
            <a:avLst/>
          </a:prstGeom>
          <a:solidFill>
            <a:srgbClr val="00FF9F">
              <a:alpha val="8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728960" y="2871216"/>
            <a:ext cx="48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15d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0683240" y="4983480"/>
            <a:ext cx="57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Q3-23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11216640" y="2885846"/>
            <a:ext cx="441960" cy="2051914"/>
          </a:xfrm>
          <a:prstGeom prst="rect">
            <a:avLst/>
          </a:prstGeom>
          <a:solidFill>
            <a:srgbClr val="00FF9F">
              <a:alpha val="8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216640" y="2629814"/>
            <a:ext cx="48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17d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1170920" y="4983480"/>
            <a:ext cx="57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Q4-23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852160" y="4092854"/>
            <a:ext cx="5852160" cy="0"/>
          </a:xfrm>
          <a:prstGeom prst="line">
            <a:avLst/>
          </a:prstGeom>
          <a:noFill/>
          <a:ln w="19050">
            <a:solidFill>
              <a:srgbClr val="FF5252"/>
            </a:solidFill>
            <a:prstDash val="dash"/>
          </a:ln>
        </p:spPr>
      </p:sp>
      <p:sp>
        <p:nvSpPr>
          <p:cNvPr id="76" name="Text 74"/>
          <p:cNvSpPr/>
          <p:nvPr/>
        </p:nvSpPr>
        <p:spPr>
          <a:xfrm>
            <a:off x="10332720" y="383682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7-day critical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74320" y="5623560"/>
            <a:ext cx="11640312" cy="822960"/>
          </a:xfrm>
          <a:prstGeom prst="rect">
            <a:avLst/>
          </a:prstGeom>
          <a:solidFill>
            <a:srgbClr val="0D0D1A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Operations Insight: Oct 2021 coal crisis → 100+ power cuts across India. Root cause: EOQ violation + supply chain breakdown. Renewables' role: reduce coal dependency → reduce stockout risk. Week 3 will model optimal buffer stock.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274320" y="6601968"/>
            <a:ext cx="11640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Robbie Andrew (CICERO) · All official Govt of India data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1E264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65760" y="182880"/>
            <a:ext cx="2743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FINDINGS — KEY TAKEAWAYS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00D9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1280160"/>
            <a:ext cx="5669280" cy="13258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280160"/>
            <a:ext cx="64008" cy="13258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3716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☀️  Solar Capacity: 26× Growth (4 GW → 106 GW)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178308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fastest energy buildout ever. Target 500 GW by 2030 requires 375 GW more in 5 years.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1280160"/>
            <a:ext cx="5669280" cy="13258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1280160"/>
            <a:ext cx="64008" cy="132588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3716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⚡  Peak Demand Breach: 200+ GW — Renewables CAN'T Cover It Alone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178308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is zero at 8 PM peak. Wind is seasonal. Storage is the missing link. This IS the MBA problem.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788920"/>
            <a:ext cx="5669280" cy="13258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788920"/>
            <a:ext cx="64008" cy="13258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8803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⚫  Coal Still Dominant — But Its Share Is Falling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32918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fell from 59% → 49% of capacity. But absolute coal GW still grew. Phase-out needs storage.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2788920"/>
            <a:ext cx="5669280" cy="13258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63640" y="2788920"/>
            <a:ext cx="64008" cy="13258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8803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📉  Peak Deficit Trend: Improving, But Fragile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32918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deficit dropped from 8.7% (2013) to &lt;1% (2022). But capacity margins are thin in summer.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5577840"/>
            <a:ext cx="11640312" cy="13258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5577840"/>
            <a:ext cx="64008" cy="132588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669280"/>
            <a:ext cx="11365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🗺️  Geographic Mismatch: Renewable States ≠ Demand States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080760"/>
            <a:ext cx="11365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solar/Gujarat wind must transmit to UP/MH/Delhi demand centers — grid constraint.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74320" y="6629400"/>
            <a:ext cx="11640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NEXT: Week 2 — State deep-dive, capacity utilisation factors, demand-supply gap economics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6601968"/>
            <a:ext cx="11640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Robbie Andrew (CICERO) · All official Govt of India data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Peak Power — Week 1 Status</dc:title>
  <dc:subject>PptxGenJS Presentation</dc:subject>
  <dc:creator>PptxGenJS</dc:creator>
  <cp:lastModifiedBy>PptxGenJS</cp:lastModifiedBy>
  <cp:revision>1</cp:revision>
  <dcterms:created xsi:type="dcterms:W3CDTF">2026-04-25T02:56:41Z</dcterms:created>
  <dcterms:modified xsi:type="dcterms:W3CDTF">2026-04-25T02:56:41Z</dcterms:modified>
</cp:coreProperties>
</file>
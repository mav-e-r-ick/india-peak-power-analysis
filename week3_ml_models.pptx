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 Peak (GW)</c:v>
                </c:pt>
              </c:strCache>
            </c:strRef>
          </c:tx>
          <c:spPr>
            <a:solidFill>
              <a:srgbClr val="2ECC71"/>
            </a:solidFill>
            <a:ln w="25400" cap="flat">
              <a:solidFill>
                <a:srgbClr val="2ECC7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ECC71"/>
              </a:solidFill>
              <a:ln w="9525" cap="flat">
                <a:solidFill>
                  <a:srgbClr val="2ECC7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164</c:v>
                </c:pt>
                <c:pt idx="1">
                  <c:v>177</c:v>
                </c:pt>
                <c:pt idx="2">
                  <c:v>184</c:v>
                </c:pt>
                <c:pt idx="3">
                  <c:v>190</c:v>
                </c:pt>
                <c:pt idx="4">
                  <c:v>200</c:v>
                </c:pt>
                <c:pt idx="5">
                  <c:v>215</c:v>
                </c:pt>
                <c:pt idx="6">
                  <c:v>224</c:v>
                </c:pt>
                <c:pt idx="7">
                  <c:v>232</c:v>
                </c:pt>
                <c:pt idx="8">
                  <c:v>241</c:v>
                </c:pt>
                <c:pt idx="9">
                  <c:v>249</c:v>
                </c:pt>
                <c:pt idx="10">
                  <c:v>257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SARIMAX Forecast</c:v>
                </c:pt>
              </c:strCache>
            </c:strRef>
          </c:tx>
          <c:spPr>
            <a:solidFill>
              <a:srgbClr val="F4D03F"/>
            </a:solidFill>
            <a:ln w="25400" cap="flat">
              <a:solidFill>
                <a:srgbClr val="F4D0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4D03F"/>
              </a:solidFill>
              <a:ln w="9525" cap="flat">
                <a:solidFill>
                  <a:srgbClr val="F4D0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257</c:v>
                </c:pt>
                <c:pt idx="1">
                  <c:v>263</c:v>
                </c:pt>
                <c:pt idx="2">
                  <c:v>271</c:v>
                </c:pt>
                <c:pt idx="3">
                  <c:v>279</c:v>
                </c:pt>
                <c:pt idx="4">
                  <c:v>287</c:v>
                </c:pt>
                <c:pt idx="5">
                  <c:v>295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95% CI Upper</c:v>
                </c:pt>
              </c:strCache>
            </c:strRef>
          </c:tx>
          <c:spPr>
            <a:solidFill>
              <a:srgbClr val="AADDCC"/>
            </a:solidFill>
            <a:ln w="25400" cap="flat">
              <a:solidFill>
                <a:srgbClr val="AADDC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ADDCC"/>
              </a:solidFill>
              <a:ln w="9525" cap="flat">
                <a:solidFill>
                  <a:srgbClr val="AADDC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264</c:v>
                </c:pt>
                <c:pt idx="1">
                  <c:v>274</c:v>
                </c:pt>
                <c:pt idx="2">
                  <c:v>286</c:v>
                </c:pt>
                <c:pt idx="3">
                  <c:v>299</c:v>
                </c:pt>
                <c:pt idx="4">
                  <c:v>312</c:v>
                </c:pt>
                <c:pt idx="5">
                  <c:v>326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95% CI Lower</c:v>
                </c:pt>
              </c:strCache>
            </c:strRef>
          </c:tx>
          <c:spPr>
            <a:solidFill>
              <a:srgbClr val="AADDCC"/>
            </a:solidFill>
            <a:ln w="25400" cap="flat">
              <a:solidFill>
                <a:srgbClr val="AADDC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ADDCC"/>
              </a:solidFill>
              <a:ln w="9525" cap="flat">
                <a:solidFill>
                  <a:srgbClr val="AADDC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250</c:v>
                </c:pt>
                <c:pt idx="1">
                  <c:v>252</c:v>
                </c:pt>
                <c:pt idx="2">
                  <c:v>256</c:v>
                </c:pt>
                <c:pt idx="3">
                  <c:v>259</c:v>
                </c:pt>
                <c:pt idx="4">
                  <c:v>262</c:v>
                </c:pt>
                <c:pt idx="5">
                  <c:v>264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0D8D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A3D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0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0D8D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A3D4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 Days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D03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D03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D03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Jan21</c:v>
                  </c:pt>
                  <c:pt idx="1">
                    <c:v>Mar21</c:v>
                  </c:pt>
                  <c:pt idx="2">
                    <c:v>May21</c:v>
                  </c:pt>
                  <c:pt idx="3">
                    <c:v>Jul21</c:v>
                  </c:pt>
                  <c:pt idx="4">
                    <c:v>Sep21</c:v>
                  </c:pt>
                  <c:pt idx="5">
                    <c:v>Oct21</c:v>
                  </c:pt>
                  <c:pt idx="6">
                    <c:v>Nov21</c:v>
                  </c:pt>
                  <c:pt idx="7">
                    <c:v>Jan22</c:v>
                  </c:pt>
                  <c:pt idx="8">
                    <c:v>Mar22</c:v>
                  </c:pt>
                  <c:pt idx="9">
                    <c:v>May22</c:v>
                  </c:pt>
                  <c:pt idx="10">
                    <c:v>Jul22</c:v>
                  </c:pt>
                  <c:pt idx="11">
                    <c:v>Oct22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</c:v>
                </c:pt>
                <c:pt idx="1">
                  <c:v>18</c:v>
                </c:pt>
                <c:pt idx="2">
                  <c:v>14</c:v>
                </c:pt>
                <c:pt idx="3">
                  <c:v>10</c:v>
                </c:pt>
                <c:pt idx="4">
                  <c:v>12</c:v>
                </c:pt>
                <c:pt idx="5">
                  <c:v>4</c:v>
                </c:pt>
                <c:pt idx="6">
                  <c:v>5</c:v>
                </c:pt>
                <c:pt idx="7">
                  <c:v>6</c:v>
                </c:pt>
                <c:pt idx="8">
                  <c:v>9</c:v>
                </c:pt>
                <c:pt idx="9">
                  <c:v>12</c:v>
                </c:pt>
                <c:pt idx="10">
                  <c:v>16</c:v>
                </c:pt>
                <c:pt idx="1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A7A8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8CD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0D5C6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A7A8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8CD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Coal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 Cap</c:v>
                  </c:pt>
                  <c:pt idx="1">
                    <c:v>180k T/hr</c:v>
                  </c:pt>
                  <c:pt idx="2">
                    <c:v>140k T/hr</c:v>
                  </c:pt>
                  <c:pt idx="3">
                    <c:v>100k T/hr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</c:v>
                </c:pt>
                <c:pt idx="1">
                  <c:v>170</c:v>
                </c:pt>
                <c:pt idx="2">
                  <c:v>120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Gas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 Cap</c:v>
                  </c:pt>
                  <c:pt idx="1">
                    <c:v>180k T/hr</c:v>
                  </c:pt>
                  <c:pt idx="2">
                    <c:v>140k T/hr</c:v>
                  </c:pt>
                  <c:pt idx="3">
                    <c:v>100k T/hr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Nuclear</c:v>
                </c:pt>
              </c:strCache>
            </c:strRef>
          </c:tx>
          <c:spPr>
            <a:solidFill>
              <a:srgbClr val="9B59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 Cap</c:v>
                  </c:pt>
                  <c:pt idx="1">
                    <c:v>180k T/hr</c:v>
                  </c:pt>
                  <c:pt idx="2">
                    <c:v>140k T/hr</c:v>
                  </c:pt>
                  <c:pt idx="3">
                    <c:v>100k T/hr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7.2</c:v>
                </c:pt>
                <c:pt idx="1">
                  <c:v>7.2</c:v>
                </c:pt>
                <c:pt idx="2">
                  <c:v>7.2</c:v>
                </c:pt>
                <c:pt idx="3">
                  <c:v>7.2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Hydro</c:v>
                </c:pt>
              </c:strCache>
            </c:strRef>
          </c:tx>
          <c:spPr>
            <a:solidFill>
              <a:srgbClr val="1A7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 Cap</c:v>
                  </c:pt>
                  <c:pt idx="1">
                    <c:v>180k T/hr</c:v>
                  </c:pt>
                  <c:pt idx="2">
                    <c:v>140k T/hr</c:v>
                  </c:pt>
                  <c:pt idx="3">
                    <c:v>100k T/hr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33</c:v>
                </c:pt>
                <c:pt idx="1">
                  <c:v>33</c:v>
                </c:pt>
                <c:pt idx="2">
                  <c:v>33</c:v>
                </c:pt>
                <c:pt idx="3">
                  <c:v>33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Wind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 Cap</c:v>
                  </c:pt>
                  <c:pt idx="1">
                    <c:v>180k T/hr</c:v>
                  </c:pt>
                  <c:pt idx="2">
                    <c:v>140k T/hr</c:v>
                  </c:pt>
                  <c:pt idx="3">
                    <c:v>100k T/hr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14</c:v>
                </c:pt>
                <c:pt idx="1">
                  <c:v>14</c:v>
                </c:pt>
                <c:pt idx="2">
                  <c:v>14</c:v>
                </c:pt>
                <c:pt idx="3">
                  <c:v>14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BESS</c:v>
                </c:pt>
              </c:strCache>
            </c:strRef>
          </c:tx>
          <c:spPr>
            <a:solidFill>
              <a:srgbClr val="00CED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 Cap</c:v>
                  </c:pt>
                  <c:pt idx="1">
                    <c:v>180k T/hr</c:v>
                  </c:pt>
                  <c:pt idx="2">
                    <c:v>140k T/hr</c:v>
                  </c:pt>
                  <c:pt idx="3">
                    <c:v>100k T/hr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Solar</c:v>
                </c:pt>
              </c:strCache>
            </c:strRef>
          </c:tx>
          <c:spPr>
            <a:solidFill>
              <a:srgbClr val="F4D0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 Cap</c:v>
                  </c:pt>
                  <c:pt idx="1">
                    <c:v>180k T/hr</c:v>
                  </c:pt>
                  <c:pt idx="2">
                    <c:v>140k T/hr</c:v>
                  </c:pt>
                  <c:pt idx="3">
                    <c:v>100k T/hr</c:v>
                  </c:pt>
                </c:lvl>
              </c:multiLvlStrCache>
            </c:multiLvl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0D8D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A3D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0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0D8D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A3D4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 Share (%)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 Champions</c:v>
                  </c:pt>
                  <c:pt idx="1">
                    <c:v>Transition Leaders</c:v>
                  </c:pt>
                  <c:pt idx="2">
                    <c:v>Coal Dependent</c:v>
                  </c:pt>
                  <c:pt idx="3">
                    <c:v>Energy Starved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43</c:v>
                </c:pt>
                <c:pt idx="2">
                  <c:v>24</c:v>
                </c:pt>
                <c:pt idx="3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Coal Cap (GW)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 Champions</c:v>
                  </c:pt>
                  <c:pt idx="1">
                    <c:v>Transition Leaders</c:v>
                  </c:pt>
                  <c:pt idx="2">
                    <c:v>Coal Dependent</c:v>
                  </c:pt>
                  <c:pt idx="3">
                    <c:v>Energy Starved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</c:v>
                </c:pt>
                <c:pt idx="1">
                  <c:v>13</c:v>
                </c:pt>
                <c:pt idx="2">
                  <c:v>21</c:v>
                </c:pt>
                <c:pt idx="3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Deficit (%)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 Champions</c:v>
                  </c:pt>
                  <c:pt idx="1">
                    <c:v>Transition Leaders</c:v>
                  </c:pt>
                  <c:pt idx="2">
                    <c:v>Coal Dependent</c:v>
                  </c:pt>
                  <c:pt idx="3">
                    <c:v>Energy Starved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A7A8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8CD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0D5C6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A7A8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CD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BESS Needed (GWh)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A3D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D03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D03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D03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Rajasthan</c:v>
                  </c:pt>
                  <c:pt idx="1">
                    <c:v>Gujarat</c:v>
                  </c:pt>
                  <c:pt idx="2">
                    <c:v>Karnataka</c:v>
                  </c:pt>
                  <c:pt idx="3">
                    <c:v>Tamil Nadu</c:v>
                  </c:pt>
                  <c:pt idx="4">
                    <c:v>Andhra Pradesh</c:v>
                  </c:pt>
                  <c:pt idx="5">
                    <c:v>Maharashtra</c:v>
                  </c:pt>
                  <c:pt idx="6">
                    <c:v>Madhya Pradesh</c:v>
                  </c:pt>
                  <c:pt idx="7">
                    <c:v>Telangana</c:v>
                  </c:pt>
                  <c:pt idx="8">
                    <c:v>Uttar Pradesh</c:v>
                  </c:pt>
                  <c:pt idx="9">
                    <c:v>Punjab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69</c:v>
                </c:pt>
                <c:pt idx="1">
                  <c:v>20</c:v>
                </c:pt>
                <c:pt idx="2">
                  <c:v>16</c:v>
                </c:pt>
                <c:pt idx="3">
                  <c:v>10</c:v>
                </c:pt>
                <c:pt idx="4">
                  <c:v>13</c:v>
                </c:pt>
                <c:pt idx="5">
                  <c:v>9</c:v>
                </c:pt>
                <c:pt idx="6">
                  <c:v>8</c:v>
                </c:pt>
                <c:pt idx="7">
                  <c:v>10</c:v>
                </c:pt>
                <c:pt idx="8">
                  <c:v>3</c:v>
                </c:pt>
                <c:pt idx="9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A3D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0D8D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A3D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0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C0D8D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A3D4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Nuclear+Hydro (GW)</c:v>
                </c:pt>
              </c:strCache>
            </c:strRef>
          </c:tx>
          <c:spPr>
            <a:solidFill>
              <a:srgbClr val="9B59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150</c:v>
                  </c:pt>
                  <c:pt idx="1">
                    <c:v>200</c:v>
                  </c:pt>
                  <c:pt idx="2">
                    <c:v>250</c:v>
                  </c:pt>
                  <c:pt idx="3">
                    <c:v>300</c:v>
                  </c:pt>
                  <c:pt idx="4">
                    <c:v>400</c:v>
                  </c:pt>
                  <c:pt idx="5">
                    <c:v>500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55</c:v>
                </c:pt>
                <c:pt idx="2">
                  <c:v>55</c:v>
                </c:pt>
                <c:pt idx="3">
                  <c:v>55</c:v>
                </c:pt>
                <c:pt idx="4">
                  <c:v>55</c:v>
                </c:pt>
                <c:pt idx="5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Wind at 8pm (GW)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150</c:v>
                  </c:pt>
                  <c:pt idx="1">
                    <c:v>200</c:v>
                  </c:pt>
                  <c:pt idx="2">
                    <c:v>250</c:v>
                  </c:pt>
                  <c:pt idx="3">
                    <c:v>300</c:v>
                  </c:pt>
                  <c:pt idx="4">
                    <c:v>400</c:v>
                  </c:pt>
                  <c:pt idx="5">
                    <c:v>500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</c:v>
                </c:pt>
                <c:pt idx="1">
                  <c:v>14.5</c:v>
                </c:pt>
                <c:pt idx="2">
                  <c:v>15</c:v>
                </c:pt>
                <c:pt idx="3">
                  <c:v>15</c:v>
                </c:pt>
                <c:pt idx="4">
                  <c:v>16</c:v>
                </c:pt>
                <c:pt idx="5">
                  <c:v>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BESS Discharge (GW)</c:v>
                </c:pt>
              </c:strCache>
            </c:strRef>
          </c:tx>
          <c:spPr>
            <a:solidFill>
              <a:srgbClr val="F4D0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150</c:v>
                  </c:pt>
                  <c:pt idx="1">
                    <c:v>200</c:v>
                  </c:pt>
                  <c:pt idx="2">
                    <c:v>250</c:v>
                  </c:pt>
                  <c:pt idx="3">
                    <c:v>300</c:v>
                  </c:pt>
                  <c:pt idx="4">
                    <c:v>400</c:v>
                  </c:pt>
                  <c:pt idx="5">
                    <c:v>500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8</c:v>
                </c:pt>
                <c:pt idx="2">
                  <c:v>16</c:v>
                </c:pt>
                <c:pt idx="3">
                  <c:v>24</c:v>
                </c:pt>
                <c:pt idx="4">
                  <c:v>40</c:v>
                </c:pt>
                <c:pt idx="5">
                  <c:v>58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Coal still needed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150</c:v>
                  </c:pt>
                  <c:pt idx="1">
                    <c:v>200</c:v>
                  </c:pt>
                  <c:pt idx="2">
                    <c:v>250</c:v>
                  </c:pt>
                  <c:pt idx="3">
                    <c:v>300</c:v>
                  </c:pt>
                  <c:pt idx="4">
                    <c:v>400</c:v>
                  </c:pt>
                  <c:pt idx="5">
                    <c:v>500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200</c:v>
                </c:pt>
                <c:pt idx="1">
                  <c:v>170</c:v>
                </c:pt>
                <c:pt idx="2">
                  <c:v>120</c:v>
                </c:pt>
                <c:pt idx="3">
                  <c:v>80</c:v>
                </c:pt>
                <c:pt idx="4">
                  <c:v>75</c:v>
                </c:pt>
                <c:pt idx="5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A7A8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8CD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0D5C6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A7A8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CD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91A"/>
          </a:solidFill>
          <a:ln w="12700">
            <a:solidFill>
              <a:srgbClr val="0409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137160"/>
            <a:ext cx="5852160" cy="3383280"/>
          </a:xfrm>
          <a:prstGeom prst="rect">
            <a:avLst>
              <a:gd name="adj" fmla="val 8108"/>
            </a:avLst>
          </a:prstGeom>
          <a:solidFill>
            <a:srgbClr val="0D5C6E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320040"/>
            <a:ext cx="640080" cy="640080"/>
          </a:xfrm>
          <a:prstGeom prst="ellipse">
            <a:avLst/>
          </a:prstGeom>
          <a:solidFill>
            <a:srgbClr val="2ECC71">
              <a:alpha val="80000"/>
            </a:srgbClr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320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80760" y="1005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SARIMAX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12527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Forecast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138160" y="320040"/>
            <a:ext cx="640080" cy="640080"/>
          </a:xfrm>
          <a:prstGeom prst="ellipse">
            <a:avLst/>
          </a:prstGeom>
          <a:solidFill>
            <a:srgbClr val="F4D03F">
              <a:alpha val="80000"/>
            </a:srgbClr>
          </a:solidFill>
          <a:ln w="19050">
            <a:solidFill>
              <a:srgbClr val="F4D0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320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001000" y="1005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EOQ Model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0" y="12527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 Inventory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0" y="320040"/>
            <a:ext cx="640080" cy="640080"/>
          </a:xfrm>
          <a:prstGeom prst="ellipse">
            <a:avLst/>
          </a:prstGeom>
          <a:solidFill>
            <a:srgbClr val="E74C3C">
              <a:alpha val="80000"/>
            </a:srgbClr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0" y="320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921240" y="1005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PuLP LP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875520" y="12527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Dispatch Optimise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874520"/>
            <a:ext cx="640080" cy="640080"/>
          </a:xfrm>
          <a:prstGeom prst="ellipse">
            <a:avLst/>
          </a:prstGeom>
          <a:solidFill>
            <a:srgbClr val="9B59B6">
              <a:alpha val="80000"/>
            </a:srgbClr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🗂️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08076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28072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Clustering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138160" y="1874520"/>
            <a:ext cx="640080" cy="640080"/>
          </a:xfrm>
          <a:prstGeom prst="ellipse">
            <a:avLst/>
          </a:prstGeom>
          <a:solidFill>
            <a:srgbClr val="E67E22">
              <a:alpha val="80000"/>
            </a:srgbClr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🔋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00100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BESS Sizing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0" y="28072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 Capacity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058400" y="1874520"/>
            <a:ext cx="640080" cy="640080"/>
          </a:xfrm>
          <a:prstGeom prst="ellipse">
            <a:avLst/>
          </a:prstGeom>
          <a:solidFill>
            <a:srgbClr val="1A7A8A">
              <a:alpha val="80000"/>
            </a:srgbClr>
          </a:solidFill>
          <a:ln w="19050">
            <a:solidFill>
              <a:srgbClr val="1A7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92124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Counterfactual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875520" y="28072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 GW Solar?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" y="29260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0D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29" name="Shape 27"/>
          <p:cNvSpPr/>
          <p:nvPr/>
        </p:nvSpPr>
        <p:spPr>
          <a:xfrm>
            <a:off x="411480" y="1874520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185623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MBA Project  ·  Week 3 of 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1480" y="2176272"/>
            <a:ext cx="2926080" cy="0"/>
          </a:xfrm>
          <a:prstGeom prst="line">
            <a:avLst/>
          </a:prstGeom>
          <a:noFill/>
          <a:ln w="10160">
            <a:solidFill>
              <a:srgbClr val="1A7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3317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3:</a:t>
            </a:r>
            <a:endParaRPr lang="en-US" sz="6800" dirty="0"/>
          </a:p>
        </p:txBody>
      </p:sp>
      <p:sp>
        <p:nvSpPr>
          <p:cNvPr id="33" name="Text 31"/>
          <p:cNvSpPr/>
          <p:nvPr/>
        </p:nvSpPr>
        <p:spPr>
          <a:xfrm>
            <a:off x="411480" y="2999232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Models</a:t>
            </a:r>
            <a:endParaRPr lang="en-US" sz="6400" dirty="0"/>
          </a:p>
        </p:txBody>
      </p:sp>
      <p:sp>
        <p:nvSpPr>
          <p:cNvPr id="34" name="Text 32"/>
          <p:cNvSpPr/>
          <p:nvPr/>
        </p:nvSpPr>
        <p:spPr>
          <a:xfrm>
            <a:off x="411480" y="37033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MBA Tools</a:t>
            </a:r>
            <a:endParaRPr lang="en-US" sz="5800" dirty="0"/>
          </a:p>
        </p:txBody>
      </p:sp>
      <p:sp>
        <p:nvSpPr>
          <p:cNvPr id="35" name="Shape 33"/>
          <p:cNvSpPr/>
          <p:nvPr/>
        </p:nvSpPr>
        <p:spPr>
          <a:xfrm>
            <a:off x="6035040" y="3703320"/>
            <a:ext cx="5852160" cy="594360"/>
          </a:xfrm>
          <a:prstGeom prst="rect">
            <a:avLst>
              <a:gd name="adj" fmla="val 4923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370332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Quantitative Models  ·  SARIMAX · EOQ · LP · K-Means · BESS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11480" y="5166360"/>
            <a:ext cx="2743200" cy="1444752"/>
          </a:xfrm>
          <a:prstGeom prst="rect">
            <a:avLst>
              <a:gd name="adj" fmla="val 9494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2920" y="525780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241 GW</a:t>
            </a:r>
            <a:endParaRPr lang="en-US" sz="3800" dirty="0"/>
          </a:p>
        </p:txBody>
      </p:sp>
      <p:sp>
        <p:nvSpPr>
          <p:cNvPr id="39" name="Text 37"/>
          <p:cNvSpPr/>
          <p:nvPr/>
        </p:nvSpPr>
        <p:spPr>
          <a:xfrm>
            <a:off x="502920" y="60076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2025 Peak Demand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337560" y="5166360"/>
            <a:ext cx="2743200" cy="1444752"/>
          </a:xfrm>
          <a:prstGeom prst="rect">
            <a:avLst>
              <a:gd name="adj" fmla="val 9494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429000" y="525780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~270 GW</a:t>
            </a:r>
            <a:endParaRPr lang="en-US" sz="3800" dirty="0"/>
          </a:p>
        </p:txBody>
      </p:sp>
      <p:sp>
        <p:nvSpPr>
          <p:cNvPr id="42" name="Text 40"/>
          <p:cNvSpPr/>
          <p:nvPr/>
        </p:nvSpPr>
        <p:spPr>
          <a:xfrm>
            <a:off x="3429000" y="60076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2030 Forecast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63640" y="5166360"/>
            <a:ext cx="2743200" cy="1444752"/>
          </a:xfrm>
          <a:prstGeom prst="rect">
            <a:avLst>
              <a:gd name="adj" fmla="val 9494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355080" y="525780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Clusters</a:t>
            </a:r>
            <a:endParaRPr lang="en-US" sz="3800" dirty="0"/>
          </a:p>
        </p:txBody>
      </p:sp>
      <p:sp>
        <p:nvSpPr>
          <p:cNvPr id="45" name="Text 43"/>
          <p:cNvSpPr/>
          <p:nvPr/>
        </p:nvSpPr>
        <p:spPr>
          <a:xfrm>
            <a:off x="6355080" y="60076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Segments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189720" y="5166360"/>
            <a:ext cx="2743200" cy="1444752"/>
          </a:xfrm>
          <a:prstGeom prst="rect">
            <a:avLst>
              <a:gd name="adj" fmla="val 9494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9281160" y="525780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300-500 GWh</a:t>
            </a:r>
            <a:endParaRPr lang="en-US" sz="3800" dirty="0"/>
          </a:p>
        </p:txBody>
      </p:sp>
      <p:sp>
        <p:nvSpPr>
          <p:cNvPr id="48" name="Text 46"/>
          <p:cNvSpPr/>
          <p:nvPr/>
        </p:nvSpPr>
        <p:spPr>
          <a:xfrm>
            <a:off x="9281160" y="60076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BESS Needed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CICERO/Robbie Andrew  ·  Models: SARIMAX · EOQ · PuLP LP · K-Means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9"/>
          </a:solidFill>
          <a:ln w="12700">
            <a:solidFill>
              <a:srgbClr val="F0F7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23774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1 — SARIMAX DEMAND FORECAST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Peak Demand Forecast 2025–2030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11365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SARIMAX(2,1,1) fitted on CEA Annual Reports · 95% confidence interval</a:t>
            </a:r>
            <a:endParaRPr lang="en-US" sz="1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41732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092440" y="1417320"/>
            <a:ext cx="3703320" cy="1170432"/>
          </a:xfrm>
          <a:prstGeom prst="rect">
            <a:avLst>
              <a:gd name="adj" fmla="val 11719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83880" y="1508760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3.5%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8183880" y="2258568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 CAGR 2025-30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092440" y="2715768"/>
            <a:ext cx="3703320" cy="1170432"/>
          </a:xfrm>
          <a:prstGeom prst="rect">
            <a:avLst>
              <a:gd name="adj" fmla="val 11719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183880" y="2807208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~295 GW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8183880" y="3557016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2030 Peak Forecast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92440" y="4014216"/>
            <a:ext cx="3703320" cy="1170432"/>
          </a:xfrm>
          <a:prstGeom prst="rect">
            <a:avLst>
              <a:gd name="adj" fmla="val 11719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183880" y="4105656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±31 GW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8183880" y="4855464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 CI Width by 2030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92440" y="5312664"/>
            <a:ext cx="3703320" cy="1170432"/>
          </a:xfrm>
          <a:prstGeom prst="rect">
            <a:avLst>
              <a:gd name="adj" fmla="val 11719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183880" y="5404104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+54 GW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8183880" y="615391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Above today's 241 GW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092440" y="6583680"/>
            <a:ext cx="3703320" cy="347472"/>
          </a:xfrm>
          <a:prstGeom prst="rect">
            <a:avLst>
              <a:gd name="adj" fmla="val 39474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229600" y="66202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Model: SARIMAX(2,1,1) trend='c'  |  Data: CEA Annual Reports + POSOCO  |  AIC-optimised orders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CICERO/Robbie Andrew  ·  Models: SARIMAX · EOQ · PuLP LP · K-Means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23774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2 — EOQ COAL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EOQ: Oct 2021 Was a Supply Chain Failure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11365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stock_days &lt; 4 at 100+ stations — not a coal shortage, an EOQ violation</a:t>
            </a:r>
            <a:endParaRPr lang="en-US" sz="1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417320"/>
          <a:ext cx="69494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4336085"/>
            <a:ext cx="6949440" cy="0"/>
          </a:xfrm>
          <a:prstGeom prst="line">
            <a:avLst/>
          </a:prstGeom>
          <a:noFill/>
          <a:ln w="25400">
            <a:solidFill>
              <a:srgbClr val="E74C3C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5669280" y="4080053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(7d)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1480" y="2946197"/>
            <a:ext cx="6949440" cy="0"/>
          </a:xfrm>
          <a:prstGeom prst="line">
            <a:avLst/>
          </a:prstGeom>
          <a:noFill/>
          <a:ln w="19050">
            <a:solidFill>
              <a:srgbClr val="F4D03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5852160" y="2690165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 (14d)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14400" y="4956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663440" y="4956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749040" y="2743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Oct 2021: 100+ stations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below 7-day critical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543800" y="1417320"/>
            <a:ext cx="4297680" cy="5166360"/>
          </a:xfrm>
          <a:prstGeom prst="rect">
            <a:avLst>
              <a:gd name="adj" fmla="val 3191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680960" y="15361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EOQ Formula (Week 3 Applied)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635240" y="2011680"/>
            <a:ext cx="4160520" cy="658368"/>
          </a:xfrm>
          <a:prstGeom prst="rect">
            <a:avLst>
              <a:gd name="adj" fmla="val 13889"/>
            </a:avLst>
          </a:prstGeom>
          <a:solidFill>
            <a:srgbClr val="091D28"/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99248" y="2103120"/>
            <a:ext cx="502920" cy="502920"/>
          </a:xfrm>
          <a:prstGeom prst="ellipse">
            <a:avLst/>
          </a:prstGeom>
          <a:solidFill>
            <a:srgbClr val="2ECC71">
              <a:alpha val="85000"/>
            </a:srgbClr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99248" y="210312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275320" y="206654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daily_requirement (Th T/day)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75320" y="235915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rate from IDP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635240" y="2761488"/>
            <a:ext cx="4160520" cy="658368"/>
          </a:xfrm>
          <a:prstGeom prst="rect">
            <a:avLst>
              <a:gd name="adj" fmla="val 13889"/>
            </a:avLst>
          </a:prstGeom>
          <a:solidFill>
            <a:srgbClr val="091D28"/>
          </a:solidFill>
          <a:ln w="10160">
            <a:solidFill>
              <a:srgbClr val="F4D03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99248" y="2852928"/>
            <a:ext cx="502920" cy="502920"/>
          </a:xfrm>
          <a:prstGeom prst="ellipse">
            <a:avLst/>
          </a:prstGeom>
          <a:solidFill>
            <a:srgbClr val="F4D03F">
              <a:alpha val="85000"/>
            </a:srgbClr>
          </a:solidFill>
          <a:ln w="19050">
            <a:solidFill>
              <a:srgbClr val="F4D03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99248" y="2852928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275320" y="281635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~Rs 3 Cr / coal rake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275320" y="310896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Ordering cost per shipment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635240" y="3511296"/>
            <a:ext cx="4160520" cy="658368"/>
          </a:xfrm>
          <a:prstGeom prst="rect">
            <a:avLst>
              <a:gd name="adj" fmla="val 13889"/>
            </a:avLst>
          </a:prstGeom>
          <a:solidFill>
            <a:srgbClr val="091D28"/>
          </a:solidFill>
          <a:ln w="10160">
            <a:solidFill>
              <a:srgbClr val="F4D03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99248" y="3602736"/>
            <a:ext cx="502920" cy="502920"/>
          </a:xfrm>
          <a:prstGeom prst="ellipse">
            <a:avLst/>
          </a:prstGeom>
          <a:solidFill>
            <a:srgbClr val="F4D03F">
              <a:alpha val="85000"/>
            </a:srgbClr>
          </a:solidFill>
          <a:ln w="19050">
            <a:solidFill>
              <a:srgbClr val="F4D03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699248" y="360273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8275320" y="356616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~Rs 150 / T / day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275320" y="385876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Holding cost (storage + risk)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7635240" y="4261104"/>
            <a:ext cx="4160520" cy="658368"/>
          </a:xfrm>
          <a:prstGeom prst="rect">
            <a:avLst>
              <a:gd name="adj" fmla="val 13889"/>
            </a:avLst>
          </a:prstGeom>
          <a:solidFill>
            <a:srgbClr val="091D28"/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699248" y="4352544"/>
            <a:ext cx="502920" cy="502920"/>
          </a:xfrm>
          <a:prstGeom prst="ellipse">
            <a:avLst/>
          </a:prstGeom>
          <a:solidFill>
            <a:srgbClr val="2ECC71">
              <a:alpha val="85000"/>
            </a:srgbClr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99248" y="4352544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Q*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8275320" y="431596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sqrt(2 × D × S / H)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75320" y="4608576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Optimal order quantity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7635240" y="5010912"/>
            <a:ext cx="4160520" cy="658368"/>
          </a:xfrm>
          <a:prstGeom prst="rect">
            <a:avLst>
              <a:gd name="adj" fmla="val 13889"/>
            </a:avLst>
          </a:prstGeom>
          <a:solidFill>
            <a:srgbClr val="091D28"/>
          </a:solidFill>
          <a:ln w="10160">
            <a:solidFill>
              <a:srgbClr val="E74C3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699248" y="5102352"/>
            <a:ext cx="502920" cy="502920"/>
          </a:xfrm>
          <a:prstGeom prst="ellipse">
            <a:avLst/>
          </a:prstGeom>
          <a:solidFill>
            <a:srgbClr val="E74C3C">
              <a:alpha val="85000"/>
            </a:srgbClr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699248" y="510235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ROP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8275320" y="506577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normative_stock_days × D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275320" y="5358384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Reorder trigger point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7635240" y="5760720"/>
            <a:ext cx="4160520" cy="658368"/>
          </a:xfrm>
          <a:prstGeom prst="rect">
            <a:avLst>
              <a:gd name="adj" fmla="val 13889"/>
            </a:avLst>
          </a:prstGeom>
          <a:solidFill>
            <a:srgbClr val="091D28"/>
          </a:solidFill>
          <a:ln w="10160">
            <a:solidFill>
              <a:srgbClr val="E74C3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699248" y="5852160"/>
            <a:ext cx="502920" cy="502920"/>
          </a:xfrm>
          <a:prstGeom prst="ellipse">
            <a:avLst/>
          </a:prstGeom>
          <a:solidFill>
            <a:srgbClr val="E74C3C">
              <a:alpha val="85000"/>
            </a:srgbClr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699248" y="585216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8275320" y="581558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normative_stock (Th T)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8275320" y="610819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stock buffer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7635240" y="6492240"/>
            <a:ext cx="4160520" cy="548640"/>
          </a:xfrm>
          <a:prstGeom prst="rect">
            <a:avLst>
              <a:gd name="adj" fmla="val 16667"/>
            </a:avLst>
          </a:prstGeom>
          <a:solidFill>
            <a:srgbClr val="1A0808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772400" y="6519672"/>
            <a:ext cx="3886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Q* followed: Oct 2021 crisis preventable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EOQ insight: supply chain, NOT coal shortage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CICERO/Robbie Andrew  ·  Models: SARIMAX · EOQ · PuLP LP · K-Means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9"/>
          </a:solidFill>
          <a:ln w="12700">
            <a:solidFill>
              <a:srgbClr val="F0F7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23774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3 — LINEAR PROGRAMMING DISPATCH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LP: Minimum-Cost Dispatch Mix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11365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PuLP solver · 7 sources · 4 carbon cap scenarios · 2025 peak demand = 241 GW</a:t>
            </a:r>
            <a:endParaRPr lang="en-US" sz="1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41732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543800" y="1417320"/>
            <a:ext cx="4297680" cy="4572000"/>
          </a:xfrm>
          <a:prstGeom prst="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680960" y="153619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vs Carbon Tradeoff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589520" y="1901952"/>
            <a:ext cx="4206240" cy="32004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36676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Dispatch Cost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60120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CO2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97280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Baseline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589520" y="2286000"/>
            <a:ext cx="4206240" cy="749808"/>
          </a:xfrm>
          <a:prstGeom prst="rect">
            <a:avLst/>
          </a:prstGeom>
          <a:solidFill>
            <a:srgbClr val="F8FCFD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0" y="2487168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Cap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366760" y="24871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820 Cr/hr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601200" y="248716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180 kT CO2/hr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972800" y="248716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589520" y="3154680"/>
            <a:ext cx="4206240" cy="749808"/>
          </a:xfrm>
          <a:prstGeom prst="rect">
            <a:avLst/>
          </a:prstGeom>
          <a:solidFill>
            <a:srgbClr val="F0F7F9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80960" y="3355848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180k cap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366760" y="33558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850 Cr/hr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601200" y="335584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180 kT CO2/hr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972800" y="335584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+4%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589520" y="4023360"/>
            <a:ext cx="4206240" cy="749808"/>
          </a:xfrm>
          <a:prstGeom prst="rect">
            <a:avLst/>
          </a:prstGeom>
          <a:solidFill>
            <a:srgbClr val="F8FCFD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80960" y="4224528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140k cap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366760" y="42245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940 Cr/hr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601200" y="422452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140 kT CO2/hr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972800" y="422452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+15%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589520" y="4892040"/>
            <a:ext cx="4206240" cy="749808"/>
          </a:xfrm>
          <a:prstGeom prst="rect">
            <a:avLst/>
          </a:prstGeom>
          <a:solidFill>
            <a:srgbClr val="F0F7F9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80960" y="5093208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100k cap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366760" y="50932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1,120 Cr/hr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9601200" y="509320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 kT CO2/hr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0972800" y="509320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+37%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543800" y="6080760"/>
            <a:ext cx="4297680" cy="868680"/>
          </a:xfrm>
          <a:prstGeom prst="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7680960" y="614476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LP Key Finding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680960" y="638251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Decarbonisation costs +37% without BESS.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300 GWh BESS, cost premium falls to &lt;10%.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CICERO/Robbie Andrew  ·  Models: SARIMAX · EOQ · PuLP LP · K-Means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23774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4 — K-MEANS STATE CLUSTERING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State Clusters — 4 Policy Levers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11365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· Features: RES share, coal cap, deficit %  ·  k=4 (optimal silhouette score)</a:t>
            </a:r>
            <a:endParaRPr lang="en-US" sz="1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41732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543800" y="1417320"/>
            <a:ext cx="4297680" cy="1170432"/>
          </a:xfrm>
          <a:prstGeom prst="rect">
            <a:avLst>
              <a:gd name="adj" fmla="val 11719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543800" y="1417320"/>
            <a:ext cx="64008" cy="11704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35240" y="1755648"/>
            <a:ext cx="502920" cy="502920"/>
          </a:xfrm>
          <a:prstGeom prst="ellipse">
            <a:avLst/>
          </a:prstGeom>
          <a:solidFill>
            <a:srgbClr val="2ECC71">
              <a:alpha val="85000"/>
            </a:srgbClr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35240" y="1755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29600" y="149047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 Champions  (3 states)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0" y="181965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Rajasthan · Karnataka · Gujarat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0" y="205740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Maximise export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capacity. Build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inter-state lines.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543800" y="2715768"/>
            <a:ext cx="4297680" cy="1170432"/>
          </a:xfrm>
          <a:prstGeom prst="rect">
            <a:avLst>
              <a:gd name="adj" fmla="val 11719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543800" y="2715768"/>
            <a:ext cx="64008" cy="1170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35240" y="3054096"/>
            <a:ext cx="502920" cy="502920"/>
          </a:xfrm>
          <a:prstGeom prst="ellipse">
            <a:avLst/>
          </a:prstGeom>
          <a:solidFill>
            <a:srgbClr val="E74C3C">
              <a:alpha val="85000"/>
            </a:srgbClr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35240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⚫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229600" y="27889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 Dependent  (5 states)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29600" y="311810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 · Maharashtra · MP · Jharkhand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29600" y="3355848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Mandate BESS.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 PLF floor.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 transition plan.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543800" y="4014216"/>
            <a:ext cx="4297680" cy="1170432"/>
          </a:xfrm>
          <a:prstGeom prst="rect">
            <a:avLst>
              <a:gd name="adj" fmla="val 11719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543800" y="4014216"/>
            <a:ext cx="64008" cy="1170432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35240" y="4352544"/>
            <a:ext cx="502920" cy="502920"/>
          </a:xfrm>
          <a:prstGeom prst="ellipse">
            <a:avLst/>
          </a:prstGeom>
          <a:solidFill>
            <a:srgbClr val="F4D03F">
              <a:alpha val="85000"/>
            </a:srgbClr>
          </a:solidFill>
          <a:ln w="19050">
            <a:solidFill>
              <a:srgbClr val="F4D03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35240" y="43525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8229600" y="408736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Transition Leaders  (4 states)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229600" y="441655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TN · AP · Telangana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229600" y="4654296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Fast-track RES.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Grid upgrades.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management.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543800" y="5312664"/>
            <a:ext cx="4297680" cy="1170432"/>
          </a:xfrm>
          <a:prstGeom prst="rect">
            <a:avLst>
              <a:gd name="adj" fmla="val 11719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543800" y="5312664"/>
            <a:ext cx="64008" cy="11704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635240" y="5650992"/>
            <a:ext cx="502920" cy="502920"/>
          </a:xfrm>
          <a:prstGeom prst="ellipse">
            <a:avLst/>
          </a:prstGeom>
          <a:solidFill>
            <a:srgbClr val="E67E22">
              <a:alpha val="85000"/>
            </a:srgbClr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635240" y="5650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8229600" y="538581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Starved  (6+ states)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29600" y="571500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Bihar · HP · Northeast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229600" y="5952744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 RE alloc.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subsidy.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Grid access.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CICERO/Robbie Andrew  ·  Models: SARIMAX · EOQ · PuLP LP · K-Means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9"/>
          </a:solidFill>
          <a:ln w="12700">
            <a:solidFill>
              <a:srgbClr val="F0F7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23774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5A — BESS SIZING PER STATE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Much Storage Does Each State Need?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11365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BESS (GWh) = min(50% solar daily gen × 0.88 RT eff, state evening peak × 4hr discharge)</a:t>
            </a:r>
            <a:endParaRPr lang="en-US" sz="1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417320"/>
          <a:ext cx="67665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6035040"/>
            <a:ext cx="201168" cy="1645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016752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covers &gt;60%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286000" y="6035040"/>
            <a:ext cx="201168" cy="164592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14600" y="6016752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covers 30-60%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069080" y="6035040"/>
            <a:ext cx="201168" cy="1645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97680" y="6016752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covers &lt;30%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52160" y="6035040"/>
            <a:ext cx="201168" cy="1645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6016752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Mostly thermal needed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360920" y="1417320"/>
            <a:ext cx="4480560" cy="27432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498080" y="15087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Sizing Methodology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498080" y="1920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Solar daily gen: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326880" y="19202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solar_GW × 20% CUF × 8 hrs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98080" y="23042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Storable energy: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326880" y="23042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daily gen × 50% × 88% RT eff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498080" y="268833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Evening need: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326880" y="268833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peak_demand_GW × 20% × 4 hrs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498080" y="30723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BESS needed: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326880" y="307238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min(storable, evening need)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498080" y="34564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BESS power: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326880" y="34564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BESS_GWh ÷ 4 hr discharge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360920" y="4251960"/>
            <a:ext cx="4480560" cy="96012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498080" y="431596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 Total Needed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498080" y="45720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~300–500 GWh</a:t>
            </a:r>
            <a:endParaRPr lang="en-US" sz="3200" dirty="0"/>
          </a:p>
        </p:txBody>
      </p:sp>
      <p:sp>
        <p:nvSpPr>
          <p:cNvPr id="31" name="Shape 28"/>
          <p:cNvSpPr/>
          <p:nvPr/>
        </p:nvSpPr>
        <p:spPr>
          <a:xfrm>
            <a:off x="7360920" y="5303520"/>
            <a:ext cx="4480560" cy="594360"/>
          </a:xfrm>
          <a:prstGeom prst="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7498080" y="53675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today: ~4 GWh installed  →  Gap factor: 75-125×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360920" y="5989320"/>
            <a:ext cx="4480560" cy="640080"/>
          </a:xfrm>
          <a:prstGeom prst="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7498080" y="60350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at Rs 40 Cr/MWh: ~Rs 12,000–20,000 Cr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annual deficit cost: ~Rs 30,000+ Cr → BESS is ROI positive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CICERO/Robbie Andrew  ·  Models: SARIMAX · EOQ · PuLP LP · K-Means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23774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5B — COUNTERFACTUAL ANALYSIS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If India Hits 500 GW Solar?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11365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 still needed at peak — but drops from 200 GW to ~70 GW at 8 PM</a:t>
            </a:r>
            <a:endParaRPr lang="en-US" sz="1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417320"/>
          <a:ext cx="7315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949440" y="1417320"/>
            <a:ext cx="0" cy="4572000"/>
          </a:xfrm>
          <a:prstGeom prst="line">
            <a:avLst/>
          </a:prstGeom>
          <a:noFill/>
          <a:ln w="25400">
            <a:solidFill>
              <a:srgbClr val="F4D03F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6995160" y="2011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 GW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Govt Target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909560" y="1417320"/>
            <a:ext cx="3977640" cy="1170432"/>
          </a:xfrm>
          <a:prstGeom prst="rect">
            <a:avLst>
              <a:gd name="adj" fmla="val 11719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001000" y="150876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 GW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8001000" y="2258568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 at 8pm TODAY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(150 GW solar)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909560" y="2715768"/>
            <a:ext cx="3977640" cy="1170432"/>
          </a:xfrm>
          <a:prstGeom prst="rect">
            <a:avLst>
              <a:gd name="adj" fmla="val 11719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001000" y="2807208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~70 GW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8001000" y="3557016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 at 8pm with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 GW solar + BESS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909560" y="4014216"/>
            <a:ext cx="3977640" cy="1170432"/>
          </a:xfrm>
          <a:prstGeom prst="rect">
            <a:avLst>
              <a:gd name="adj" fmla="val 11719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001000" y="4105656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-65%</a:t>
            </a:r>
            <a:endParaRPr lang="en-US" sz="3800" dirty="0"/>
          </a:p>
        </p:txBody>
      </p:sp>
      <p:sp>
        <p:nvSpPr>
          <p:cNvPr id="18" name="Text 15"/>
          <p:cNvSpPr/>
          <p:nvPr/>
        </p:nvSpPr>
        <p:spPr>
          <a:xfrm>
            <a:off x="8001000" y="4855464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 reduction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evening peak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909560" y="5312664"/>
            <a:ext cx="3977640" cy="1170432"/>
          </a:xfrm>
          <a:prstGeom prst="rect">
            <a:avLst>
              <a:gd name="adj" fmla="val 11719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001000" y="5404104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Still ≠ 0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8001000" y="6153912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 cannot be eliminated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24/7 storage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909560" y="6492240"/>
            <a:ext cx="3977640" cy="548640"/>
          </a:xfrm>
          <a:prstGeom prst="rect">
            <a:avLst>
              <a:gd name="adj" fmla="val 16667"/>
            </a:avLst>
          </a:prstGeom>
          <a:solidFill>
            <a:srgbClr val="0A1A08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46720" y="6528816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 GW solar shifts India from 'coal-dominant' to 'coal-backup' at peak — with adequate BESS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CICERO/Robbie Andrew  ·  Models: SARIMAX · EOQ · PuLP LP · K-Means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9"/>
          </a:solidFill>
          <a:ln w="12700">
            <a:solidFill>
              <a:srgbClr val="F0F7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23774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3 — INTEGRATED FINDINGS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Models, 5 Answers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11365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Thesis quantified: Renewables solve capacity, not peak timing — storage is the swing factor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5669280" cy="1389888"/>
          </a:xfrm>
          <a:prstGeom prst="rect">
            <a:avLst>
              <a:gd name="adj" fmla="val 9868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17320"/>
            <a:ext cx="54864" cy="138988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19656"/>
            <a:ext cx="566928" cy="566928"/>
          </a:xfrm>
          <a:prstGeom prst="ellipse">
            <a:avLst/>
          </a:prstGeom>
          <a:solidFill>
            <a:srgbClr val="2ECC71">
              <a:alpha val="80000"/>
            </a:srgbClr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196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61288" y="1490472"/>
            <a:ext cx="4828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renewables solve capacity gap?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61288" y="1856232"/>
            <a:ext cx="4828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 — 49% share, growing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61288" y="2331720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Model: Donut (W2)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5669280" cy="1389888"/>
          </a:xfrm>
          <a:prstGeom prst="rect">
            <a:avLst>
              <a:gd name="adj" fmla="val 9868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417320"/>
            <a:ext cx="54864" cy="13898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819656"/>
            <a:ext cx="566928" cy="566928"/>
          </a:xfrm>
          <a:prstGeom prst="ellipse">
            <a:avLst/>
          </a:prstGeom>
          <a:solidFill>
            <a:srgbClr val="E74C3C">
              <a:alpha val="80000"/>
            </a:srgbClr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8196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059168" y="1490472"/>
            <a:ext cx="4828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renewables solve peak timing gap?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59168" y="1856232"/>
            <a:ext cx="4828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— Solar=0 at 8pm, BESS gap 75-125×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59168" y="2331720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Model: LP + BESS Sizing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2926080"/>
            <a:ext cx="5669280" cy="1389888"/>
          </a:xfrm>
          <a:prstGeom prst="rect">
            <a:avLst>
              <a:gd name="adj" fmla="val 9868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2926080"/>
            <a:ext cx="54864" cy="1389888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328416"/>
            <a:ext cx="566928" cy="566928"/>
          </a:xfrm>
          <a:prstGeom prst="ellipse">
            <a:avLst/>
          </a:prstGeom>
          <a:solidFill>
            <a:srgbClr val="F4D03F">
              <a:alpha val="80000"/>
            </a:srgbClr>
          </a:solidFill>
          <a:ln w="19050">
            <a:solidFill>
              <a:srgbClr val="F4D0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3284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161288" y="2999232"/>
            <a:ext cx="4828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demand trajectory?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61288" y="3364992"/>
            <a:ext cx="4828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241→295 GW by 2030 (+3.5% CAGR)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61288" y="3840480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Model: SARIMAX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09360" y="2926080"/>
            <a:ext cx="5669280" cy="1389888"/>
          </a:xfrm>
          <a:prstGeom prst="rect">
            <a:avLst>
              <a:gd name="adj" fmla="val 9868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2926080"/>
            <a:ext cx="54864" cy="13898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3328416"/>
            <a:ext cx="566928" cy="566928"/>
          </a:xfrm>
          <a:prstGeom prst="ellipse">
            <a:avLst/>
          </a:prstGeom>
          <a:solidFill>
            <a:srgbClr val="E67E22">
              <a:alpha val="80000"/>
            </a:srgbClr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3284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059168" y="2999232"/>
            <a:ext cx="4828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is coal supply risk?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059168" y="3364992"/>
            <a:ext cx="4828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Oct 2021: 100+ critical — EOQ violated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59168" y="3840480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Model: EOQ Model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4434840"/>
            <a:ext cx="5669280" cy="1389888"/>
          </a:xfrm>
          <a:prstGeom prst="rect">
            <a:avLst>
              <a:gd name="adj" fmla="val 9868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1480" y="4434840"/>
            <a:ext cx="54864" cy="138988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4837176"/>
            <a:ext cx="566928" cy="566928"/>
          </a:xfrm>
          <a:prstGeom prst="ellipse">
            <a:avLst/>
          </a:prstGeom>
          <a:solidFill>
            <a:srgbClr val="9B59B6">
              <a:alpha val="80000"/>
            </a:srgbClr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8371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🗂️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1161288" y="4507992"/>
            <a:ext cx="4828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states need what policy?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61288" y="4873752"/>
            <a:ext cx="4828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clusters — 4 different levers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61288" y="5349240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Model: K-Means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09360" y="4434840"/>
            <a:ext cx="5669280" cy="1389888"/>
          </a:xfrm>
          <a:prstGeom prst="rect">
            <a:avLst>
              <a:gd name="adj" fmla="val 9868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09360" y="4434840"/>
            <a:ext cx="54864" cy="138988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0" y="4837176"/>
            <a:ext cx="566928" cy="566928"/>
          </a:xfrm>
          <a:prstGeom prst="ellipse">
            <a:avLst/>
          </a:prstGeom>
          <a:solidFill>
            <a:srgbClr val="2ECC71">
              <a:alpha val="80000"/>
            </a:srgbClr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48371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7059168" y="4507992"/>
            <a:ext cx="4828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Does 500 GW solar solve it?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059168" y="4873752"/>
            <a:ext cx="4828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Reduces coal 200→70 GW at peak (not zero)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059168" y="5349240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Model: Counterfactual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11480" y="6035040"/>
            <a:ext cx="11365992" cy="658368"/>
          </a:xfrm>
          <a:prstGeom prst="rect">
            <a:avLst>
              <a:gd name="adj" fmla="val 20833"/>
            </a:avLst>
          </a:prstGeom>
          <a:solidFill>
            <a:srgbClr val="0A3D47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6089904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Week 4: Cost-Benefit of BESS · Pigouvian Subsidy Model · LP with capacity expansion · Final Executive Report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CICERO/Robbie Andrew  ·  Models: SARIMAX · EOQ · PuLP LP · K-Means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91A"/>
          </a:solidFill>
          <a:ln w="12700">
            <a:solidFill>
              <a:srgbClr val="0409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2743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dirty="0">
                <a:solidFill>
                  <a:srgbClr val="0D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1000" dirty="0"/>
          </a:p>
        </p:txBody>
      </p:sp>
      <p:sp>
        <p:nvSpPr>
          <p:cNvPr id="5" name="Shape 3"/>
          <p:cNvSpPr/>
          <p:nvPr/>
        </p:nvSpPr>
        <p:spPr>
          <a:xfrm>
            <a:off x="411480" y="320040"/>
            <a:ext cx="146304" cy="14630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3017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THESIS CONFIRMED — WEEK 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5486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Renewables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Solved the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Gap.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11480" y="3017520"/>
            <a:ext cx="6217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 NOT the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Evening Peak.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11480" y="47548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 is the missing link.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11480" y="5376672"/>
            <a:ext cx="5852160" cy="0"/>
          </a:xfrm>
          <a:prstGeom prst="line">
            <a:avLst/>
          </a:prstGeom>
          <a:noFill/>
          <a:ln w="10160">
            <a:solidFill>
              <a:srgbClr val="1A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544068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MBA models confirm this across demand forecasting, inventory, dispatch, clustering, and capacity planning.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0" y="640080"/>
            <a:ext cx="5212080" cy="1051560"/>
          </a:xfrm>
          <a:prstGeom prst="rect">
            <a:avLst>
              <a:gd name="adj" fmla="val 13043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75120" y="640080"/>
            <a:ext cx="64008" cy="10515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896112"/>
            <a:ext cx="548640" cy="548640"/>
          </a:xfrm>
          <a:prstGeom prst="ellipse">
            <a:avLst/>
          </a:prstGeom>
          <a:solidFill>
            <a:srgbClr val="2ECC71">
              <a:alpha val="80000"/>
            </a:srgbClr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896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06640" y="731520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SARIMAX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06640" y="1078992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241→295 GW by 2030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675120" y="1828800"/>
            <a:ext cx="5212080" cy="1051560"/>
          </a:xfrm>
          <a:prstGeom prst="rect">
            <a:avLst>
              <a:gd name="adj" fmla="val 13043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0" y="1828800"/>
            <a:ext cx="64008" cy="105156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2084832"/>
            <a:ext cx="548640" cy="548640"/>
          </a:xfrm>
          <a:prstGeom prst="ellipse">
            <a:avLst/>
          </a:prstGeom>
          <a:solidFill>
            <a:srgbClr val="F4D03F">
              <a:alpha val="80000"/>
            </a:srgbClr>
          </a:solidFill>
          <a:ln w="19050">
            <a:solidFill>
              <a:srgbClr val="F4D0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2084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06640" y="1920240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EOQ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06640" y="2267712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Oct 2021 = supply chain, not coal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675120" y="3017520"/>
            <a:ext cx="5212080" cy="1051560"/>
          </a:xfrm>
          <a:prstGeom prst="rect">
            <a:avLst>
              <a:gd name="adj" fmla="val 13043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0" y="3017520"/>
            <a:ext cx="64008" cy="10515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3273552"/>
            <a:ext cx="548640" cy="548640"/>
          </a:xfrm>
          <a:prstGeom prst="ellipse">
            <a:avLst/>
          </a:prstGeom>
          <a:solidFill>
            <a:srgbClr val="E74C3C">
              <a:alpha val="80000"/>
            </a:srgbClr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3273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06640" y="3108960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06640" y="3456432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 still 70-200 GW at 8pm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75120" y="4206240"/>
            <a:ext cx="5212080" cy="1051560"/>
          </a:xfrm>
          <a:prstGeom prst="rect">
            <a:avLst>
              <a:gd name="adj" fmla="val 13043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75120" y="4206240"/>
            <a:ext cx="64008" cy="10515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0" y="4462272"/>
            <a:ext cx="548640" cy="548640"/>
          </a:xfrm>
          <a:prstGeom prst="ellipse">
            <a:avLst/>
          </a:prstGeom>
          <a:solidFill>
            <a:srgbClr val="9B59B6">
              <a:alpha val="80000"/>
            </a:srgbClr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4462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406640" y="4297680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406640" y="4645152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clusters, 4 policy levers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675120" y="5394960"/>
            <a:ext cx="5212080" cy="1051560"/>
          </a:xfrm>
          <a:prstGeom prst="rect">
            <a:avLst>
              <a:gd name="adj" fmla="val 13043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675120" y="5394960"/>
            <a:ext cx="64008" cy="10515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0" y="5650992"/>
            <a:ext cx="548640" cy="548640"/>
          </a:xfrm>
          <a:prstGeom prst="ellipse">
            <a:avLst/>
          </a:prstGeom>
          <a:solidFill>
            <a:srgbClr val="E67E22">
              <a:alpha val="80000"/>
            </a:srgbClr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5650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406640" y="5486400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406640" y="5833872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300-500 GWh national storage needed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675120" y="6510528"/>
            <a:ext cx="5212080" cy="274320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12280" y="652881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4 next: Cost-benefit · Pigouvian subsidy · LP expansion · Final report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CICERO/Robbie Andrew  ·  Models: SARIMAX · EOQ · PuLP LP · K-Means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2026-04-26T18:07:38Z</dcterms:created>
  <dcterms:modified xsi:type="dcterms:W3CDTF">2026-04-26T18:07:38Z</dcterms:modified>
</cp:coreProperties>
</file>